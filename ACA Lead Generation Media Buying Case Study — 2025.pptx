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.png"/><Relationship Id="rId12" Type="http://schemas.openxmlformats.org/officeDocument/2006/relationships/image" Target="../media/image-5-2.svg"/><Relationship Id="rId13" Type="http://schemas.openxmlformats.org/officeDocument/2006/relationships/image" Target="../media/image-5-1.png"/><Relationship Id="rId14" Type="http://schemas.openxmlformats.org/officeDocument/2006/relationships/image" Target="../media/image-5-2.svg"/><Relationship Id="rId15" Type="http://schemas.openxmlformats.org/officeDocument/2006/relationships/image" Target="../media/image-5-1.png"/><Relationship Id="rId16" Type="http://schemas.openxmlformats.org/officeDocument/2006/relationships/image" Target="../media/image-5-2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435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$4.41M Qualified-Call Revenue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51224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U.S. ACA Lead Generation | 2025  ·  Google Ads + Meta  ·  20 Accounts  ·  100 CCs Peak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027289"/>
            <a:ext cx="209624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774879" y="4083943"/>
            <a:ext cx="247901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 BUYER CASE STUDY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13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year of performance at scale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4623" y="1622127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$4.41M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61475" y="2432348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Ringba Revenue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335554" y="1622127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$3.3M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6202406" y="2432348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Paid Media Spend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4623" y="3143647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470K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661475" y="3953867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Incoming Calls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35554" y="3143647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147K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6202406" y="3953867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Paid Calls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4623" y="4665166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64K</a:t>
            </a:r>
            <a:endParaRPr lang="en-US" sz="4650" dirty="0"/>
          </a:p>
        </p:txBody>
      </p:sp>
      <p:sp>
        <p:nvSpPr>
          <p:cNvPr id="12" name="Text 10"/>
          <p:cNvSpPr/>
          <p:nvPr/>
        </p:nvSpPr>
        <p:spPr>
          <a:xfrm>
            <a:off x="661475" y="5475387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Converted Calls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335554" y="4665166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~35%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6202406" y="5475387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Reported ROI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56682" y="5947767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8D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Accounts  |  United States  |  ACA  |  Google + Meta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49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5C6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$220 CPA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E39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&lt; $90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33649"/>
            <a:ext cx="10868745" cy="3844330"/>
          </a:xfrm>
          <a:prstGeom prst="roundRect">
            <a:avLst>
              <a:gd name="adj" fmla="val 20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28510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833390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381673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92995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47823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502652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56931" y="1859756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839074" y="1739999"/>
            <a:ext cx="4342398" cy="545108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12" name="Text 10"/>
          <p:cNvSpPr/>
          <p:nvPr/>
        </p:nvSpPr>
        <p:spPr>
          <a:xfrm>
            <a:off x="3028080" y="1859756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BEFORE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81472" y="1739999"/>
            <a:ext cx="4342398" cy="545108"/>
          </a:xfrm>
          <a:custGeom>
            <a:avLst/>
            <a:gdLst/>
            <a:ahLst/>
            <a:cxnLst/>
            <a:rect l="l" t="t" r="r" b="b"/>
            <a:pathLst>
              <a:path w="4342398" h="545108">
                <a:moveTo>
                  <a:pt x="0" y="0"/>
                </a:moveTo>
                <a:lnTo>
                  <a:pt x="4276242" y="0"/>
                </a:lnTo>
                <a:arcTo hR="66158" wR="66156" stAng="16200000" swAng="5400000"/>
                <a:lnTo>
                  <a:pt x="4342398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37E39B"/>
          </a:solidFill>
          <a:ln/>
        </p:spPr>
      </p:sp>
      <p:sp>
        <p:nvSpPr>
          <p:cNvPr id="14" name="Text 12"/>
          <p:cNvSpPr/>
          <p:nvPr/>
        </p:nvSpPr>
        <p:spPr>
          <a:xfrm>
            <a:off x="7370479" y="1859756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AFTER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931" y="2408039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CPA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028080" y="2408039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5C6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$220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70479" y="2408039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7E39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$90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6931" y="2956322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Monthly Spend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028080" y="2956322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~$7K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70479" y="2956322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$30K–$60K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6931" y="3504605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Monthly Calls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028080" y="3504605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70479" y="3504605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50K–70K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6931" y="4052888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Monthly Revenue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028080" y="4052888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~$8K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70479" y="4052888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&gt;$500K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6931" y="4601170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Conversion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028080" y="4601170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&lt;10%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70479" y="4601170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~30%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56931" y="5149453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ROI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028080" y="5149453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0–10%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70479" y="5149453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~35%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56682" y="57906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Lower CPA. Higher volume. Higher conversion. Meaningful scale.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61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testing system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25972"/>
            <a:ext cx="6927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7E39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WINNING AD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801" y="1830586"/>
            <a:ext cx="4376826" cy="39305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54658" y="2609666"/>
            <a:ext cx="1631353" cy="21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Campaign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149905" y="4772970"/>
            <a:ext cx="1580023" cy="21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Ad Groups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52317" y="3050137"/>
            <a:ext cx="1580023" cy="21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&amp; Landing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5914727"/>
            <a:ext cx="753706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the creative constant. Find the environment where the economics are strongest.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87207" y="2251869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D8D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AD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404" y="2656483"/>
            <a:ext cx="3016869" cy="20410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80012" y="3392547"/>
            <a:ext cx="549347" cy="502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Strongest Environment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0301031" y="4153012"/>
            <a:ext cx="817251" cy="12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Campaign B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0301031" y="4314358"/>
            <a:ext cx="817251" cy="92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in Environment 2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8385786" y="4153012"/>
            <a:ext cx="817250" cy="12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Campaign C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8385786" y="4314358"/>
            <a:ext cx="817250" cy="92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in Environment 3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8385786" y="2896155"/>
            <a:ext cx="817250" cy="12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Results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8385786" y="3057502"/>
            <a:ext cx="817250" cy="185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highest economic performance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10306265" y="2942633"/>
            <a:ext cx="817250" cy="12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Campaign A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306265" y="3103980"/>
            <a:ext cx="817250" cy="92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in Environment 1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7987207" y="4851102"/>
            <a:ext cx="354926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Parallel test new creatives across multiple campaign environments simultaneously.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24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 the audience </a:t>
            </a:r>
            <a:pPr algn="l" indent="0" marL="0">
              <a:lnSpc>
                <a:spcPct val="104000"/>
              </a:lnSpc>
              <a:buNone/>
            </a:pPr>
            <a:r>
              <a:rPr lang="en-US" sz="3700" i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and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path to conversion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1558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D8D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TARGETING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15" y="2929334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923480"/>
            <a:ext cx="18695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Age-group testing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2329" y="2929334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95737" y="2923480"/>
            <a:ext cx="18695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Audience comparison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15" y="3897908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3892054"/>
            <a:ext cx="18695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Account-level performance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2329" y="3897908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95737" y="3892054"/>
            <a:ext cx="18695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CPA + revenue validation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332776" y="241558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E39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FUNNEL</a:t>
            </a:r>
            <a:endParaRPr lang="en-US" sz="1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3616" y="2929334"/>
            <a:ext cx="283461" cy="2834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47024" y="2923480"/>
            <a:ext cx="18695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different endpoints</a:t>
            </a:r>
            <a:endParaRPr lang="en-US" sz="1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23630" y="2929334"/>
            <a:ext cx="283461" cy="2834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67038" y="2923480"/>
            <a:ext cx="18695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Remove low-value questions</a:t>
            </a:r>
            <a:endParaRPr lang="en-US" sz="18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03616" y="3897908"/>
            <a:ext cx="283461" cy="2834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947024" y="3892054"/>
            <a:ext cx="186953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Avoid unnecessary friction</a:t>
            </a:r>
            <a:endParaRPr lang="en-US" sz="18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23630" y="3897908"/>
            <a:ext cx="283461" cy="28346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667038" y="3892054"/>
            <a:ext cx="18695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Intervene when CPA deteriorates</a:t>
            </a:r>
            <a:endParaRPr lang="en-US" sz="1850" dirty="0"/>
          </a:p>
        </p:txBody>
      </p:sp>
      <p:sp>
        <p:nvSpPr>
          <p:cNvPr id="21" name="Text 11"/>
          <p:cNvSpPr/>
          <p:nvPr/>
        </p:nvSpPr>
        <p:spPr>
          <a:xfrm>
            <a:off x="356682" y="52031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7E39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Audience × Funnel × Economics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495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Creative that adapts to how people consume content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44279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90950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UGC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99632"/>
            <a:ext cx="25399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Native-feeling direct response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644279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79095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TRENDING FORMATS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199632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Trending ideas transformed into business solutions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644279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79095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B-ROLL + VO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199632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storytelling + direct-response messaging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644279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79095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INFLUENCER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199632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Creator-led credibility and native distribution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017095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5284788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25333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creative wasn't judged by engagement alone.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 had to produce calls that made economic sense.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86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Don't rush to kill your killers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69220"/>
            <a:ext cx="6903269" cy="3393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39423" y="2467633"/>
            <a:ext cx="1582428" cy="197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Repeat?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39423" y="2721108"/>
            <a:ext cx="3192483" cy="157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positive or negative?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039423" y="3260511"/>
            <a:ext cx="1698419" cy="197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 2 Calls &amp; Revenue?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39423" y="3513986"/>
            <a:ext cx="3192483" cy="157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Calls and revenue seen?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039423" y="4053389"/>
            <a:ext cx="1578700" cy="197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Give Another Day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39423" y="4306864"/>
            <a:ext cx="3192483" cy="157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Wait and monitor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46440" y="4846267"/>
            <a:ext cx="1578700" cy="197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 1 Calls?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46440" y="5099743"/>
            <a:ext cx="3192483" cy="157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calls observed?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32251" y="2055416"/>
            <a:ext cx="3504219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7608" y="2250777"/>
            <a:ext cx="31135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consecutive negative days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227608" y="2735064"/>
            <a:ext cx="31135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5C6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KILL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32251" y="3421856"/>
            <a:ext cx="3504219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7608" y="3617218"/>
            <a:ext cx="31135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Promising winner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227608" y="4101505"/>
            <a:ext cx="31135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7E39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PROTECT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032251" y="4811911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Patience is a competitive advantage. Most buyers kill campaigns before the data is conclusive.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86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 the economics—not just the budget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876" y="1278235"/>
            <a:ext cx="8311942" cy="32586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38787" y="1438046"/>
            <a:ext cx="1521604" cy="2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Profitable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531153" y="1438046"/>
            <a:ext cx="1521604" cy="2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+35–40% Spend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531153" y="4132439"/>
            <a:ext cx="1521604" cy="2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Days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138787" y="3887889"/>
            <a:ext cx="1521604" cy="4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 &amp; Repeat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475" y="4672905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Controlled budget expansion allowed profitable campaigns to absorb more spend without relying on reckless jumps.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97342" y="5102225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+35%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661475" y="5767586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Spend Increase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6076355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Approximately every 3 days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707317" y="5102225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3900" dirty="0"/>
          </a:p>
        </p:txBody>
      </p:sp>
      <p:sp>
        <p:nvSpPr>
          <p:cNvPr id="13" name="Text 10"/>
          <p:cNvSpPr/>
          <p:nvPr/>
        </p:nvSpPr>
        <p:spPr>
          <a:xfrm>
            <a:off x="6171450" y="5767586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Peak CCs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171450" y="6076355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Simultaneously active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9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numbers behind the operation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265" y="1521420"/>
            <a:ext cx="5719619" cy="2313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37946" y="2471142"/>
            <a:ext cx="4098525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shown is Ringba-reported buyer revenue. Media spend is reported separately from Ringba's Total Cost metric.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61475" y="4179193"/>
            <a:ext cx="2602343" cy="968871"/>
          </a:xfrm>
          <a:prstGeom prst="roundRect">
            <a:avLst>
              <a:gd name="adj" fmla="val 73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7881" y="4355604"/>
            <a:ext cx="22495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D8D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470,522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7881" y="4713089"/>
            <a:ext cx="22495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Incoming Calls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16909" y="4179193"/>
            <a:ext cx="2602343" cy="968871"/>
          </a:xfrm>
          <a:prstGeom prst="roundRect">
            <a:avLst>
              <a:gd name="adj" fmla="val 73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93316" y="4355604"/>
            <a:ext cx="22495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D8D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147,617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3593316" y="4713089"/>
            <a:ext cx="22495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Calls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343" y="4179193"/>
            <a:ext cx="2602343" cy="968871"/>
          </a:xfrm>
          <a:prstGeom prst="roundRect">
            <a:avLst>
              <a:gd name="adj" fmla="val 73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48750" y="4355604"/>
            <a:ext cx="22495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7E39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64,287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348750" y="4713089"/>
            <a:ext cx="22495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Calls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27777" y="4179193"/>
            <a:ext cx="2602443" cy="968871"/>
          </a:xfrm>
          <a:prstGeom prst="roundRect">
            <a:avLst>
              <a:gd name="adj" fmla="val 73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04184" y="4355604"/>
            <a:ext cx="22496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7E39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$4.41M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104184" y="4713089"/>
            <a:ext cx="22496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301159"/>
            <a:ext cx="5357778" cy="968871"/>
          </a:xfrm>
          <a:prstGeom prst="roundRect">
            <a:avLst>
              <a:gd name="adj" fmla="val 73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7881" y="5477570"/>
            <a:ext cx="50049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7E39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31.37%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37881" y="5835055"/>
            <a:ext cx="500496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Conversion Rate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343" y="5301159"/>
            <a:ext cx="5357877" cy="968871"/>
          </a:xfrm>
          <a:prstGeom prst="roundRect">
            <a:avLst>
              <a:gd name="adj" fmla="val 73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48750" y="5477570"/>
            <a:ext cx="50050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D8D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2:26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348750" y="5835055"/>
            <a:ext cx="50050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Call Length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743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$681K+ from the top account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61058"/>
            <a:ext cx="7064595" cy="3957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3859" y="5270004"/>
            <a:ext cx="2311541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$681K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5796657"/>
            <a:ext cx="355630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Account Revenue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39978" y="5270004"/>
            <a:ext cx="2311640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$408K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4317594" y="5796657"/>
            <a:ext cx="35564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Media Spend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6197" y="5270004"/>
            <a:ext cx="2311640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~1.67×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7973813" y="5796657"/>
            <a:ext cx="35564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/ Spend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1475" y="607843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strongest account demonstrated that the testing and scaling framework could support substantial spend while maintaining positive campaign economics.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620"/>
            <a:ext cx="10868745" cy="32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repeatable acquisition operating system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61475" y="981273"/>
            <a:ext cx="414625" cy="622002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1051" y="1195090"/>
            <a:ext cx="155472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32951" y="1084858"/>
            <a:ext cx="103972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1475" y="1660128"/>
            <a:ext cx="414625" cy="622002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1051" y="1873945"/>
            <a:ext cx="155472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32951" y="1763713"/>
            <a:ext cx="103972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1475" y="2338983"/>
            <a:ext cx="414625" cy="622002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1051" y="2552799"/>
            <a:ext cx="155472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2951" y="2442567"/>
            <a:ext cx="103972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QUALIFY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1475" y="3017838"/>
            <a:ext cx="414625" cy="622002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1051" y="3231654"/>
            <a:ext cx="155472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2951" y="3121422"/>
            <a:ext cx="103972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3696692"/>
            <a:ext cx="414625" cy="622002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1051" y="3910509"/>
            <a:ext cx="155472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2951" y="3800277"/>
            <a:ext cx="103972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1475" y="4375547"/>
            <a:ext cx="414625" cy="622002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1051" y="4589363"/>
            <a:ext cx="155472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2951" y="4479131"/>
            <a:ext cx="103972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1475" y="5054402"/>
            <a:ext cx="414625" cy="622002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1051" y="5268218"/>
            <a:ext cx="155472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2951" y="5157986"/>
            <a:ext cx="103972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1475" y="5740301"/>
            <a:ext cx="10868745" cy="381794"/>
          </a:xfrm>
          <a:prstGeom prst="roundRect">
            <a:avLst>
              <a:gd name="adj" fmla="val 114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825" y="5746651"/>
            <a:ext cx="3618616" cy="369094"/>
          </a:xfrm>
          <a:custGeom>
            <a:avLst/>
            <a:gdLst/>
            <a:ahLst/>
            <a:cxnLst/>
            <a:rect l="l" t="t" r="r" b="b"/>
            <a:pathLst>
              <a:path w="3618616" h="369094">
                <a:moveTo>
                  <a:pt x="36283" y="0"/>
                </a:moveTo>
                <a:lnTo>
                  <a:pt x="3618616" y="0"/>
                </a:lnTo>
                <a:lnTo>
                  <a:pt x="3618616" y="369094"/>
                </a:lnTo>
                <a:lnTo>
                  <a:pt x="36283" y="369094"/>
                </a:lnTo>
                <a:arcTo hR="36284" wR="36283" stAng="5400000" swAng="5400000"/>
                <a:lnTo>
                  <a:pt x="0" y="36284"/>
                </a:lnTo>
                <a:arcTo hR="36284" wR="36283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6" name="Text 24"/>
          <p:cNvSpPr/>
          <p:nvPr/>
        </p:nvSpPr>
        <p:spPr>
          <a:xfrm>
            <a:off x="771406" y="5850235"/>
            <a:ext cx="341145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CPA &lt; $90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86440" y="5746651"/>
            <a:ext cx="3618715" cy="369094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28" name="Shape 26"/>
          <p:cNvSpPr/>
          <p:nvPr/>
        </p:nvSpPr>
        <p:spPr>
          <a:xfrm>
            <a:off x="4286440" y="5746651"/>
            <a:ext cx="12700" cy="369094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9" name="Text 27"/>
          <p:cNvSpPr/>
          <p:nvPr/>
        </p:nvSpPr>
        <p:spPr>
          <a:xfrm>
            <a:off x="4390022" y="5850235"/>
            <a:ext cx="341155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2+ Min Call Qualification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05155" y="5746651"/>
            <a:ext cx="3618715" cy="369094"/>
          </a:xfrm>
          <a:custGeom>
            <a:avLst/>
            <a:gdLst/>
            <a:ahLst/>
            <a:cxnLst/>
            <a:rect l="l" t="t" r="r" b="b"/>
            <a:pathLst>
              <a:path w="3618715" h="369094">
                <a:moveTo>
                  <a:pt x="0" y="0"/>
                </a:moveTo>
                <a:lnTo>
                  <a:pt x="3582432" y="0"/>
                </a:lnTo>
                <a:arcTo hR="36284" wR="36283" stAng="16200000" swAng="5400000"/>
                <a:lnTo>
                  <a:pt x="3618715" y="332810"/>
                </a:lnTo>
                <a:arcTo hR="36284" wR="36283" stAng="0" swAng="5400000"/>
                <a:lnTo>
                  <a:pt x="0" y="369094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31" name="Shape 29"/>
          <p:cNvSpPr/>
          <p:nvPr/>
        </p:nvSpPr>
        <p:spPr>
          <a:xfrm>
            <a:off x="7905155" y="5746651"/>
            <a:ext cx="12700" cy="369094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32" name="Text 30"/>
          <p:cNvSpPr/>
          <p:nvPr/>
        </p:nvSpPr>
        <p:spPr>
          <a:xfrm>
            <a:off x="8008737" y="5850235"/>
            <a:ext cx="341155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35% Reported ROI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82" y="6185991"/>
            <a:ext cx="11478330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Built around real buyer economics—not vanity metrics.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72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Ready to scale qualified-call acquisition?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588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manage paid acquisition around the metrics that actually matter: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20925"/>
            <a:ext cx="3496877" cy="567035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482" y="307697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CPA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4347359" y="2320925"/>
            <a:ext cx="3496877" cy="567035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6366" y="307697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Call Quality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8033244" y="2320925"/>
            <a:ext cx="3496877" cy="567035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2251" y="307697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Conversion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61475" y="3750270"/>
            <a:ext cx="3496877" cy="567035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482" y="450631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347359" y="3750270"/>
            <a:ext cx="3496877" cy="567035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6366" y="450631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ROI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5203230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REQUEST CAMPAIGN MANAGEMENT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Media • Lead Generation • Google Ads • Meta • Qualified Calls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2026-08-10T22:16:15Z</dcterms:created>
  <dcterms:modified xsi:type="dcterms:W3CDTF">2026-08-10T22:16:15Z</dcterms:modified>
</cp:coreProperties>
</file>