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51435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Roboto"/>
      <p:regular r:id="rId35"/>
      <p:bold r:id="rId36"/>
      <p:italic r:id="rId37"/>
      <p:boldItalic r:id="rId38"/>
    </p:embeddedFont>
    <p:embeddedFont>
      <p:font typeface="Roboto Medium"/>
      <p:regular r:id="rId39"/>
      <p:bold r:id="rId40"/>
      <p:italic r:id="rId41"/>
      <p:boldItalic r:id="rId42"/>
    </p:embeddedFont>
    <p:embeddedFont>
      <p:font typeface="Raleway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gZnStEl3KvuSCIHiCEbyuvE7PO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.fntdata"/><Relationship Id="rId20" Type="http://schemas.openxmlformats.org/officeDocument/2006/relationships/slide" Target="slides/slide15.xml"/><Relationship Id="rId42" Type="http://schemas.openxmlformats.org/officeDocument/2006/relationships/font" Target="fonts/RobotoMedium-boldItalic.fntdata"/><Relationship Id="rId41" Type="http://schemas.openxmlformats.org/officeDocument/2006/relationships/font" Target="fonts/RobotoMedium-italic.fntdata"/><Relationship Id="rId22" Type="http://schemas.openxmlformats.org/officeDocument/2006/relationships/slide" Target="slides/slide17.xml"/><Relationship Id="rId44" Type="http://schemas.openxmlformats.org/officeDocument/2006/relationships/font" Target="fonts/RalewayMedium-bold.fntdata"/><Relationship Id="rId21" Type="http://schemas.openxmlformats.org/officeDocument/2006/relationships/slide" Target="slides/slide16.xml"/><Relationship Id="rId43" Type="http://schemas.openxmlformats.org/officeDocument/2006/relationships/font" Target="fonts/RalewayMedium-regular.fntdata"/><Relationship Id="rId24" Type="http://schemas.openxmlformats.org/officeDocument/2006/relationships/slide" Target="slides/slide19.xml"/><Relationship Id="rId46" Type="http://schemas.openxmlformats.org/officeDocument/2006/relationships/font" Target="fonts/RalewayMedium-boldItalic.fntdata"/><Relationship Id="rId23" Type="http://schemas.openxmlformats.org/officeDocument/2006/relationships/slide" Target="slides/slide18.xml"/><Relationship Id="rId45" Type="http://schemas.openxmlformats.org/officeDocument/2006/relationships/font" Target="fonts/Raleway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italic.fntdata"/><Relationship Id="rId10" Type="http://schemas.openxmlformats.org/officeDocument/2006/relationships/slide" Target="slides/slide5.xml"/><Relationship Id="rId32" Type="http://schemas.openxmlformats.org/officeDocument/2006/relationships/font" Target="fonts/Raleway-bold.fntdata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39" Type="http://schemas.openxmlformats.org/officeDocument/2006/relationships/font" Target="fonts/RobotoMedium-regular.fntdata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5da20eccaaa4b6d6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h5da20eccaaa4b6d6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h5da20eccaaa4b6d6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1b3b3b692015b2ab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h1b3b3b692015b2ab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h1b3b3b692015b2ab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5da20eccaaa4b6d6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h5da20eccaaa4b6d6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h5da20eccaaa4b6d6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7076bd25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f7076bd25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7076bd25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5da20eccaaa4b6d6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h5da20eccaaa4b6d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h5da20eccaaa4b6d6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5da20eccaaa4b6d6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h5da20eccaaa4b6d6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h5da20eccaaa4b6d6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5da20eccaaa4b6d6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h5da20eccaaa4b6d6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h5da20eccaaa4b6d6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5da20eccaaa4b6d6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h5da20eccaaa4b6d6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h5da20eccaaa4b6d6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5da20eccaaa4b6d6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h5da20eccaaa4b6d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h5da20eccaaa4b6d6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5da20eccaaa4b6d6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h5da20eccaaa4b6d6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h5da20eccaaa4b6d6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5da20eccaaa4b6d6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h5da20eccaaa4b6d6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h5da20eccaaa4b6d6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7076bd25d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f7076bd25d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7076bd25d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5da20eccaaa4b6d6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h5da20eccaaa4b6d6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h5da20eccaaa4b6d6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7076bd25d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f7076bd25d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7076bd25d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1b3b3b692015b2ab_13_2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h1b3b3b692015b2ab_13_2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h1b3b3b692015b2ab_13_20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496119" y="1715914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Google Search Acquisition at Scale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96119" y="2814489"/>
            <a:ext cx="4722763" cy="613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Performance Marketing • Search Acquisition • Multi-Account Scaling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Insurance Vertical | </a:t>
            </a: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Sept</a:t>
            </a: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202</a:t>
            </a: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– Present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496119" y="390525"/>
            <a:ext cx="4722763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Scale at a Glance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96119" y="831800"/>
            <a:ext cx="47227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50"/>
              <a:buFont typeface="Raleway"/>
              <a:buNone/>
            </a:pPr>
            <a:r>
              <a:rPr lang="en-US" sz="24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$781.5K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50"/>
              <a:buFont typeface="Raleway"/>
              <a:buNone/>
            </a:pPr>
            <a:r>
              <a:t/>
            </a:r>
            <a:endParaRPr sz="2450">
              <a:solidFill>
                <a:srgbClr val="3C393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96119" y="1241747"/>
            <a:ext cx="4722763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aleway"/>
              <a:buNone/>
            </a:pPr>
            <a:r>
              <a:rPr lang="en-US" sz="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Documented Spend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aleway"/>
              <a:buNone/>
            </a:pPr>
            <a:r>
              <a:t/>
            </a:r>
            <a:endParaRPr sz="900">
              <a:solidFill>
                <a:srgbClr val="3C393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96119" y="1428973"/>
            <a:ext cx="472276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lang="en-US" sz="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Available account-level historical snapshots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t/>
            </a:r>
            <a:endParaRPr sz="750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96119" y="1731987"/>
            <a:ext cx="47227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50"/>
              <a:buFont typeface="Raleway"/>
              <a:buNone/>
            </a:pPr>
            <a:r>
              <a:rPr lang="en-US" sz="24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1.32x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96119" y="2141934"/>
            <a:ext cx="4722763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aleway"/>
              <a:buNone/>
            </a:pPr>
            <a:r>
              <a:rPr lang="en-US" sz="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Proven ROAS (Performance Marketing Side)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96119" y="2329160"/>
            <a:ext cx="472276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Available </a:t>
            </a:r>
            <a:r>
              <a:rPr lang="en-US" sz="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Tracked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ROAS 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snapshots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6119" y="2632174"/>
            <a:ext cx="47227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50"/>
              <a:buFont typeface="Raleway"/>
              <a:buNone/>
            </a:pPr>
            <a:r>
              <a:rPr lang="en-US" sz="24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25</a:t>
            </a:r>
            <a:r>
              <a:rPr b="0" i="0" lang="en-US" sz="2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×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96119" y="3042121"/>
            <a:ext cx="4722763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aleway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Daily Spend Scaled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96119" y="3229347"/>
            <a:ext cx="472276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From $</a:t>
            </a:r>
            <a:r>
              <a:rPr lang="en-US" sz="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00/day to $</a:t>
            </a:r>
            <a:r>
              <a:rPr lang="en-US" sz="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,000+/day </a:t>
            </a:r>
            <a:r>
              <a:rPr lang="en-US" sz="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overall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96119" y="3532361"/>
            <a:ext cx="47227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50"/>
              <a:buFont typeface="Raleway"/>
              <a:buNone/>
            </a:pPr>
            <a:r>
              <a:rPr lang="en-US" sz="24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12+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96119" y="3942308"/>
            <a:ext cx="4722763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aleway"/>
              <a:buNone/>
            </a:pPr>
            <a:r>
              <a:rPr lang="en-US" sz="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Months</a:t>
            </a:r>
            <a:r>
              <a:rPr b="0" i="0" lang="en-US" sz="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Running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96119" y="4129534"/>
            <a:ext cx="4722763" cy="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Ongoing engagement, </a:t>
            </a:r>
            <a:r>
              <a:rPr lang="en-US" sz="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Sept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202</a:t>
            </a:r>
            <a:r>
              <a:rPr lang="en-US" sz="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 </a:t>
            </a:r>
            <a:r>
              <a:rPr b="0" i="0" lang="en-US" sz="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– Present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96125" y="4723525"/>
            <a:ext cx="4958700" cy="314400"/>
          </a:xfrm>
          <a:prstGeom prst="roundRect">
            <a:avLst>
              <a:gd fmla="val 586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65450" y="4785672"/>
            <a:ext cx="46485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1" lang="en-US" spc="5" sz="700">
                <a:solidFill>
                  <a:schemeClr val="dk1"/>
                </a:solidFill>
                <a:highlight>
                  <a:srgbClr val="E1E1EA"/>
                </a:highlight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i="1" lang="en-US" spc="5" sz="700">
                <a:solidFill>
                  <a:schemeClr val="dk1"/>
                </a:solidFill>
                <a:highlight>
                  <a:srgbClr val="E1E1EA"/>
                </a:highlight>
                <a:latin typeface="Roboto"/>
                <a:ea typeface="Roboto"/>
                <a:cs typeface="Roboto"/>
                <a:sym typeface="Roboto"/>
              </a:rPr>
              <a:t> Spend reaches approximately </a:t>
            </a:r>
            <a:r>
              <a:rPr b="1" i="1" lang="en-US" spc="5" sz="700">
                <a:solidFill>
                  <a:schemeClr val="dk1"/>
                </a:solidFill>
                <a:highlight>
                  <a:srgbClr val="E1E1EA"/>
                </a:highlight>
                <a:latin typeface="Roboto"/>
                <a:ea typeface="Roboto"/>
                <a:cs typeface="Roboto"/>
                <a:sym typeface="Roboto"/>
              </a:rPr>
              <a:t>$15,000 on peak days</a:t>
            </a:r>
            <a:r>
              <a:rPr i="1" lang="en-US" spc="5" sz="700">
                <a:solidFill>
                  <a:schemeClr val="dk1"/>
                </a:solidFill>
                <a:highlight>
                  <a:srgbClr val="E1E1EA"/>
                </a:highlight>
                <a:latin typeface="Roboto"/>
                <a:ea typeface="Roboto"/>
                <a:cs typeface="Roboto"/>
                <a:sym typeface="Roboto"/>
              </a:rPr>
              <a:t>; daily spend varies and is not consistently at that level.</a:t>
            </a:r>
            <a:r>
              <a:rPr i="1" lang="en-US" sz="600">
                <a:solidFill>
                  <a:schemeClr val="dk1"/>
                </a:solidFill>
                <a:highlight>
                  <a:srgbClr val="E1E1EA"/>
                </a:highlight>
              </a:rPr>
              <a:t> </a:t>
            </a:r>
            <a:endParaRPr b="0" i="1" sz="350" u="none" cap="none" strike="noStrike">
              <a:solidFill>
                <a:schemeClr val="dk1"/>
              </a:solidFill>
              <a:highlight>
                <a:srgbClr val="E1E1EA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496119" y="397892"/>
            <a:ext cx="8151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300"/>
              <a:buFont typeface="Raleway"/>
              <a:buNone/>
            </a:pPr>
            <a:r>
              <a:rPr b="0" i="0" lang="en-US" sz="23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I Owned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96119" y="959198"/>
            <a:ext cx="8609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End-to-end Search acquisition ownership — not a single slice of the funnel.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40185"/>
            <a:ext cx="586978" cy="7044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1180281" y="1357536"/>
            <a:ext cx="7467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Research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180281" y="1599233"/>
            <a:ext cx="7467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Competitive search intelligence, keyword testing, market research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944589"/>
            <a:ext cx="586978" cy="70440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1180281" y="2061940"/>
            <a:ext cx="7467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Build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180281" y="2303636"/>
            <a:ext cx="7467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Campaign launches, structure, keywords &amp; 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648992"/>
            <a:ext cx="586978" cy="7044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1180281" y="2766343"/>
            <a:ext cx="7467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Operate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80281" y="3008040"/>
            <a:ext cx="7467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Multi-account management, hourly monitoring, budget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353396"/>
            <a:ext cx="586978" cy="70440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1180281" y="3470747"/>
            <a:ext cx="7467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Optimize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180281" y="3712443"/>
            <a:ext cx="7467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Search-term analysis, bid strategy, conversion performance, landing-page relevance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4057799"/>
            <a:ext cx="586978" cy="7044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180281" y="4175150"/>
            <a:ext cx="7467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180281" y="4416847"/>
            <a:ext cx="7467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Winning campaign expansion, budget increases, multi-account scaling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496119" y="391492"/>
            <a:ext cx="8151763" cy="33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100"/>
              <a:buFont typeface="Raleway"/>
              <a:buNone/>
            </a:pPr>
            <a:r>
              <a:rPr b="0" i="0" lang="en-US" sz="21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Search Acquisition Architecture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948779"/>
            <a:ext cx="5205933" cy="28447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1182625" y="2281691"/>
            <a:ext cx="1206244" cy="164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Search Traffic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228597" y="2263182"/>
            <a:ext cx="1206244" cy="164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Landing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740622" y="2269108"/>
            <a:ext cx="1206244" cy="164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aleway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Conversions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971580" y="2019002"/>
            <a:ext cx="2680990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Optimization Objective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971580" y="2271564"/>
            <a:ext cx="2680990" cy="459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Maximize qualified acquisition while maintaining sustainable cost efficiency across every stage of the funnel.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980408"/>
            <a:ext cx="266186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676052" y="4103191"/>
            <a:ext cx="2359149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Top of Funnel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76052" y="4322564"/>
            <a:ext cx="2359149" cy="30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Search intent capture — keywords, match types, ad relevance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1030" y="3980408"/>
            <a:ext cx="266186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3420963" y="4103191"/>
            <a:ext cx="2359149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Mid Funnel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420963" y="4322564"/>
            <a:ext cx="2359149" cy="30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Landing page alignment, form completion, call connection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5942" y="3980408"/>
            <a:ext cx="266186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6165875" y="4103191"/>
            <a:ext cx="2359149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Bottom of Funnel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165875" y="4322564"/>
            <a:ext cx="2359149" cy="30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Qualified lead delivery and downstream sale conversion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496119" y="427137"/>
            <a:ext cx="8151763" cy="38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350"/>
              <a:buFont typeface="Raleway"/>
              <a:buNone/>
            </a:pPr>
            <a:r>
              <a:rPr b="0" i="0" lang="en-US" sz="2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Search Intelligence → Campaign Build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53320"/>
            <a:ext cx="5194622" cy="1374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896857" y="2618066"/>
            <a:ext cx="785201" cy="281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Competitive Intelligence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96857" y="2939238"/>
            <a:ext cx="785201" cy="209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Map competitor tactics and gaps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796640" y="2532774"/>
            <a:ext cx="785201" cy="281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Keyword Opportunities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796640" y="2853946"/>
            <a:ext cx="785201" cy="209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Identify themes and match types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696423" y="2618066"/>
            <a:ext cx="785201" cy="140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Search Tests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696423" y="2798647"/>
            <a:ext cx="785201" cy="209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Validate intent and ad triggers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596206" y="2532774"/>
            <a:ext cx="785201" cy="281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Campaign Structure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596206" y="2853946"/>
            <a:ext cx="785201" cy="209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Segment brand vs non‑brand budgets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00988" y="2618066"/>
            <a:ext cx="785201" cy="281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aleway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RSA + Landing Page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00988" y="2939238"/>
            <a:ext cx="785201" cy="209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Align messaging and experience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992713" y="1069479"/>
            <a:ext cx="2659931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Structural Decisions at Every Stage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992713" y="1444526"/>
            <a:ext cx="60871" cy="60871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158210" y="1377553"/>
            <a:ext cx="2494434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Brand / non-brand segmentation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isolate intent signals and control budget allocation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992713" y="2016249"/>
            <a:ext cx="60871" cy="60871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158210" y="1949276"/>
            <a:ext cx="2494434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Keyword themes &amp; match types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balance reach with precision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992713" y="2587972"/>
            <a:ext cx="60871" cy="60871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158210" y="2521000"/>
            <a:ext cx="2494434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Negative keywords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protect spend from irrelevant traffic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992713" y="3159696"/>
            <a:ext cx="60871" cy="60871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158210" y="3092723"/>
            <a:ext cx="2494434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Location segmentation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align geo targeting with market opportunity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992713" y="3731419"/>
            <a:ext cx="60871" cy="60871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158210" y="3664446"/>
            <a:ext cx="2494434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Device considerations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optimize bids and creative by device behavior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992713" y="4303142"/>
            <a:ext cx="60871" cy="60871"/>
          </a:xfrm>
          <a:prstGeom prst="ellipse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158210" y="4236169"/>
            <a:ext cx="2494434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Search-term analysis</a:t>
            </a: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continuous refinement based on real query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496119" y="400050"/>
            <a:ext cx="8151763" cy="373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350"/>
              <a:buFont typeface="Raleway"/>
              <a:buNone/>
            </a:pPr>
            <a:r>
              <a:rPr b="0" i="0" lang="en-US" sz="2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Optimization &amp; Bidding Framework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564856" y="975643"/>
            <a:ext cx="14288" cy="3477964"/>
          </a:xfrm>
          <a:prstGeom prst="roundRect">
            <a:avLst>
              <a:gd fmla="val 49998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092922" y="1103040"/>
            <a:ext cx="358825" cy="14288"/>
          </a:xfrm>
          <a:prstGeom prst="roundRect">
            <a:avLst>
              <a:gd fmla="val 49998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437459" y="975643"/>
            <a:ext cx="269081" cy="269081"/>
          </a:xfrm>
          <a:prstGeom prst="roundRect">
            <a:avLst>
              <a:gd fmla="val 1867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482294" y="998079"/>
            <a:ext cx="179412" cy="22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aleway"/>
              <a:buNone/>
            </a:pPr>
            <a:r>
              <a:rPr b="0" i="0" lang="en-US" sz="14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96119" y="1016719"/>
            <a:ext cx="347781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Launch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96119" y="1264072"/>
            <a:ext cx="3477816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1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Maximize Conversions</a:t>
            </a: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gather conversion data while maximizing volume within 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692253" y="1783259"/>
            <a:ext cx="358825" cy="14288"/>
          </a:xfrm>
          <a:prstGeom prst="roundRect">
            <a:avLst>
              <a:gd fmla="val 49998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437459" y="1655862"/>
            <a:ext cx="269081" cy="269081"/>
          </a:xfrm>
          <a:prstGeom prst="roundRect">
            <a:avLst>
              <a:gd fmla="val 1867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482294" y="1678298"/>
            <a:ext cx="179412" cy="22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aleway"/>
              <a:buNone/>
            </a:pPr>
            <a:r>
              <a:rPr b="0" i="0" lang="en-US" sz="14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170066" y="1696938"/>
            <a:ext cx="347781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Gather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170066" y="1944291"/>
            <a:ext cx="3477816" cy="176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Conversion volume, CPA &amp; CPC, search terms &amp; conversion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092922" y="2383110"/>
            <a:ext cx="358825" cy="14288"/>
          </a:xfrm>
          <a:prstGeom prst="roundRect">
            <a:avLst>
              <a:gd fmla="val 49998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437459" y="2255713"/>
            <a:ext cx="269081" cy="269081"/>
          </a:xfrm>
          <a:prstGeom prst="roundRect">
            <a:avLst>
              <a:gd fmla="val 1867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482294" y="2278149"/>
            <a:ext cx="179412" cy="22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aleway"/>
              <a:buNone/>
            </a:pPr>
            <a:r>
              <a:rPr b="0" i="0" lang="en-US" sz="14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96119" y="2296790"/>
            <a:ext cx="347781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Stabilize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96119" y="2544142"/>
            <a:ext cx="3477816" cy="176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1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Target CPA</a:t>
            </a: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— provide greater control over acquisition efficiency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692253" y="2983037"/>
            <a:ext cx="358825" cy="14288"/>
          </a:xfrm>
          <a:prstGeom prst="roundRect">
            <a:avLst>
              <a:gd fmla="val 49998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437459" y="2855640"/>
            <a:ext cx="269081" cy="269081"/>
          </a:xfrm>
          <a:prstGeom prst="roundRect">
            <a:avLst>
              <a:gd fmla="val 1867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482294" y="2878075"/>
            <a:ext cx="179412" cy="22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aleway"/>
              <a:buNone/>
            </a:pPr>
            <a:r>
              <a:rPr b="0" i="0" lang="en-US" sz="14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170066" y="2896716"/>
            <a:ext cx="347781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Optimize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170066" y="3144069"/>
            <a:ext cx="3477816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Budget allocation, search terms &amp; keywords, ads &amp; landing-page relevance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092922" y="3582963"/>
            <a:ext cx="358825" cy="14288"/>
          </a:xfrm>
          <a:prstGeom prst="roundRect">
            <a:avLst>
              <a:gd fmla="val 49998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437459" y="3455566"/>
            <a:ext cx="269081" cy="269081"/>
          </a:xfrm>
          <a:prstGeom prst="roundRect">
            <a:avLst>
              <a:gd fmla="val 1867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482294" y="3478002"/>
            <a:ext cx="179412" cy="22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aleway"/>
              <a:buNone/>
            </a:pPr>
            <a:r>
              <a:rPr b="0" i="0" lang="en-US" sz="14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96119" y="3496642"/>
            <a:ext cx="347781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96119" y="3743995"/>
            <a:ext cx="3477816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Increase volume while maintaining acceptable acquisition economics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96119" y="4567089"/>
            <a:ext cx="8608963" cy="176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phased bidding approach ensures campaigns are data-informed before scaling — protecting spend efficiency at every stage of growth.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/>
          <p:nvPr/>
        </p:nvSpPr>
        <p:spPr>
          <a:xfrm>
            <a:off x="496119" y="414337"/>
            <a:ext cx="8151763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550"/>
              <a:buFont typeface="Raleway"/>
              <a:buNone/>
            </a:pPr>
            <a:r>
              <a:rPr b="0" i="0" lang="en-US" sz="25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Scaling Story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02040" y="1003400"/>
            <a:ext cx="7574100" cy="3725700"/>
          </a:xfrm>
          <a:prstGeom prst="roundRect">
            <a:avLst>
              <a:gd fmla="val 2556" name="adj"/>
            </a:avLst>
          </a:prstGeom>
          <a:solidFill>
            <a:srgbClr val="1B1B27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9" name="Google Shape;169;p7"/>
          <p:cNvSpPr/>
          <p:nvPr/>
        </p:nvSpPr>
        <p:spPr>
          <a:xfrm>
            <a:off x="532730" y="1123876"/>
            <a:ext cx="3419698" cy="816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Raleway"/>
              <a:buNone/>
            </a:pPr>
            <a:r>
              <a:rPr lang="en-US" sz="5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25</a:t>
            </a:r>
            <a:r>
              <a:rPr b="0" i="0" lang="en-US" sz="51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×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70904" y="2061118"/>
            <a:ext cx="70362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Raleway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Daily Spend Scaled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70900" y="2694975"/>
            <a:ext cx="703620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275">
            <a:normAutofit/>
          </a:bodyPr>
          <a:lstStyle/>
          <a:p>
            <a:pPr indent="-222250" lvl="0" marL="2032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Winning campaigns identified through rigorous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Applied Search best practices at every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Continued search term testing throughout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Monitored performance closely — hourly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Optimized account structure in parallel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Increased budget progressively as efficiency held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70904" y="2385711"/>
            <a:ext cx="79770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</a:t>
            </a:r>
            <a:r>
              <a:rPr b="1"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00/day → $</a:t>
            </a:r>
            <a:r>
              <a:rPr b="1"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b="1" i="0" lang="en-US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,000+/day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70900" y="4359776"/>
            <a:ext cx="70362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496119" y="406524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Multi-Account Scaling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96119" y="1011138"/>
            <a:ext cx="8608963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One acquisition engine → multiple accounts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96119" y="1617166"/>
            <a:ext cx="265643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Why Multi-Account?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96119" y="1919511"/>
            <a:ext cx="2656433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Managed Search acquisition across multiple Google Ads accounts to support continued growth and reduce dependency on a single acquisition account.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96119" y="2785690"/>
            <a:ext cx="2656433" cy="629245"/>
          </a:xfrm>
          <a:prstGeom prst="roundRect">
            <a:avLst>
              <a:gd fmla="val 8280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2949997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899071" y="2914278"/>
            <a:ext cx="212950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~$</a:t>
            </a:r>
            <a:r>
              <a:rPr b="1" lang="en-US" sz="950">
                <a:latin typeface="Roboto"/>
                <a:ea typeface="Roboto"/>
                <a:cs typeface="Roboto"/>
                <a:sym typeface="Roboto"/>
              </a:rPr>
              <a:t>781.5</a:t>
            </a:r>
            <a:r>
              <a:rPr b="1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b="0" i="0" lang="en-US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documented spend across available account snapshots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96119" y="3848472"/>
            <a:ext cx="2644899" cy="888504"/>
          </a:xfrm>
          <a:prstGeom prst="roundRect">
            <a:avLst>
              <a:gd fmla="val 586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624855" y="3977208"/>
            <a:ext cx="238742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Redundancy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24855" y="4236169"/>
            <a:ext cx="238742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Reduce single-account risk and policy exposure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249513" y="3848472"/>
            <a:ext cx="2644899" cy="888504"/>
          </a:xfrm>
          <a:prstGeom prst="roundRect">
            <a:avLst>
              <a:gd fmla="val 586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3378250" y="3977208"/>
            <a:ext cx="238742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378250" y="4236169"/>
            <a:ext cx="238742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Expand volume beyond single-account budget ceilings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002908" y="3848472"/>
            <a:ext cx="2644899" cy="888504"/>
          </a:xfrm>
          <a:prstGeom prst="roundRect">
            <a:avLst>
              <a:gd fmla="val 586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131644" y="3977208"/>
            <a:ext cx="238742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131644" y="4236169"/>
            <a:ext cx="238742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Run parallel experiments without disrupting primary performance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8" title="Duck-ai-image-2026-10-19-23-4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527" y="1459298"/>
            <a:ext cx="5686648" cy="1955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76250" y="304800"/>
            <a:ext cx="8191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Performance &amp; Monitoring System</a:t>
            </a:r>
            <a:endParaRPr b="1" sz="24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05" name="Google Shape;205;p9"/>
          <p:cNvGrpSpPr/>
          <p:nvPr/>
        </p:nvGrpSpPr>
        <p:grpSpPr>
          <a:xfrm>
            <a:off x="476250" y="838200"/>
            <a:ext cx="8191500" cy="1047900"/>
            <a:chOff x="0" y="0"/>
            <a:chExt cx="8191500" cy="1047900"/>
          </a:xfrm>
        </p:grpSpPr>
        <p:sp>
          <p:nvSpPr>
            <p:cNvPr id="206" name="Google Shape;206;p9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909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 txBox="1"/>
            <p:nvPr/>
          </p:nvSpPr>
          <p:spPr>
            <a:xfrm>
              <a:off x="190500" y="133350"/>
              <a:ext cx="7810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BDF8"/>
                  </a:solidFill>
                  <a:latin typeface="Raleway"/>
                  <a:ea typeface="Raleway"/>
                  <a:cs typeface="Raleway"/>
                  <a:sym typeface="Raleway"/>
                </a:rPr>
                <a:t>HOURLY CADENCE</a:t>
              </a:r>
              <a:endParaRPr b="1" sz="1000">
                <a:solidFill>
                  <a:srgbClr val="38BDF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208" name="Google Shape;208;p9"/>
            <p:cNvGrpSpPr/>
            <p:nvPr/>
          </p:nvGrpSpPr>
          <p:grpSpPr>
            <a:xfrm>
              <a:off x="190500" y="457200"/>
              <a:ext cx="7620000" cy="342900"/>
              <a:chOff x="0" y="0"/>
              <a:chExt cx="7620000" cy="342900"/>
            </a:xfrm>
          </p:grpSpPr>
          <p:sp>
            <p:nvSpPr>
              <p:cNvPr id="209" name="Google Shape;209;p9"/>
              <p:cNvSpPr/>
              <p:nvPr/>
            </p:nvSpPr>
            <p:spPr>
              <a:xfrm>
                <a:off x="0" y="0"/>
                <a:ext cx="7812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9"/>
              <p:cNvSpPr txBox="1"/>
              <p:nvPr/>
            </p:nvSpPr>
            <p:spPr>
              <a:xfrm>
                <a:off x="0" y="0"/>
                <a:ext cx="781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Spend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11" name="Google Shape;211;p9"/>
              <p:cNvSpPr txBox="1"/>
              <p:nvPr/>
            </p:nvSpPr>
            <p:spPr>
              <a:xfrm>
                <a:off x="781050" y="0"/>
                <a:ext cx="171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952500" y="0"/>
                <a:ext cx="7812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9"/>
              <p:cNvSpPr txBox="1"/>
              <p:nvPr/>
            </p:nvSpPr>
            <p:spPr>
              <a:xfrm>
                <a:off x="952500" y="0"/>
                <a:ext cx="781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Clicks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14" name="Google Shape;214;p9"/>
              <p:cNvSpPr txBox="1"/>
              <p:nvPr/>
            </p:nvSpPr>
            <p:spPr>
              <a:xfrm>
                <a:off x="1733550" y="0"/>
                <a:ext cx="171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1905000" y="0"/>
                <a:ext cx="6858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9"/>
              <p:cNvSpPr txBox="1"/>
              <p:nvPr/>
            </p:nvSpPr>
            <p:spPr>
              <a:xfrm>
                <a:off x="1905000" y="0"/>
                <a:ext cx="6858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CPC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17" name="Google Shape;217;p9"/>
              <p:cNvSpPr txBox="1"/>
              <p:nvPr/>
            </p:nvSpPr>
            <p:spPr>
              <a:xfrm>
                <a:off x="2590800" y="0"/>
                <a:ext cx="171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2762250" y="0"/>
                <a:ext cx="10953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9"/>
              <p:cNvSpPr txBox="1"/>
              <p:nvPr/>
            </p:nvSpPr>
            <p:spPr>
              <a:xfrm>
                <a:off x="2762250" y="0"/>
                <a:ext cx="10953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Conversions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20" name="Google Shape;220;p9"/>
              <p:cNvSpPr txBox="1"/>
              <p:nvPr/>
            </p:nvSpPr>
            <p:spPr>
              <a:xfrm>
                <a:off x="3857625" y="0"/>
                <a:ext cx="171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029075" y="0"/>
                <a:ext cx="6858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9"/>
              <p:cNvSpPr txBox="1"/>
              <p:nvPr/>
            </p:nvSpPr>
            <p:spPr>
              <a:xfrm>
                <a:off x="4029075" y="0"/>
                <a:ext cx="6858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CPA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23" name="Google Shape;223;p9"/>
              <p:cNvSpPr txBox="1"/>
              <p:nvPr/>
            </p:nvSpPr>
            <p:spPr>
              <a:xfrm>
                <a:off x="4714875" y="0"/>
                <a:ext cx="171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4" name="Google Shape;224;p9"/>
              <p:cNvSpPr/>
              <p:nvPr/>
            </p:nvSpPr>
            <p:spPr>
              <a:xfrm>
                <a:off x="4886325" y="0"/>
                <a:ext cx="11907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9"/>
              <p:cNvSpPr txBox="1"/>
              <p:nvPr/>
            </p:nvSpPr>
            <p:spPr>
              <a:xfrm>
                <a:off x="4886325" y="0"/>
                <a:ext cx="1190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Search Terms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26" name="Google Shape;226;p9"/>
              <p:cNvSpPr txBox="1"/>
              <p:nvPr/>
            </p:nvSpPr>
            <p:spPr>
              <a:xfrm>
                <a:off x="6076950" y="0"/>
                <a:ext cx="171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6248400" y="0"/>
                <a:ext cx="13716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9"/>
              <p:cNvSpPr txBox="1"/>
              <p:nvPr/>
            </p:nvSpPr>
            <p:spPr>
              <a:xfrm>
                <a:off x="6248400" y="0"/>
                <a:ext cx="13716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Account Decision</a:t>
                </a:r>
                <a:endParaRPr b="1" sz="10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29" name="Google Shape;229;p9"/>
          <p:cNvGrpSpPr/>
          <p:nvPr/>
        </p:nvGrpSpPr>
        <p:grpSpPr>
          <a:xfrm>
            <a:off x="476250" y="2019300"/>
            <a:ext cx="8191500" cy="1047900"/>
            <a:chOff x="0" y="0"/>
            <a:chExt cx="8191500" cy="1047900"/>
          </a:xfrm>
        </p:grpSpPr>
        <p:sp>
          <p:nvSpPr>
            <p:cNvPr id="230" name="Google Shape;230;p9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909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190500" y="133350"/>
              <a:ext cx="7810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BDF8"/>
                  </a:solidFill>
                  <a:latin typeface="Raleway"/>
                  <a:ea typeface="Raleway"/>
                  <a:cs typeface="Raleway"/>
                  <a:sym typeface="Raleway"/>
                </a:rPr>
                <a:t>DAILY CADENCE</a:t>
              </a:r>
              <a:endParaRPr b="1" sz="1000">
                <a:solidFill>
                  <a:srgbClr val="38BDF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232" name="Google Shape;232;p9"/>
            <p:cNvGrpSpPr/>
            <p:nvPr/>
          </p:nvGrpSpPr>
          <p:grpSpPr>
            <a:xfrm>
              <a:off x="190500" y="457200"/>
              <a:ext cx="7620075" cy="342900"/>
              <a:chOff x="0" y="0"/>
              <a:chExt cx="7620075" cy="342900"/>
            </a:xfrm>
          </p:grpSpPr>
          <p:sp>
            <p:nvSpPr>
              <p:cNvPr id="233" name="Google Shape;233;p9"/>
              <p:cNvSpPr/>
              <p:nvPr/>
            </p:nvSpPr>
            <p:spPr>
              <a:xfrm>
                <a:off x="0" y="0"/>
                <a:ext cx="11430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9"/>
              <p:cNvSpPr txBox="1"/>
              <p:nvPr/>
            </p:nvSpPr>
            <p:spPr>
              <a:xfrm>
                <a:off x="0" y="0"/>
                <a:ext cx="1143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Reporting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35" name="Google Shape;235;p9"/>
              <p:cNvSpPr txBox="1"/>
              <p:nvPr/>
            </p:nvSpPr>
            <p:spPr>
              <a:xfrm>
                <a:off x="1143000" y="0"/>
                <a:ext cx="209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1352550" y="0"/>
                <a:ext cx="12858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9"/>
              <p:cNvSpPr txBox="1"/>
              <p:nvPr/>
            </p:nvSpPr>
            <p:spPr>
              <a:xfrm>
                <a:off x="1352550" y="0"/>
                <a:ext cx="12858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Team Meeting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38" name="Google Shape;238;p9"/>
              <p:cNvSpPr txBox="1"/>
              <p:nvPr/>
            </p:nvSpPr>
            <p:spPr>
              <a:xfrm>
                <a:off x="2638425" y="0"/>
                <a:ext cx="209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2847975" y="0"/>
                <a:ext cx="15717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9"/>
              <p:cNvSpPr txBox="1"/>
              <p:nvPr/>
            </p:nvSpPr>
            <p:spPr>
              <a:xfrm>
                <a:off x="2847975" y="0"/>
                <a:ext cx="1571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Performance Review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41" name="Google Shape;241;p9"/>
              <p:cNvSpPr txBox="1"/>
              <p:nvPr/>
            </p:nvSpPr>
            <p:spPr>
              <a:xfrm>
                <a:off x="4419600" y="0"/>
                <a:ext cx="209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4629150" y="0"/>
                <a:ext cx="12858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33415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9"/>
              <p:cNvSpPr txBox="1"/>
              <p:nvPr/>
            </p:nvSpPr>
            <p:spPr>
              <a:xfrm>
                <a:off x="4629150" y="0"/>
                <a:ext cx="12858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F8FAFC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Testing Plan</a:t>
                </a:r>
                <a:endParaRPr b="0" sz="10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  <p:sp>
            <p:nvSpPr>
              <p:cNvPr id="244" name="Google Shape;244;p9"/>
              <p:cNvSpPr txBox="1"/>
              <p:nvPr/>
            </p:nvSpPr>
            <p:spPr>
              <a:xfrm>
                <a:off x="5915025" y="0"/>
                <a:ext cx="209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64748B"/>
                    </a:solidFill>
                    <a:latin typeface="Roboto"/>
                    <a:ea typeface="Roboto"/>
                    <a:cs typeface="Roboto"/>
                    <a:sym typeface="Roboto"/>
                  </a:rPr>
                  <a:t>→</a:t>
                </a:r>
                <a:endParaRPr sz="11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45" name="Google Shape;245;p9"/>
              <p:cNvSpPr/>
              <p:nvPr/>
            </p:nvSpPr>
            <p:spPr>
              <a:xfrm>
                <a:off x="6124575" y="0"/>
                <a:ext cx="1495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9"/>
              <p:cNvSpPr txBox="1"/>
              <p:nvPr/>
            </p:nvSpPr>
            <p:spPr>
              <a:xfrm>
                <a:off x="6124575" y="0"/>
                <a:ext cx="1495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Next-Day Strategy</a:t>
                </a:r>
                <a:endParaRPr b="1" sz="10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47" name="Google Shape;247;p9"/>
          <p:cNvGrpSpPr/>
          <p:nvPr/>
        </p:nvGrpSpPr>
        <p:grpSpPr>
          <a:xfrm>
            <a:off x="476250" y="3200400"/>
            <a:ext cx="8191650" cy="1257450"/>
            <a:chOff x="0" y="0"/>
            <a:chExt cx="8191650" cy="1257450"/>
          </a:xfrm>
        </p:grpSpPr>
        <p:sp>
          <p:nvSpPr>
            <p:cNvPr id="248" name="Google Shape;248;p9"/>
            <p:cNvSpPr txBox="1"/>
            <p:nvPr/>
          </p:nvSpPr>
          <p:spPr>
            <a:xfrm>
              <a:off x="0" y="0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Raleway"/>
                  <a:ea typeface="Raleway"/>
                  <a:cs typeface="Raleway"/>
                  <a:sym typeface="Raleway"/>
                </a:rPr>
                <a:t>PRIMARY METRICS TRACKED</a:t>
              </a:r>
              <a:endParaRPr b="1" sz="11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249" name="Google Shape;249;p9"/>
            <p:cNvGrpSpPr/>
            <p:nvPr/>
          </p:nvGrpSpPr>
          <p:grpSpPr>
            <a:xfrm>
              <a:off x="0" y="285750"/>
              <a:ext cx="8191650" cy="971700"/>
              <a:chOff x="0" y="0"/>
              <a:chExt cx="8191650" cy="971700"/>
            </a:xfrm>
          </p:grpSpPr>
          <p:sp>
            <p:nvSpPr>
              <p:cNvPr id="250" name="Google Shape;250;p9"/>
              <p:cNvSpPr/>
              <p:nvPr/>
            </p:nvSpPr>
            <p:spPr>
              <a:xfrm>
                <a:off x="0" y="0"/>
                <a:ext cx="1905000" cy="438300"/>
              </a:xfrm>
              <a:prstGeom prst="roundRect">
                <a:avLst>
                  <a:gd fmla="val 17391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9"/>
              <p:cNvSpPr txBox="1"/>
              <p:nvPr/>
            </p:nvSpPr>
            <p:spPr>
              <a:xfrm>
                <a:off x="0" y="0"/>
                <a:ext cx="1905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E293B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Spend</a:t>
                </a:r>
                <a:endParaRPr b="1" sz="12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52" name="Google Shape;252;p9"/>
              <p:cNvSpPr/>
              <p:nvPr/>
            </p:nvSpPr>
            <p:spPr>
              <a:xfrm>
                <a:off x="2095500" y="0"/>
                <a:ext cx="1905000" cy="438300"/>
              </a:xfrm>
              <a:prstGeom prst="roundRect">
                <a:avLst>
                  <a:gd fmla="val 17391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9"/>
              <p:cNvSpPr txBox="1"/>
              <p:nvPr/>
            </p:nvSpPr>
            <p:spPr>
              <a:xfrm>
                <a:off x="2095500" y="0"/>
                <a:ext cx="1905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E293B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CTR</a:t>
                </a:r>
                <a:endParaRPr b="1" sz="12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54" name="Google Shape;254;p9"/>
              <p:cNvSpPr/>
              <p:nvPr/>
            </p:nvSpPr>
            <p:spPr>
              <a:xfrm>
                <a:off x="4191000" y="0"/>
                <a:ext cx="1905000" cy="438300"/>
              </a:xfrm>
              <a:prstGeom prst="roundRect">
                <a:avLst>
                  <a:gd fmla="val 17391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9"/>
              <p:cNvSpPr txBox="1"/>
              <p:nvPr/>
            </p:nvSpPr>
            <p:spPr>
              <a:xfrm>
                <a:off x="4191000" y="0"/>
                <a:ext cx="1905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E293B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CPC</a:t>
                </a:r>
                <a:endParaRPr b="1" sz="12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56" name="Google Shape;256;p9"/>
              <p:cNvSpPr/>
              <p:nvPr/>
            </p:nvSpPr>
            <p:spPr>
              <a:xfrm>
                <a:off x="6286500" y="0"/>
                <a:ext cx="1905000" cy="438300"/>
              </a:xfrm>
              <a:prstGeom prst="roundRect">
                <a:avLst>
                  <a:gd fmla="val 17391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9"/>
              <p:cNvSpPr txBox="1"/>
              <p:nvPr/>
            </p:nvSpPr>
            <p:spPr>
              <a:xfrm>
                <a:off x="6286500" y="0"/>
                <a:ext cx="1905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E293B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CVR</a:t>
                </a:r>
                <a:endParaRPr b="1" sz="12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0" y="533400"/>
                <a:ext cx="2600400" cy="438300"/>
              </a:xfrm>
              <a:prstGeom prst="roundRect">
                <a:avLst>
                  <a:gd fmla="val 17391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9"/>
              <p:cNvSpPr txBox="1"/>
              <p:nvPr/>
            </p:nvSpPr>
            <p:spPr>
              <a:xfrm>
                <a:off x="0" y="533400"/>
                <a:ext cx="26004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E293B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CPA</a:t>
                </a:r>
                <a:endParaRPr b="1" sz="12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2790825" y="533400"/>
                <a:ext cx="2600400" cy="438300"/>
              </a:xfrm>
              <a:prstGeom prst="roundRect">
                <a:avLst>
                  <a:gd fmla="val 17391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9"/>
              <p:cNvSpPr txBox="1"/>
              <p:nvPr/>
            </p:nvSpPr>
            <p:spPr>
              <a:xfrm>
                <a:off x="2790825" y="533400"/>
                <a:ext cx="26004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E293B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tCPA &amp; Max Clicks</a:t>
                </a:r>
                <a:endParaRPr b="1" sz="12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5581650" y="533400"/>
                <a:ext cx="2610000" cy="438300"/>
              </a:xfrm>
              <a:prstGeom prst="roundRect">
                <a:avLst>
                  <a:gd fmla="val 17391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9"/>
              <p:cNvSpPr txBox="1"/>
              <p:nvPr/>
            </p:nvSpPr>
            <p:spPr>
              <a:xfrm>
                <a:off x="5581650" y="533400"/>
                <a:ext cx="261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1E293B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ROAS</a:t>
                </a:r>
                <a:endParaRPr b="1" sz="12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</p:grpSp>
      <p:sp>
        <p:nvSpPr>
          <p:cNvPr id="264" name="Google Shape;264;p9"/>
          <p:cNvSpPr txBox="1"/>
          <p:nvPr/>
        </p:nvSpPr>
        <p:spPr>
          <a:xfrm>
            <a:off x="476250" y="4610100"/>
            <a:ext cx="8191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Note: We’re paid for each </a:t>
            </a:r>
            <a:r>
              <a:rPr i="1" lang="en-US" sz="8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30-second</a:t>
            </a:r>
            <a:r>
              <a:rPr i="1" lang="en-US" sz="8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 call and account counts it as a conversion. Calls are converted later and fed to the accounts as qualified offline conversions</a:t>
            </a:r>
            <a:endParaRPr i="1" sz="8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11"/>
          <p:cNvGrpSpPr/>
          <p:nvPr/>
        </p:nvGrpSpPr>
        <p:grpSpPr>
          <a:xfrm>
            <a:off x="476250" y="304800"/>
            <a:ext cx="8191500" cy="342900"/>
            <a:chOff x="0" y="0"/>
            <a:chExt cx="8191500" cy="342900"/>
          </a:xfrm>
        </p:grpSpPr>
        <p:sp>
          <p:nvSpPr>
            <p:cNvPr id="271" name="Google Shape;271;p11"/>
            <p:cNvSpPr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1"/>
            <p:cNvSpPr txBox="1"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20">
                  <a:solidFill>
                    <a:srgbClr val="0F172A"/>
                  </a:solidFill>
                  <a:latin typeface="Raleway"/>
                  <a:ea typeface="Raleway"/>
                  <a:cs typeface="Raleway"/>
                  <a:sym typeface="Raleway"/>
                </a:rPr>
                <a:t>My Role</a:t>
              </a:r>
              <a:endParaRPr b="1" sz="222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3" name="Google Shape;273;p11"/>
          <p:cNvGrpSpPr/>
          <p:nvPr/>
        </p:nvGrpSpPr>
        <p:grpSpPr>
          <a:xfrm>
            <a:off x="476250" y="685800"/>
            <a:ext cx="8191500" cy="190500"/>
            <a:chOff x="0" y="0"/>
            <a:chExt cx="8191500" cy="190500"/>
          </a:xfrm>
        </p:grpSpPr>
        <p:sp>
          <p:nvSpPr>
            <p:cNvPr id="274" name="Google Shape;274;p11"/>
            <p:cNvSpPr/>
            <p:nvPr/>
          </p:nvSpPr>
          <p:spPr>
            <a:xfrm>
              <a:off x="0" y="0"/>
              <a:ext cx="8191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1"/>
            <p:cNvSpPr txBox="1"/>
            <p:nvPr/>
          </p:nvSpPr>
          <p:spPr>
            <a:xfrm>
              <a:off x="0" y="0"/>
              <a:ext cx="819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Performance Marketing at Scale</a:t>
              </a:r>
              <a:endParaRPr b="0" sz="1100">
                <a:solidFill>
                  <a:srgbClr val="64748B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</p:grpSp>
      <p:grpSp>
        <p:nvGrpSpPr>
          <p:cNvPr id="276" name="Google Shape;276;p11"/>
          <p:cNvGrpSpPr/>
          <p:nvPr/>
        </p:nvGrpSpPr>
        <p:grpSpPr>
          <a:xfrm>
            <a:off x="476250" y="990600"/>
            <a:ext cx="3981600" cy="2476500"/>
            <a:chOff x="0" y="0"/>
            <a:chExt cx="3981600" cy="2476500"/>
          </a:xfrm>
        </p:grpSpPr>
        <p:sp>
          <p:nvSpPr>
            <p:cNvPr id="277" name="Google Shape;277;p11"/>
            <p:cNvSpPr/>
            <p:nvPr/>
          </p:nvSpPr>
          <p:spPr>
            <a:xfrm>
              <a:off x="0" y="0"/>
              <a:ext cx="3981600" cy="2476500"/>
            </a:xfrm>
            <a:prstGeom prst="roundRect">
              <a:avLst>
                <a:gd fmla="val 384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1"/>
            <p:cNvSpPr txBox="1"/>
            <p:nvPr/>
          </p:nvSpPr>
          <p:spPr>
            <a:xfrm>
              <a:off x="228600" y="190500"/>
              <a:ext cx="3524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BDF8"/>
                  </a:solidFill>
                  <a:latin typeface="Raleway"/>
                  <a:ea typeface="Raleway"/>
                  <a:cs typeface="Raleway"/>
                  <a:sym typeface="Raleway"/>
                </a:rPr>
                <a:t>CAMPAIGN EXECUTION &amp; MANAGEMENT</a:t>
              </a:r>
              <a:endParaRPr b="1" sz="1000">
                <a:solidFill>
                  <a:srgbClr val="38BDF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79" name="Google Shape;279;p11"/>
            <p:cNvSpPr txBox="1"/>
            <p:nvPr/>
          </p:nvSpPr>
          <p:spPr>
            <a:xfrm>
              <a:off x="228600" y="514350"/>
              <a:ext cx="35244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Google Search Campaign Management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Campaign Launches &amp; Structure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Search Intelligence &amp; Optimization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Budget &amp; Bid Management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Conversion Tracking &amp; Attribution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280" name="Google Shape;280;p11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1" name="Google Shape;281;p11"/>
          <p:cNvGrpSpPr/>
          <p:nvPr/>
        </p:nvGrpSpPr>
        <p:grpSpPr>
          <a:xfrm>
            <a:off x="4686300" y="990600"/>
            <a:ext cx="3981600" cy="2476500"/>
            <a:chOff x="0" y="0"/>
            <a:chExt cx="3981600" cy="2476500"/>
          </a:xfrm>
        </p:grpSpPr>
        <p:sp>
          <p:nvSpPr>
            <p:cNvPr id="282" name="Google Shape;282;p11"/>
            <p:cNvSpPr/>
            <p:nvPr/>
          </p:nvSpPr>
          <p:spPr>
            <a:xfrm>
              <a:off x="0" y="0"/>
              <a:ext cx="3981600" cy="2476500"/>
            </a:xfrm>
            <a:prstGeom prst="roundRect">
              <a:avLst>
                <a:gd fmla="val 384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1"/>
            <p:cNvSpPr txBox="1"/>
            <p:nvPr/>
          </p:nvSpPr>
          <p:spPr>
            <a:xfrm>
              <a:off x="228600" y="190500"/>
              <a:ext cx="3524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BDF8"/>
                  </a:solidFill>
                  <a:latin typeface="Raleway"/>
                  <a:ea typeface="Raleway"/>
                  <a:cs typeface="Raleway"/>
                  <a:sym typeface="Raleway"/>
                </a:rPr>
                <a:t>STRATEGIC OWNERSHIP &amp; SCALING</a:t>
              </a:r>
              <a:endParaRPr b="1" sz="1000">
                <a:solidFill>
                  <a:srgbClr val="38BDF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84" name="Google Shape;284;p11"/>
            <p:cNvSpPr txBox="1"/>
            <p:nvPr/>
          </p:nvSpPr>
          <p:spPr>
            <a:xfrm>
              <a:off x="228600" y="514350"/>
              <a:ext cx="35244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Scaling &amp; Multi-Account Management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Performance Reporting &amp; Daily Strategy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Call Tracking &amp; Attribution (Ringba)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Revenue &amp; Profitability Optimization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133350" lvl="0" marL="1333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8FAFC"/>
                  </a:solidFill>
                  <a:latin typeface="Raleway"/>
                  <a:ea typeface="Raleway"/>
                  <a:cs typeface="Raleway"/>
                  <a:sym typeface="Raleway"/>
                </a:rPr>
                <a:t>• Growth Strategy &amp; Performance Scaling</a:t>
              </a:r>
              <a:endParaRPr b="0" sz="1100">
                <a:solidFill>
                  <a:srgbClr val="F8FAFC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85" name="Google Shape;285;p11"/>
          <p:cNvGrpSpPr/>
          <p:nvPr/>
        </p:nvGrpSpPr>
        <p:grpSpPr>
          <a:xfrm>
            <a:off x="476250" y="3619500"/>
            <a:ext cx="8191500" cy="742950"/>
            <a:chOff x="0" y="0"/>
            <a:chExt cx="8191500" cy="742950"/>
          </a:xfrm>
        </p:grpSpPr>
        <p:sp>
          <p:nvSpPr>
            <p:cNvPr id="286" name="Google Shape;286;p11"/>
            <p:cNvSpPr txBox="1"/>
            <p:nvPr/>
          </p:nvSpPr>
          <p:spPr>
            <a:xfrm>
              <a:off x="0" y="0"/>
              <a:ext cx="8191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172A"/>
                  </a:solidFill>
                  <a:latin typeface="Raleway"/>
                  <a:ea typeface="Raleway"/>
                  <a:cs typeface="Raleway"/>
                  <a:sym typeface="Raleway"/>
                </a:rPr>
                <a:t>What I Personally Own</a:t>
              </a:r>
              <a:endParaRPr b="1" sz="105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0" y="247650"/>
              <a:ext cx="8191500" cy="495300"/>
            </a:xfrm>
            <a:prstGeom prst="roundRect">
              <a:avLst>
                <a:gd fmla="val 15384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1"/>
            <p:cNvSpPr txBox="1"/>
            <p:nvPr/>
          </p:nvSpPr>
          <p:spPr>
            <a:xfrm>
              <a:off x="152400" y="247650"/>
              <a:ext cx="78867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85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Client identities, account identifiers, proprietary tools, and confidential business information have been omitted. Spend figures are labeled according to whether they are documented or approximate.</a:t>
              </a:r>
              <a:endParaRPr b="0" i="1" sz="8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5da20eccaaa4b6d6_0_80"/>
          <p:cNvSpPr/>
          <p:nvPr/>
        </p:nvSpPr>
        <p:spPr>
          <a:xfrm>
            <a:off x="2210544" y="1715852"/>
            <a:ext cx="4722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Media Buying Case Study</a:t>
            </a:r>
            <a:endParaRPr sz="2750">
              <a:solidFill>
                <a:srgbClr val="1B1B27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lang="en-US" sz="27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Proof of Work</a:t>
            </a:r>
            <a:endParaRPr sz="2750">
              <a:solidFill>
                <a:srgbClr val="1B1B2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5" name="Google Shape;295;h5da20eccaaa4b6d6_0_80"/>
          <p:cNvSpPr/>
          <p:nvPr/>
        </p:nvSpPr>
        <p:spPr>
          <a:xfrm>
            <a:off x="7922275" y="4705400"/>
            <a:ext cx="1221600" cy="43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h5da20eccaaa4b6d6_0_80"/>
          <p:cNvSpPr/>
          <p:nvPr/>
        </p:nvSpPr>
        <p:spPr>
          <a:xfrm>
            <a:off x="2210544" y="2814427"/>
            <a:ext cx="4722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Final Expense Insurance</a:t>
            </a: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(Top Accounts)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1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From $</a:t>
            </a:r>
            <a:r>
              <a:rPr i="1"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600</a:t>
            </a:r>
            <a:r>
              <a:rPr b="0" i="1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/day acquisition to $1</a:t>
            </a:r>
            <a:r>
              <a:rPr i="1" lang="en-US"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1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K+/day scale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1b3b3b692015b2ab_2_0"/>
          <p:cNvSpPr/>
          <p:nvPr/>
        </p:nvSpPr>
        <p:spPr>
          <a:xfrm>
            <a:off x="7922275" y="4705400"/>
            <a:ext cx="1221600" cy="43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h1b3b3b692015b2ab_2_0"/>
          <p:cNvSpPr/>
          <p:nvPr/>
        </p:nvSpPr>
        <p:spPr>
          <a:xfrm>
            <a:off x="466725" y="895350"/>
            <a:ext cx="8210700" cy="1876500"/>
          </a:xfrm>
          <a:prstGeom prst="roundRect">
            <a:avLst>
              <a:gd fmla="val 4568" name="adj"/>
            </a:avLst>
          </a:prstGeom>
          <a:solidFill>
            <a:srgbClr val="0F172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h1b3b3b692015b2ab_2_0"/>
          <p:cNvSpPr txBox="1"/>
          <p:nvPr/>
        </p:nvSpPr>
        <p:spPr>
          <a:xfrm>
            <a:off x="476250" y="266700"/>
            <a:ext cx="7429500" cy="49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Ringba + CallGrid Per Day R</a:t>
            </a:r>
            <a:r>
              <a:rPr b="1" lang="en-US" sz="20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evenue</a:t>
            </a:r>
            <a:r>
              <a:rPr b="1" i="0" lang="en-US" sz="20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Stats</a:t>
            </a:r>
            <a:endParaRPr b="1" i="0" sz="2000">
              <a:solidFill>
                <a:srgbClr val="1B1B27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rPr>
              <a:t>Daily call tracking, attribution &amp; revenue metrics breakdown</a:t>
            </a:r>
            <a:endParaRPr b="0" i="0" sz="1050">
              <a:solidFill>
                <a:srgbClr val="64748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5" name="Google Shape;305;h1b3b3b692015b2ab_2_0"/>
          <p:cNvSpPr/>
          <p:nvPr/>
        </p:nvSpPr>
        <p:spPr>
          <a:xfrm>
            <a:off x="466725" y="2895600"/>
            <a:ext cx="8210700" cy="1876500"/>
          </a:xfrm>
          <a:prstGeom prst="roundRect">
            <a:avLst>
              <a:gd fmla="val 4568" name="adj"/>
            </a:avLst>
          </a:prstGeom>
          <a:solidFill>
            <a:srgbClr val="0F172A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h1b3b3b692015b2ab_2_0"/>
          <p:cNvPicPr preferRelativeResize="0"/>
          <p:nvPr/>
        </p:nvPicPr>
        <p:blipFill rotWithShape="1">
          <a:blip r:embed="rId3">
            <a:alphaModFix/>
          </a:blip>
          <a:srcRect b="14332" l="0" r="0" t="14332"/>
          <a:stretch/>
        </p:blipFill>
        <p:spPr>
          <a:xfrm>
            <a:off x="476250" y="2905125"/>
            <a:ext cx="8191500" cy="18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h1b3b3b692015b2ab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550" y="939700"/>
            <a:ext cx="80549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h1b3b3b692015b2ab_2_0"/>
          <p:cNvSpPr/>
          <p:nvPr/>
        </p:nvSpPr>
        <p:spPr>
          <a:xfrm>
            <a:off x="476250" y="4849175"/>
            <a:ext cx="7870800" cy="252300"/>
          </a:xfrm>
          <a:prstGeom prst="roundRect">
            <a:avLst>
              <a:gd fmla="val 586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h1b3b3b692015b2ab_2_0"/>
          <p:cNvSpPr/>
          <p:nvPr/>
        </p:nvSpPr>
        <p:spPr>
          <a:xfrm>
            <a:off x="581393" y="4895847"/>
            <a:ext cx="76605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1" i="1" lang="en-US" spc="5" sz="700">
                <a:solidFill>
                  <a:schemeClr val="dk1"/>
                </a:solidFill>
                <a:highlight>
                  <a:srgbClr val="E1E1EA"/>
                </a:highlight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i="1" lang="en-US" spc="5" sz="700">
                <a:solidFill>
                  <a:schemeClr val="dk1"/>
                </a:solidFill>
                <a:highlight>
                  <a:srgbClr val="E1E1EA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-US" spc="5" sz="700">
                <a:solidFill>
                  <a:schemeClr val="dk1"/>
                </a:solidFill>
                <a:highlight>
                  <a:srgbClr val="E1E1EA"/>
                </a:highlight>
                <a:latin typeface="Roboto"/>
                <a:ea typeface="Roboto"/>
                <a:cs typeface="Roboto"/>
                <a:sym typeface="Roboto"/>
              </a:rPr>
              <a:t>The screenshots show revenue for October 19, 2026. On that day, spend was approximately $13,000, resulting in an ROAS above 1.3×.</a:t>
            </a:r>
            <a:endParaRPr b="0" i="1" sz="350" u="none" cap="none" strike="noStrike">
              <a:solidFill>
                <a:schemeClr val="dk1"/>
              </a:solidFill>
              <a:highlight>
                <a:srgbClr val="E1E1EA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5da20eccaaa4b6d6_0_42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h5da20eccaaa4b6d6_0_42" title="28569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225"/>
            <a:ext cx="9143999" cy="484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7076bd25d_0_0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g3f7076bd25d_0_0" title="1460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52" y="0"/>
            <a:ext cx="82998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0" name="Google Shape;330;p12" title="10307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39" y="0"/>
            <a:ext cx="8265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5da20eccaaa4b6d6_0_18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h5da20eccaaa4b6d6_0_18" title="920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313"/>
            <a:ext cx="9143999" cy="4866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5da20eccaaa4b6d6_0_35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h5da20eccaaa4b6d6_0_35" title="6905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355120" cy="444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5da20eccaaa4b6d6_0_49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h5da20eccaaa4b6d6_0_49" title="511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262"/>
            <a:ext cx="9143999" cy="4854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5da20eccaaa4b6d6_0_11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h5da20eccaaa4b6d6_0_11" title="205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5662"/>
            <a:ext cx="9144001" cy="4852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5da20eccaaa4b6d6_0_3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h5da20eccaaa4b6d6_0_3" title="59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"/>
            <a:ext cx="9143999" cy="4860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5da20eccaaa4b6d6_0_56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2" name="Google Shape;372;h5da20eccaaa4b6d6_0_56" title="207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484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5da20eccaaa4b6d6_0_68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h5da20eccaaa4b6d6_0_68" title="186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25" y="28913"/>
            <a:ext cx="8195150" cy="508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7076bd25d_0_15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g3f7076bd25d_0_15" title="17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"/>
            <a:ext cx="9143999" cy="4854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5da20eccaaa4b6d6_0_25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h5da20eccaaa4b6d6_0_25" title="16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"/>
            <a:ext cx="9143999" cy="484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7076bd25d_0_30"/>
          <p:cNvSpPr/>
          <p:nvPr/>
        </p:nvSpPr>
        <p:spPr>
          <a:xfrm>
            <a:off x="7976250" y="4746350"/>
            <a:ext cx="1167900" cy="39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g3f7076bd25d_0_30" title="7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2675"/>
            <a:ext cx="9144001" cy="4375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2026-08-13T22:18:16Z</dcterms:created>
</cp:coreProperties>
</file>