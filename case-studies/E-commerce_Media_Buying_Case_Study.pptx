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aleway Light"/>
      <p:regular r:id="rId30"/>
      <p:bold r:id="rId31"/>
      <p:italic r:id="rId32"/>
      <p:boldItalic r:id="rId33"/>
    </p:embeddedFont>
    <p:embeddedFont>
      <p:font typeface="Raleway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VDDl/kSROmJfGxcfU5P1HqfeQ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Light-bold.fntdata"/><Relationship Id="rId30" Type="http://schemas.openxmlformats.org/officeDocument/2006/relationships/font" Target="fonts/RalewayLight-regular.fntdata"/><Relationship Id="rId11" Type="http://schemas.openxmlformats.org/officeDocument/2006/relationships/slide" Target="slides/slide6.xml"/><Relationship Id="rId33" Type="http://schemas.openxmlformats.org/officeDocument/2006/relationships/font" Target="fonts/Raleway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Light-italic.fntdata"/><Relationship Id="rId13" Type="http://schemas.openxmlformats.org/officeDocument/2006/relationships/slide" Target="slides/slide8.xml"/><Relationship Id="rId35" Type="http://schemas.openxmlformats.org/officeDocument/2006/relationships/font" Target="fonts/RalewayMedium-bold.fntdata"/><Relationship Id="rId12" Type="http://schemas.openxmlformats.org/officeDocument/2006/relationships/slide" Target="slides/slide7.xml"/><Relationship Id="rId34" Type="http://schemas.openxmlformats.org/officeDocument/2006/relationships/font" Target="fonts/RalewayMedium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6071005e3e492218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h6071005e3e492218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h6071005e3e492218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6071005e3e492218_1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6071005e3e492218_1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h6071005e3e492218_1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6071005e3e492218_1_18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h6071005e3e492218_1_18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h6071005e3e492218_1_18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hyperlink" Target="https://www.linkedin.com/in/muhammad-ibrahim-bin-zahid-115590231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linkedin.com/in/muhammad-ibrahim-bin-zahid-115590231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Performance Marketing Case Study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925125" y="2814520"/>
            <a:ext cx="47226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Direct-Response Acquisition at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1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7-Month Confidential Engagement</a:t>
            </a:r>
            <a:endParaRPr i="1"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i="1"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Muhammad Ibrahim Bin Zahid | </a:t>
            </a:r>
            <a:r>
              <a:rPr i="1" lang="en-US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LinkedIn</a:t>
            </a:r>
            <a:endParaRPr i="1"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i="1"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Anonymized case study. Figures are historical snapshots, not complete results. </a:t>
            </a:r>
            <a:endParaRPr i="1"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485969" y="-3"/>
            <a:ext cx="4722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000"/>
              <a:buFont typeface="Raleway"/>
              <a:buNone/>
            </a:pPr>
            <a:r>
              <a:rPr b="0" i="0" lang="en-US" sz="2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At a Glance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5969" y="492023"/>
            <a:ext cx="47229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700"/>
              <a:buFont typeface="Raleway"/>
              <a:buNone/>
            </a:pPr>
            <a:r>
              <a:rPr b="0" i="0" lang="en-US" sz="25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7mo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5969" y="944907"/>
            <a:ext cx="47229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Full Engagement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5969" y="1153415"/>
            <a:ext cx="4722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End-to-end campaign cycle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85969" y="1502715"/>
            <a:ext cx="47229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700"/>
              <a:buFont typeface="Raleway"/>
              <a:buNone/>
            </a:pPr>
            <a:r>
              <a:rPr b="0" i="0" lang="en-US" sz="24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$20K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5969" y="1955599"/>
            <a:ext cx="47229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Peak Daily Spend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5969" y="2164107"/>
            <a:ext cx="4722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Peak advertising spend per day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5969" y="2513407"/>
            <a:ext cx="47229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700"/>
              <a:buFont typeface="Raleway"/>
              <a:buNone/>
            </a:pPr>
            <a:r>
              <a:rPr b="0" i="0" lang="en-US" sz="25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5969" y="2966291"/>
            <a:ext cx="47229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Verticals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5969" y="3174799"/>
            <a:ext cx="4722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lang="en-US"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Fatty Acids</a:t>
            </a: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lang="en-US"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Vitamins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5969" y="3524098"/>
            <a:ext cx="47229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700"/>
              <a:buFont typeface="Raleway"/>
              <a:buNone/>
            </a:pPr>
            <a:r>
              <a:rPr b="0" i="0" lang="en-US" sz="25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24/7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5969" y="3976982"/>
            <a:ext cx="47229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Operating Cycle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5969" y="4185491"/>
            <a:ext cx="4722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Continuous campaign management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18044" y="4534798"/>
            <a:ext cx="47229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700"/>
              <a:buFont typeface="Raleway"/>
              <a:buNone/>
            </a:pPr>
            <a:r>
              <a:rPr i="1" lang="en-US" sz="1100">
                <a:solidFill>
                  <a:schemeClr val="dk1"/>
                </a:solidFill>
              </a:rPr>
              <a:t>Peak spend is a combined daily figure across multiple ad accounts, not a single campaign or account.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496119" y="497830"/>
            <a:ext cx="8151763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I Owned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96119" y="1030784"/>
            <a:ext cx="8608963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1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complete acquisition loop across </a:t>
            </a:r>
            <a:r>
              <a:rPr b="1" lang="en-US" sz="8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six</a:t>
            </a:r>
            <a:r>
              <a:rPr b="1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functions: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96119" y="1294358"/>
            <a:ext cx="4030861" cy="1057126"/>
          </a:xfrm>
          <a:prstGeom prst="roundRect">
            <a:avLst>
              <a:gd fmla="val 448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13842" y="1412081"/>
            <a:ext cx="338882" cy="338882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008" y="1505248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613842" y="1840929"/>
            <a:ext cx="3795415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13842" y="2071390"/>
            <a:ext cx="3795415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 spying, competitor analysis, market intelligence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616946" y="1294358"/>
            <a:ext cx="4030935" cy="1057126"/>
          </a:xfrm>
          <a:prstGeom prst="roundRect">
            <a:avLst>
              <a:gd fmla="val 448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734669" y="1412081"/>
            <a:ext cx="338882" cy="338882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7836" y="1505248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4734669" y="1840929"/>
            <a:ext cx="3795489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Creative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734669" y="2071390"/>
            <a:ext cx="3795489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UGC concepts, script development, winner iteration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96119" y="2441451"/>
            <a:ext cx="4030861" cy="1057126"/>
          </a:xfrm>
          <a:prstGeom prst="roundRect">
            <a:avLst>
              <a:gd fmla="val 448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13842" y="2559174"/>
            <a:ext cx="338882" cy="338882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008" y="2652340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613842" y="2988022"/>
            <a:ext cx="3795415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Traffic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13842" y="3218483"/>
            <a:ext cx="3795415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Meta Ads management, campaign launches, budget allocation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616946" y="2441451"/>
            <a:ext cx="4030935" cy="1057126"/>
          </a:xfrm>
          <a:prstGeom prst="roundRect">
            <a:avLst>
              <a:gd fmla="val 448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734669" y="2559174"/>
            <a:ext cx="338882" cy="338882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7836" y="2652340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4734669" y="2988022"/>
            <a:ext cx="3795489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34669" y="3218483"/>
            <a:ext cx="3795489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Landing page optimization, conversion testing, backend architecture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96119" y="3588544"/>
            <a:ext cx="4030861" cy="1057126"/>
          </a:xfrm>
          <a:prstGeom prst="roundRect">
            <a:avLst>
              <a:gd fmla="val 448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13842" y="3706267"/>
            <a:ext cx="338882" cy="338882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7008" y="3799433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613842" y="4135115"/>
            <a:ext cx="3795415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13842" y="4365575"/>
            <a:ext cx="3795415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ClickMagick reporting, KPI monitoring, performance analysis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616946" y="3588544"/>
            <a:ext cx="4030935" cy="1057126"/>
          </a:xfrm>
          <a:prstGeom prst="roundRect">
            <a:avLst>
              <a:gd fmla="val 448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734669" y="3706267"/>
            <a:ext cx="338882" cy="338882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7836" y="3799433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4734669" y="4135115"/>
            <a:ext cx="3795489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734669" y="4365575"/>
            <a:ext cx="3795489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Daily performance reviews, creative fatigue management, scaling decisions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496119" y="584597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Scale Story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99654"/>
            <a:ext cx="3902943" cy="280935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4749701" y="1381944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From $300 to $20,000/Day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49701" y="1745159"/>
            <a:ext cx="3902943" cy="14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Campaign spend scaled dramatically over the 7-month engagement — from early-stage budgets of </a:t>
            </a:r>
            <a:r>
              <a:rPr b="1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~$300–400/day</a:t>
            </a: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to peak periods exceeding </a:t>
            </a:r>
            <a:r>
              <a:rPr b="1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$20,000/day</a:t>
            </a: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trajectory required constant operational sophistication: managing creative fatigue, audience saturation, and budget efficiency simultaneously at every stage of growth.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749700" y="3393050"/>
            <a:ext cx="3903000" cy="1203900"/>
          </a:xfrm>
          <a:prstGeom prst="roundRect">
            <a:avLst>
              <a:gd fmla="val 5917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1460" y="3608115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5210398" y="3556025"/>
            <a:ext cx="330048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i="1" lang="en-US" sz="1100">
                <a:latin typeface="Roboto"/>
                <a:ea typeface="Roboto"/>
                <a:cs typeface="Roboto"/>
                <a:sym typeface="Roboto"/>
              </a:rPr>
              <a:t>The peak is supported by the Ads Manager snapshot on the next slide. Earlier spend levels are from my operating records and recollection; complete historical financials were not available.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496119" y="417537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Meta Ads: Proof of Scale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96119" y="4539928"/>
            <a:ext cx="8608963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Note: Statistics are reported on a per-day basis. Account names have been redacted to maintain confidentiality.</a:t>
            </a:r>
            <a:endParaRPr i="1" sz="95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175" y="957485"/>
            <a:ext cx="7318697" cy="343004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8013700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496119" y="399976"/>
            <a:ext cx="8151763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500"/>
              <a:buFont typeface="Raleway"/>
              <a:buNone/>
            </a:pPr>
            <a:r>
              <a:rPr lang="en-US" sz="25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Fatty Acids </a:t>
            </a:r>
            <a:r>
              <a:rPr b="0" i="0" lang="en-US" sz="2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Performance Snapshots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32061" y="1477566"/>
            <a:ext cx="3847281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Raleway"/>
              <a:buNone/>
            </a:pPr>
            <a:r>
              <a:rPr lang="en-US" sz="12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Fatty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Acid Vertical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32061" y="1809229"/>
            <a:ext cx="3847281" cy="2803327"/>
          </a:xfrm>
          <a:prstGeom prst="roundRect">
            <a:avLst>
              <a:gd fmla="val 1925" name="adj"/>
            </a:avLst>
          </a:prstGeom>
          <a:noFill/>
          <a:ln cap="flat" cmpd="sng" w="9525">
            <a:solidFill>
              <a:srgbClr val="FFFFFF">
                <a:alpha val="2392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32061" y="2161431"/>
            <a:ext cx="3847281" cy="8030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532061" y="2511251"/>
            <a:ext cx="3847281" cy="8030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32061" y="2861072"/>
            <a:ext cx="3847281" cy="8030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32061" y="3210892"/>
            <a:ext cx="3847281" cy="8030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532061" y="3560713"/>
            <a:ext cx="3847281" cy="8030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32061" y="3910533"/>
            <a:ext cx="3847281" cy="8030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32061" y="4260354"/>
            <a:ext cx="3847281" cy="8030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65336" y="1888554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584177" y="1888554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$871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65336" y="2238375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584177" y="2238375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$1,980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65336" y="2588196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AOV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584177" y="2588196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$165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65336" y="2938016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CPC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584177" y="2938016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$0.84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65336" y="3287837"/>
            <a:ext cx="21192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584177" y="3287837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$1.62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65336" y="3637657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EPC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584177" y="3637657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$1.92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65336" y="3987478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584177" y="3987478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65336" y="4337298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584177" y="4337298"/>
            <a:ext cx="2119164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52.2%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6" title="fatty ac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25" y="1463050"/>
            <a:ext cx="8430582" cy="28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1624800" y="1362725"/>
            <a:ext cx="4907700" cy="15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881950" y="2993325"/>
            <a:ext cx="976200" cy="15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96119" y="1034281"/>
            <a:ext cx="8608963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Daily Stats Per Account — Tracked and reported through ClickMagick</a:t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6071005e3e492218_1_9"/>
          <p:cNvSpPr/>
          <p:nvPr/>
        </p:nvSpPr>
        <p:spPr>
          <a:xfrm>
            <a:off x="496119" y="399976"/>
            <a:ext cx="81519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500"/>
              <a:buFont typeface="Raleway"/>
              <a:buNone/>
            </a:pPr>
            <a:r>
              <a:rPr lang="en-US" sz="25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Vitamins </a:t>
            </a:r>
            <a:r>
              <a:rPr b="0" i="0" lang="en-US" sz="2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Performance Snapshots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h6071005e3e492218_1_9" title="Vitamins Vertic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2581"/>
            <a:ext cx="8839204" cy="351755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h6071005e3e492218_1_9"/>
          <p:cNvSpPr/>
          <p:nvPr/>
        </p:nvSpPr>
        <p:spPr>
          <a:xfrm>
            <a:off x="496119" y="1034281"/>
            <a:ext cx="860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Daily Stats Per Account</a:t>
            </a: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 — Tracked and reported through ClickMagick</a:t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</p:txBody>
      </p:sp>
      <p:sp>
        <p:nvSpPr>
          <p:cNvPr id="154" name="Google Shape;154;h6071005e3e492218_1_9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496119" y="521940"/>
            <a:ext cx="8151763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500"/>
              <a:buFont typeface="Raleway"/>
              <a:buNone/>
            </a:pPr>
            <a:r>
              <a:rPr b="0" i="0" lang="en-US" sz="2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Creative Engine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96119" y="1156246"/>
            <a:ext cx="8608963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acquisition strategy relied on continuous creative iteration and competitor intelligence: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96119" y="1483147"/>
            <a:ext cx="256952" cy="160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 Light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96119" y="1687190"/>
            <a:ext cx="4017690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96119" y="1779984"/>
            <a:ext cx="4017690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Spy &amp; Analyze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96119" y="2050479"/>
            <a:ext cx="4017690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Monitor competitor ads, identify winning hooks and messaging angles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630267" y="1483147"/>
            <a:ext cx="2571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 Light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630267" y="1687190"/>
            <a:ext cx="4017600" cy="1440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630267" y="1779984"/>
            <a:ext cx="40176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Script Development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630267" y="2050479"/>
            <a:ext cx="40176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Create UGC concepts aligned with successful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96119" y="2459087"/>
            <a:ext cx="256952" cy="160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 Light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96119" y="2663130"/>
            <a:ext cx="4017690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96119" y="2755925"/>
            <a:ext cx="4017690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Production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96119" y="3026420"/>
            <a:ext cx="4017690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Coordinate video editors, creators, and asset 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630267" y="2459087"/>
            <a:ext cx="2571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 Light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630267" y="2663130"/>
            <a:ext cx="4017600" cy="1440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630267" y="2755925"/>
            <a:ext cx="40176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Test &amp; Measure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630267" y="3026420"/>
            <a:ext cx="40176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Launch multiple creative variations, track performance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96119" y="3435028"/>
            <a:ext cx="256952" cy="160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 Light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96119" y="3639071"/>
            <a:ext cx="4017690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96119" y="3731865"/>
            <a:ext cx="4017690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Iterate Winners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96119" y="4002360"/>
            <a:ext cx="4017690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Remake and refine top-performing concepts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630267" y="3435028"/>
            <a:ext cx="2571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aleway Light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630267" y="3639071"/>
            <a:ext cx="4017600" cy="1440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630267" y="3731865"/>
            <a:ext cx="40176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630267" y="4002360"/>
            <a:ext cx="40176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Increase budget on proven creative while maintaining efficiency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96119" y="4425553"/>
            <a:ext cx="8608963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1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continuous feedback loop maintained creative freshness and supported campaign growth across both verticals.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h6071005e3e492218_1_104"/>
          <p:cNvGrpSpPr/>
          <p:nvPr/>
        </p:nvGrpSpPr>
        <p:grpSpPr>
          <a:xfrm>
            <a:off x="495300" y="428625"/>
            <a:ext cx="8153400" cy="400200"/>
            <a:chOff x="0" y="0"/>
            <a:chExt cx="8153400" cy="400200"/>
          </a:xfrm>
        </p:grpSpPr>
        <p:sp>
          <p:nvSpPr>
            <p:cNvPr id="194" name="Google Shape;194;h6071005e3e492218_1_104"/>
            <p:cNvSpPr/>
            <p:nvPr/>
          </p:nvSpPr>
          <p:spPr>
            <a:xfrm>
              <a:off x="0" y="0"/>
              <a:ext cx="81534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h6071005e3e492218_1_104"/>
            <p:cNvSpPr txBox="1"/>
            <p:nvPr/>
          </p:nvSpPr>
          <p:spPr>
            <a:xfrm>
              <a:off x="0" y="0"/>
              <a:ext cx="815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5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Creative Fatigue at $</a:t>
              </a:r>
              <a:r>
                <a:rPr lang="en-US" sz="25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10</a:t>
              </a:r>
              <a:r>
                <a:rPr b="0" lang="en-US" sz="25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,000+/day</a:t>
              </a:r>
              <a:endParaRPr b="0" sz="25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96" name="Google Shape;196;h6071005e3e492218_1_104"/>
          <p:cNvGrpSpPr/>
          <p:nvPr/>
        </p:nvGrpSpPr>
        <p:grpSpPr>
          <a:xfrm>
            <a:off x="495300" y="904875"/>
            <a:ext cx="8153400" cy="228600"/>
            <a:chOff x="0" y="0"/>
            <a:chExt cx="8153400" cy="228600"/>
          </a:xfrm>
        </p:grpSpPr>
        <p:sp>
          <p:nvSpPr>
            <p:cNvPr id="197" name="Google Shape;197;h6071005e3e492218_1_104"/>
            <p:cNvSpPr/>
            <p:nvPr/>
          </p:nvSpPr>
          <p:spPr>
            <a:xfrm>
              <a:off x="0" y="0"/>
              <a:ext cx="81534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h6071005e3e492218_1_104"/>
            <p:cNvSpPr txBox="1"/>
            <p:nvPr/>
          </p:nvSpPr>
          <p:spPr>
            <a:xfrm>
              <a:off x="0" y="0"/>
              <a:ext cx="8153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Managing creative decay during aggressive Meta Ads scaling across US &amp; Canada (Vitamins &amp; Fatty Acids)</a:t>
              </a:r>
              <a:endParaRPr b="0" sz="10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9" name="Google Shape;199;h6071005e3e492218_1_104"/>
          <p:cNvGrpSpPr/>
          <p:nvPr/>
        </p:nvGrpSpPr>
        <p:grpSpPr>
          <a:xfrm>
            <a:off x="495300" y="1381125"/>
            <a:ext cx="381000" cy="190500"/>
            <a:chOff x="0" y="0"/>
            <a:chExt cx="381000" cy="190500"/>
          </a:xfrm>
        </p:grpSpPr>
        <p:sp>
          <p:nvSpPr>
            <p:cNvPr id="200" name="Google Shape;200;h6071005e3e492218_1_104"/>
            <p:cNvSpPr/>
            <p:nvPr/>
          </p:nvSpPr>
          <p:spPr>
            <a:xfrm>
              <a:off x="0" y="0"/>
              <a:ext cx="381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h6071005e3e492218_1_104"/>
            <p:cNvSpPr txBox="1"/>
            <p:nvPr/>
          </p:nvSpPr>
          <p:spPr>
            <a:xfrm>
              <a:off x="0" y="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B1B27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01</a:t>
              </a:r>
              <a:endParaRPr b="0" sz="1100">
                <a:solidFill>
                  <a:srgbClr val="1B1B27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  <p:sp>
        <p:nvSpPr>
          <p:cNvPr id="202" name="Google Shape;202;h6071005e3e492218_1_104"/>
          <p:cNvSpPr/>
          <p:nvPr/>
        </p:nvSpPr>
        <p:spPr>
          <a:xfrm>
            <a:off x="495300" y="1619250"/>
            <a:ext cx="2552700" cy="1920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h6071005e3e492218_1_104"/>
          <p:cNvGrpSpPr/>
          <p:nvPr/>
        </p:nvGrpSpPr>
        <p:grpSpPr>
          <a:xfrm>
            <a:off x="495300" y="1733550"/>
            <a:ext cx="2552700" cy="2743200"/>
            <a:chOff x="0" y="0"/>
            <a:chExt cx="2552700" cy="2743200"/>
          </a:xfrm>
        </p:grpSpPr>
        <p:sp>
          <p:nvSpPr>
            <p:cNvPr id="204" name="Google Shape;204;h6071005e3e492218_1_104"/>
            <p:cNvSpPr/>
            <p:nvPr/>
          </p:nvSpPr>
          <p:spPr>
            <a:xfrm>
              <a:off x="0" y="0"/>
              <a:ext cx="25527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h6071005e3e492218_1_104"/>
            <p:cNvSpPr txBox="1"/>
            <p:nvPr/>
          </p:nvSpPr>
          <p:spPr>
            <a:xfrm>
              <a:off x="0" y="0"/>
              <a:ext cx="25527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555555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Situation</a:t>
              </a:r>
              <a:endParaRPr b="0" sz="1300">
                <a:solidFill>
                  <a:srgbClr val="555555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Winning UGC ad </a:t>
              </a:r>
              <a:r>
                <a:rPr b="0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CPA</a:t>
              </a:r>
              <a:r>
                <a:rPr b="0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&amp; ECR started declining rapidly as spend reached </a:t>
              </a:r>
              <a:r>
                <a:rPr b="1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$10,000/day</a:t>
              </a:r>
              <a:r>
                <a:rPr b="0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on Meta Ads.</a:t>
              </a:r>
              <a:endParaRPr b="0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The actual Cost Per Purchase (CPS) ballooned from a highly profitable baseline of </a:t>
              </a:r>
              <a:r>
                <a:rPr b="1" lang="en-US" sz="1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$110.00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up to a devastating </a:t>
              </a:r>
              <a:r>
                <a:rPr b="1" lang="en-US" sz="1000">
                  <a:solidFill>
                    <a:srgbClr val="C53030"/>
                  </a:solidFill>
                  <a:latin typeface="Roboto"/>
                  <a:ea typeface="Roboto"/>
                  <a:cs typeface="Roboto"/>
                  <a:sym typeface="Roboto"/>
                </a:rPr>
                <a:t>$150.00 (+36.4%)</a:t>
              </a:r>
              <a:r>
                <a:rPr lang="en-US" sz="1000">
                  <a:solidFill>
                    <a:srgbClr val="C5303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as audience fatigue set in.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TOF efficiency crumbled, dropping the overall Sales Conversion Rate (SCR) by </a:t>
              </a:r>
              <a:r>
                <a:rPr b="1" lang="en-US" sz="1000">
                  <a:solidFill>
                    <a:srgbClr val="C53030"/>
                  </a:solidFill>
                  <a:latin typeface="Roboto"/>
                  <a:ea typeface="Roboto"/>
                  <a:cs typeface="Roboto"/>
                  <a:sym typeface="Roboto"/>
                </a:rPr>
                <a:t>20%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(falling from a stable 1.5% down to 1.2%). 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b="0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Frequency reached </a:t>
              </a:r>
              <a:r>
                <a:rPr b="1" lang="en-US" sz="1000">
                  <a:solidFill>
                    <a:srgbClr val="C53030"/>
                  </a:solidFill>
                  <a:latin typeface="Roboto"/>
                  <a:ea typeface="Roboto"/>
                  <a:cs typeface="Roboto"/>
                  <a:sym typeface="Roboto"/>
                </a:rPr>
                <a:t>3.8</a:t>
              </a:r>
              <a:r>
                <a:rPr b="1" lang="en-US" sz="1000">
                  <a:solidFill>
                    <a:srgbClr val="C53030"/>
                  </a:solidFill>
                  <a:latin typeface="Roboto"/>
                  <a:ea typeface="Roboto"/>
                  <a:cs typeface="Roboto"/>
                  <a:sym typeface="Roboto"/>
                </a:rPr>
                <a:t>x</a:t>
              </a:r>
              <a:r>
                <a:rPr b="0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i</a:t>
              </a:r>
              <a:r>
                <a:rPr b="0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n primary target demographics (US &amp; CA)</a:t>
              </a:r>
              <a:endParaRPr b="0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6" name="Google Shape;206;h6071005e3e492218_1_104"/>
          <p:cNvGrpSpPr/>
          <p:nvPr/>
        </p:nvGrpSpPr>
        <p:grpSpPr>
          <a:xfrm>
            <a:off x="3295650" y="1381125"/>
            <a:ext cx="381000" cy="190500"/>
            <a:chOff x="0" y="0"/>
            <a:chExt cx="381000" cy="190500"/>
          </a:xfrm>
        </p:grpSpPr>
        <p:sp>
          <p:nvSpPr>
            <p:cNvPr id="207" name="Google Shape;207;h6071005e3e492218_1_104"/>
            <p:cNvSpPr/>
            <p:nvPr/>
          </p:nvSpPr>
          <p:spPr>
            <a:xfrm>
              <a:off x="0" y="0"/>
              <a:ext cx="381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h6071005e3e492218_1_104"/>
            <p:cNvSpPr txBox="1"/>
            <p:nvPr/>
          </p:nvSpPr>
          <p:spPr>
            <a:xfrm>
              <a:off x="0" y="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B1B27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02</a:t>
              </a:r>
              <a:endParaRPr b="0" sz="1100">
                <a:solidFill>
                  <a:srgbClr val="1B1B27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  <p:sp>
        <p:nvSpPr>
          <p:cNvPr id="209" name="Google Shape;209;h6071005e3e492218_1_104"/>
          <p:cNvSpPr/>
          <p:nvPr/>
        </p:nvSpPr>
        <p:spPr>
          <a:xfrm>
            <a:off x="3295650" y="1619250"/>
            <a:ext cx="2552700" cy="1920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h6071005e3e492218_1_104"/>
          <p:cNvGrpSpPr/>
          <p:nvPr/>
        </p:nvGrpSpPr>
        <p:grpSpPr>
          <a:xfrm>
            <a:off x="3295650" y="1733550"/>
            <a:ext cx="2552700" cy="2743200"/>
            <a:chOff x="0" y="0"/>
            <a:chExt cx="2552700" cy="2743200"/>
          </a:xfrm>
        </p:grpSpPr>
        <p:sp>
          <p:nvSpPr>
            <p:cNvPr id="211" name="Google Shape;211;h6071005e3e492218_1_104"/>
            <p:cNvSpPr/>
            <p:nvPr/>
          </p:nvSpPr>
          <p:spPr>
            <a:xfrm>
              <a:off x="0" y="0"/>
              <a:ext cx="25527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h6071005e3e492218_1_104"/>
            <p:cNvSpPr txBox="1"/>
            <p:nvPr/>
          </p:nvSpPr>
          <p:spPr>
            <a:xfrm>
              <a:off x="0" y="0"/>
              <a:ext cx="25527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555555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Action</a:t>
              </a:r>
              <a:endParaRPr b="0" sz="1300">
                <a:solidFill>
                  <a:srgbClr val="555555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Executed rapid creative iteration and hook variation refresh within 48 hours.</a:t>
              </a:r>
              <a:endParaRPr b="0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Deployed a comprehensive creative turnaround and variation cycle within a tight </a:t>
              </a:r>
              <a:r>
                <a:rPr b="1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48-hour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window to combat ad fatigue. 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Re-shot and remade the top-performing visual hooks utilizing </a:t>
              </a:r>
              <a:r>
                <a:rPr b="1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2 fresh UGC creators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to completely reset demographic 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blind spots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. 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Developed and tested 8 hook variations, optimizing the first 5 seconds’ visuals and psychological audio.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" name="Google Shape;213;h6071005e3e492218_1_104"/>
          <p:cNvGrpSpPr/>
          <p:nvPr/>
        </p:nvGrpSpPr>
        <p:grpSpPr>
          <a:xfrm>
            <a:off x="6096000" y="1381125"/>
            <a:ext cx="381000" cy="190500"/>
            <a:chOff x="0" y="0"/>
            <a:chExt cx="381000" cy="190500"/>
          </a:xfrm>
        </p:grpSpPr>
        <p:sp>
          <p:nvSpPr>
            <p:cNvPr id="214" name="Google Shape;214;h6071005e3e492218_1_104"/>
            <p:cNvSpPr/>
            <p:nvPr/>
          </p:nvSpPr>
          <p:spPr>
            <a:xfrm>
              <a:off x="0" y="0"/>
              <a:ext cx="381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h6071005e3e492218_1_104"/>
            <p:cNvSpPr txBox="1"/>
            <p:nvPr/>
          </p:nvSpPr>
          <p:spPr>
            <a:xfrm>
              <a:off x="0" y="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B1B27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03</a:t>
              </a:r>
              <a:endParaRPr b="0" sz="1100">
                <a:solidFill>
                  <a:srgbClr val="1B1B27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  <p:sp>
        <p:nvSpPr>
          <p:cNvPr id="216" name="Google Shape;216;h6071005e3e492218_1_104"/>
          <p:cNvSpPr/>
          <p:nvPr/>
        </p:nvSpPr>
        <p:spPr>
          <a:xfrm>
            <a:off x="6096000" y="1619250"/>
            <a:ext cx="2552700" cy="1920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h6071005e3e492218_1_104"/>
          <p:cNvGrpSpPr/>
          <p:nvPr/>
        </p:nvGrpSpPr>
        <p:grpSpPr>
          <a:xfrm>
            <a:off x="6096000" y="1733550"/>
            <a:ext cx="2552700" cy="2667000"/>
            <a:chOff x="0" y="0"/>
            <a:chExt cx="2552700" cy="2667000"/>
          </a:xfrm>
        </p:grpSpPr>
        <p:sp>
          <p:nvSpPr>
            <p:cNvPr id="218" name="Google Shape;218;h6071005e3e492218_1_104"/>
            <p:cNvSpPr/>
            <p:nvPr/>
          </p:nvSpPr>
          <p:spPr>
            <a:xfrm>
              <a:off x="0" y="0"/>
              <a:ext cx="25527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h6071005e3e492218_1_104"/>
            <p:cNvSpPr txBox="1"/>
            <p:nvPr/>
          </p:nvSpPr>
          <p:spPr>
            <a:xfrm>
              <a:off x="0" y="0"/>
              <a:ext cx="2552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555555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Result</a:t>
              </a:r>
              <a:endParaRPr b="0" sz="1300">
                <a:solidFill>
                  <a:srgbClr val="555555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Full ad account and funnel stabilization achieved within </a:t>
              </a:r>
              <a:r>
                <a:rPr b="1" lang="en-US" sz="1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10 days</a:t>
              </a:r>
              <a:r>
                <a:rPr lang="en-US" sz="1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post-launch of the fresh creative assets.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Slashed the bloated Cost Per Purchase back down from </a:t>
              </a:r>
              <a:r>
                <a:rPr b="1" lang="en-US" sz="1000">
                  <a:solidFill>
                    <a:srgbClr val="C53030"/>
                  </a:solidFill>
                  <a:latin typeface="Roboto"/>
                  <a:ea typeface="Roboto"/>
                  <a:cs typeface="Roboto"/>
                  <a:sym typeface="Roboto"/>
                </a:rPr>
                <a:t>$150.00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to an optimized </a:t>
              </a:r>
              <a:r>
                <a:rPr b="1" lang="en-US" sz="1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$72.00 (-34.5%)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. 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Successfully rebuilt the Sales Conversion Rate (SCR) from </a:t>
              </a:r>
              <a:r>
                <a:rPr b="1" lang="en-US" sz="1000">
                  <a:solidFill>
                    <a:srgbClr val="C53030"/>
                  </a:solidFill>
                  <a:latin typeface="Roboto"/>
                  <a:ea typeface="Roboto"/>
                  <a:cs typeface="Roboto"/>
                  <a:sym typeface="Roboto"/>
                </a:rPr>
                <a:t>1.2%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to a highly efficient </a:t>
              </a:r>
              <a:r>
                <a:rPr b="1" lang="en-US" sz="1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1.8% (+50.0% lift)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. 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555555"/>
                </a:buClr>
                <a:buSzPts val="1000"/>
                <a:buFont typeface="Roboto"/>
                <a:buChar char="●"/>
              </a:pP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Sustained aggressive daily budgets of </a:t>
              </a:r>
              <a:r>
                <a:rPr b="1"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$10,000+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while locking back in a highly secure, stable </a:t>
              </a:r>
              <a:r>
                <a:rPr b="1" lang="en-US" sz="1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1.5X ROAS</a:t>
              </a:r>
              <a:r>
                <a:rPr lang="en-US" sz="10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 mirroring our best operational days. </a:t>
              </a:r>
              <a:endParaRPr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0" name="Google Shape;220;h6071005e3e492218_1_104"/>
          <p:cNvGrpSpPr/>
          <p:nvPr/>
        </p:nvGrpSpPr>
        <p:grpSpPr>
          <a:xfrm>
            <a:off x="495300" y="4667250"/>
            <a:ext cx="8153400" cy="345925"/>
            <a:chOff x="0" y="0"/>
            <a:chExt cx="8153400" cy="536400"/>
          </a:xfrm>
        </p:grpSpPr>
        <p:sp>
          <p:nvSpPr>
            <p:cNvPr id="221" name="Google Shape;221;h6071005e3e492218_1_104"/>
            <p:cNvSpPr/>
            <p:nvPr/>
          </p:nvSpPr>
          <p:spPr>
            <a:xfrm>
              <a:off x="0" y="0"/>
              <a:ext cx="81534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h6071005e3e492218_1_104"/>
            <p:cNvSpPr txBox="1"/>
            <p:nvPr/>
          </p:nvSpPr>
          <p:spPr>
            <a:xfrm>
              <a:off x="0" y="0"/>
              <a:ext cx="81534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95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Continuous hook testing</a:t>
              </a:r>
              <a:r>
                <a:rPr i="1" lang="en-US" sz="95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,</a:t>
              </a:r>
              <a:r>
                <a:rPr b="0" i="1" lang="en-US" sz="95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i="1" lang="en-US" sz="95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top demographic testing and top products scaling</a:t>
              </a:r>
              <a:r>
                <a:rPr b="0" i="1" lang="en-US" sz="95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prevents creative fatigue and protects unit economics while scaling paid acquisition.</a:t>
              </a:r>
              <a:endParaRPr b="0" i="1" sz="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3" name="Google Shape;223;h6071005e3e492218_1_104"/>
          <p:cNvSpPr/>
          <p:nvPr/>
        </p:nvSpPr>
        <p:spPr>
          <a:xfrm>
            <a:off x="8023225" y="4872825"/>
            <a:ext cx="1120800" cy="2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496119" y="436215"/>
            <a:ext cx="8151763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50"/>
              <a:buFont typeface="Raleway"/>
              <a:buNone/>
            </a:pPr>
            <a:r>
              <a:rPr b="0" i="0" lang="en-US" sz="2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Funnel &amp; Conversion Architecture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35075"/>
            <a:ext cx="5190753" cy="283644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/>
          <p:nvPr/>
        </p:nvSpPr>
        <p:spPr>
          <a:xfrm>
            <a:off x="1180600" y="2764116"/>
            <a:ext cx="1202742" cy="16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Meta 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217727" y="2663842"/>
            <a:ext cx="1202742" cy="32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Pre-sell / Advertorial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2734073" y="2751570"/>
            <a:ext cx="1202742" cy="163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Sales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999708" y="1111821"/>
            <a:ext cx="2652861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Every Stage Was a Lever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999708" y="1421532"/>
            <a:ext cx="2652861" cy="57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Each layer of the funnel was continuously tested and optimized for conversion efficiency — not just the ad creative at the top.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999708" y="2095574"/>
            <a:ext cx="2652861" cy="1836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500">
            <a:normAutofit/>
          </a:bodyPr>
          <a:lstStyle/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Pre-sell / Advertorial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Warmed cold traffic and established credibility before the offer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Sales Page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Tested headline variants, proof elements, and offer framing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Checkout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Reduced friction and abandoned cart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Upsell / Backend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Maximized AOV and customer lifetime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999708" y="4033168"/>
            <a:ext cx="2652861" cy="57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1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Generic representation of the acquisition architecture; actual client funnel architecture is not disclosed.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496119" y="409947"/>
            <a:ext cx="8151763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600"/>
              <a:buFont typeface="Raleway"/>
              <a:buNone/>
            </a:pPr>
            <a:r>
              <a:rPr b="0" i="0" lang="en-US" sz="2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Daily Optimization Loop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96119" y="1074390"/>
            <a:ext cx="8608963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Campaigns were reviewed </a:t>
            </a:r>
            <a:r>
              <a:rPr b="1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4–5× daily</a:t>
            </a: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to maintain performance and identify scaling opportunities: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20490"/>
            <a:ext cx="2717229" cy="53161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629022" y="2076673"/>
            <a:ext cx="2451422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Diagnose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29022" y="2359075"/>
            <a:ext cx="2451422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Monitor spend, CPC, CPA, EPC across all active campaigns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1420490"/>
            <a:ext cx="2717229" cy="53161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3346252" y="2076673"/>
            <a:ext cx="2451422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Evaluate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346252" y="2359075"/>
            <a:ext cx="2451422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Assess creative performance, funnel conversion, cost trends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1420490"/>
            <a:ext cx="2717229" cy="53161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/>
          <p:nvPr/>
        </p:nvSpPr>
        <p:spPr>
          <a:xfrm>
            <a:off x="6063481" y="2076673"/>
            <a:ext cx="2451422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Decide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063481" y="2359075"/>
            <a:ext cx="2451422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Kill underperformers, iterate mid-performers, scale winners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903934"/>
            <a:ext cx="2717229" cy="53161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/>
          <p:nvPr/>
        </p:nvSpPr>
        <p:spPr>
          <a:xfrm>
            <a:off x="629022" y="3560118"/>
            <a:ext cx="2451422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Execute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29022" y="3842519"/>
            <a:ext cx="2451422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Adjust budgets, launch new creatives, test funnel changes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13348" y="2903934"/>
            <a:ext cx="2717229" cy="53161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/>
          <p:nvPr/>
        </p:nvSpPr>
        <p:spPr>
          <a:xfrm>
            <a:off x="3346252" y="3560118"/>
            <a:ext cx="2451422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346252" y="3842519"/>
            <a:ext cx="2451422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Verify impact, repeat throughout 24-hour operating cycle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96119" y="4527500"/>
            <a:ext cx="8608963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1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operational cadence enabled rapid scaling while maintaining acquisition efficiency.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/>
          <p:nvPr/>
        </p:nvSpPr>
        <p:spPr>
          <a:xfrm>
            <a:off x="8023225" y="4781550"/>
            <a:ext cx="1120800" cy="3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650175" y="1877949"/>
            <a:ext cx="43965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6"/>
              <a:buFont typeface="Roboto"/>
              <a:buNone/>
            </a:pPr>
            <a:r>
              <a:rPr b="0" i="0" lang="en-US" sz="90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Performance was tracked across </a:t>
            </a:r>
            <a:r>
              <a:rPr b="1" i="0" lang="en-US" sz="90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four dimensions</a:t>
            </a:r>
            <a:r>
              <a:rPr b="0" i="0" lang="en-US" sz="90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the objective was never simply to drive cheap clicks. The goal was to understand acquisition efficiency through the full revenue and backend economics of each offer.</a:t>
            </a:r>
            <a:endParaRPr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6"/>
              <a:buFont typeface="Roboto"/>
              <a:buNone/>
            </a:pPr>
            <a:r>
              <a:t/>
            </a:r>
            <a:endParaRPr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6"/>
              <a:buFont typeface="Roboto"/>
              <a:buNone/>
            </a:pPr>
            <a:r>
              <a:rPr b="1" lang="en-US" sz="90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KPI Definition:</a:t>
            </a:r>
            <a:endParaRPr b="1"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6"/>
              <a:buFont typeface="Roboto"/>
              <a:buNone/>
            </a:pPr>
            <a:r>
              <a:t/>
            </a:r>
            <a:endParaRPr b="1"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459" lvl="0" marL="50384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906"/>
              <a:buFont typeface="Roboto"/>
              <a:buChar char="●"/>
            </a:pPr>
            <a:r>
              <a:rPr lang="en-US" sz="90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ECR = E-commerce Conversion Rate </a:t>
            </a:r>
            <a:endParaRPr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459" lvl="0" marL="50384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906"/>
              <a:buFont typeface="Roboto"/>
              <a:buChar char="●"/>
            </a:pPr>
            <a:r>
              <a:rPr lang="en-US" sz="90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ACR = Abandoned Cart Rate </a:t>
            </a:r>
            <a:endParaRPr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459" lvl="0" marL="50384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906"/>
              <a:buFont typeface="Roboto"/>
              <a:buChar char="●"/>
            </a:pPr>
            <a:r>
              <a:rPr lang="en-US" sz="90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SCR = Shopping Cart Recovery Rate</a:t>
            </a:r>
            <a:endParaRPr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459" lvl="0" marL="50384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6"/>
              <a:buFont typeface="Roboto"/>
              <a:buChar char="●"/>
            </a:pPr>
            <a:r>
              <a:rPr lang="en-US" sz="90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AOV = Average Order Value</a:t>
            </a:r>
            <a:endParaRPr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459" lvl="0" marL="50384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6"/>
              <a:buFont typeface="Roboto"/>
              <a:buChar char="●"/>
            </a:pPr>
            <a:r>
              <a:rPr lang="en-US" sz="90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LTV = </a:t>
            </a:r>
            <a:r>
              <a:rPr lang="en-US" sz="90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Lifetime</a:t>
            </a:r>
            <a:r>
              <a:rPr lang="en-US" sz="90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Value</a:t>
            </a:r>
            <a:endParaRPr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6"/>
              <a:buFont typeface="Roboto"/>
              <a:buNone/>
            </a:pPr>
            <a:r>
              <a:t/>
            </a:r>
            <a:endParaRPr sz="906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KPI Framework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1" name="Google Shape;2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04255"/>
            <a:ext cx="3989412" cy="39894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4650175" y="1544149"/>
            <a:ext cx="4396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16"/>
              <a:buFont typeface="Raleway"/>
              <a:buNone/>
            </a:pPr>
            <a:r>
              <a:rPr b="0" i="0" lang="en-US" sz="1416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Beyond Cheap Clicks</a:t>
            </a:r>
            <a:endParaRPr b="0" i="0" sz="1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4773290"/>
            <a:ext cx="2011338" cy="37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0"/>
          <p:cNvSpPr/>
          <p:nvPr/>
        </p:nvSpPr>
        <p:spPr>
          <a:xfrm>
            <a:off x="614586" y="4853657"/>
            <a:ext cx="1812503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aleway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Acquisition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14586" y="4985593"/>
            <a:ext cx="1812503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CPC, CPA, CAC — cost per action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2877" y="4773290"/>
            <a:ext cx="2011412" cy="37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/>
          <p:nvPr/>
        </p:nvSpPr>
        <p:spPr>
          <a:xfrm>
            <a:off x="2661345" y="4853657"/>
            <a:ext cx="1812578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aleway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Revenue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2661345" y="4985593"/>
            <a:ext cx="1812578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EPC, AOV, Revenue — per-customer economics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9711" y="4773290"/>
            <a:ext cx="2011338" cy="37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/>
          <p:nvPr/>
        </p:nvSpPr>
        <p:spPr>
          <a:xfrm>
            <a:off x="4708178" y="4853657"/>
            <a:ext cx="1812503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aleway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Efficiency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708178" y="4985593"/>
            <a:ext cx="1812503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ROAS, ROI, ECR, SCR — return on ad spend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2" name="Google Shape;28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6469" y="4773290"/>
            <a:ext cx="2011412" cy="37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6754937" y="4853657"/>
            <a:ext cx="1812578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aleway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Customer Value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754937" y="4985593"/>
            <a:ext cx="1812578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LTV, Repeat Customers, Upsells — backend economics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0" name="Google Shape;2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/>
          <p:nvPr/>
        </p:nvSpPr>
        <p:spPr>
          <a:xfrm>
            <a:off x="496119" y="398562"/>
            <a:ext cx="4722763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This Demonstrates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96119" y="886495"/>
            <a:ext cx="4722763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Seven months of direct-response acquisition built a repeatable, scalable performance marketing operation — not just ad management.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96119" y="1312441"/>
            <a:ext cx="4722763" cy="790649"/>
          </a:xfrm>
          <a:prstGeom prst="roundRect">
            <a:avLst>
              <a:gd fmla="val 600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613842" y="1430164"/>
            <a:ext cx="4487317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Full-Funnel Ownership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13842" y="1660624"/>
            <a:ext cx="4487317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From creative strategy through backend optimization — managed every lever in the acquisition loop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96119" y="2193057"/>
            <a:ext cx="4722763" cy="790649"/>
          </a:xfrm>
          <a:prstGeom prst="roundRect">
            <a:avLst>
              <a:gd fmla="val 600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613842" y="2310780"/>
            <a:ext cx="4487317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Operational Discipline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13842" y="2541240"/>
            <a:ext cx="4487317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3C3939"/>
                </a:solidFill>
                <a:latin typeface="Calibri"/>
                <a:ea typeface="Calibri"/>
                <a:cs typeface="Calibri"/>
                <a:sym typeface="Calibri"/>
              </a:rPr>
              <a:t>4–5× </a:t>
            </a:r>
            <a:r>
              <a:rPr lang="en-US" sz="8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daily </a:t>
            </a:r>
            <a:r>
              <a:rPr lang="en-US" sz="850">
                <a:solidFill>
                  <a:srgbClr val="3C3939"/>
                </a:solidFill>
                <a:latin typeface="Calibri"/>
                <a:ea typeface="Calibri"/>
                <a:cs typeface="Calibri"/>
                <a:sym typeface="Calibri"/>
              </a:rPr>
              <a:t>reviews, systematic KPI tracking, and rapid decision cycles at ~$20K/day combined peak spend. </a:t>
            </a:r>
            <a:endParaRPr b="0" i="0" sz="850" u="none" cap="none" strike="noStrike">
              <a:solidFill>
                <a:srgbClr val="3C39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96119" y="3073673"/>
            <a:ext cx="4722763" cy="790649"/>
          </a:xfrm>
          <a:prstGeom prst="roundRect">
            <a:avLst>
              <a:gd fmla="val 600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613842" y="3191396"/>
            <a:ext cx="4487317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Creative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13842" y="3421856"/>
            <a:ext cx="4487317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Competitor intelligence, UGC scripting, and continuous iteration to maintain creative freshness at scale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96119" y="3954289"/>
            <a:ext cx="4722763" cy="790649"/>
          </a:xfrm>
          <a:prstGeom prst="roundRect">
            <a:avLst>
              <a:gd fmla="val 600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13842" y="4072012"/>
            <a:ext cx="4487317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Transferable Expertise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13842" y="4302472"/>
            <a:ext cx="4487317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Methodology, systems, and analytical rigor that translate across verticals, platforms, and offer types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496119" y="105586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Challenges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96125" y="1782378"/>
            <a:ext cx="4005000" cy="1418100"/>
          </a:xfrm>
          <a:prstGeom prst="roundRect">
            <a:avLst>
              <a:gd fmla="val 5504" name="adj"/>
            </a:avLst>
          </a:prstGeom>
          <a:solidFill>
            <a:srgbClr val="FFFFFF">
              <a:alpha val="94902"/>
            </a:srgbClr>
          </a:solidFill>
          <a:ln cap="flat" cmpd="sng" w="19050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656927" y="1943174"/>
            <a:ext cx="3683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Creative Fatigue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56925" y="2249675"/>
            <a:ext cx="3683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Continuously identify and iterate winning concepts to maintain ad performance</a:t>
            </a:r>
            <a:endParaRPr b="0" i="0" sz="1100" u="none" cap="none" strike="noStrike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Impact Metrics: </a:t>
            </a: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+36.4% CPA Surge | -20.0% Sales Conversion Drop</a:t>
            </a:r>
            <a:endParaRPr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t/>
            </a:r>
            <a:endParaRPr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t/>
            </a:r>
            <a:endParaRPr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642850" y="1782378"/>
            <a:ext cx="4005000" cy="1418100"/>
          </a:xfrm>
          <a:prstGeom prst="roundRect">
            <a:avLst>
              <a:gd fmla="val 5504" name="adj"/>
            </a:avLst>
          </a:prstGeom>
          <a:solidFill>
            <a:srgbClr val="FFFFFF">
              <a:alpha val="94902"/>
            </a:srgbClr>
          </a:solidFill>
          <a:ln cap="flat" cmpd="sng" w="19050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4803651" y="1943174"/>
            <a:ext cx="36834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Scaling Efficiency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803650" y="2249675"/>
            <a:ext cx="3683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Increase spend without allowing acquisition costs to deteriorate</a:t>
            </a:r>
            <a:endParaRPr b="0" i="0" sz="1100" u="none" cap="none" strike="noStrike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Impact Metrics: </a:t>
            </a: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$10,000+/day Ad Spend | Target 1.5x ROAS</a:t>
            </a:r>
            <a:endParaRPr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96125" y="3454100"/>
            <a:ext cx="4005000" cy="1418100"/>
          </a:xfrm>
          <a:prstGeom prst="roundRect">
            <a:avLst>
              <a:gd fmla="val 5504" name="adj"/>
            </a:avLst>
          </a:prstGeom>
          <a:solidFill>
            <a:srgbClr val="FFFFFF">
              <a:alpha val="94902"/>
            </a:srgbClr>
          </a:solidFill>
          <a:ln cap="flat" cmpd="sng" w="19050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656952" y="3614940"/>
            <a:ext cx="3683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Competitive Markets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642875" y="3454125"/>
            <a:ext cx="4005000" cy="1418100"/>
          </a:xfrm>
          <a:prstGeom prst="roundRect">
            <a:avLst>
              <a:gd fmla="val 5504" name="adj"/>
            </a:avLst>
          </a:prstGeom>
          <a:solidFill>
            <a:srgbClr val="FFFFFF">
              <a:alpha val="94902"/>
            </a:srgbClr>
          </a:solidFill>
          <a:ln cap="flat" cmpd="sng" w="19050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4803676" y="3614940"/>
            <a:ext cx="3683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Operational Speed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803675" y="3921450"/>
            <a:ext cx="3683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Coordinate media buying, creative production, and funnel optimization on a daily cycle</a:t>
            </a:r>
            <a:endParaRPr b="0" i="0" sz="1100" u="none" cap="none" strike="noStrike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Impact Metrics: </a:t>
            </a: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48-Hour Creative Refresh Cycle</a:t>
            </a:r>
            <a:endParaRPr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56950" y="3921450"/>
            <a:ext cx="3683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Compete in saturated </a:t>
            </a: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Fatty Acids</a:t>
            </a: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Vitamins Market</a:t>
            </a:r>
            <a:endParaRPr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Impact Metrics: </a:t>
            </a: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+50.0% Funnel Efficiency Lift (Post-Refresh)</a:t>
            </a:r>
            <a:endParaRPr sz="11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023225" y="4886800"/>
            <a:ext cx="1120800" cy="25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8618850" y="4872200"/>
            <a:ext cx="482400" cy="18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8600050" y="4880025"/>
            <a:ext cx="449700" cy="17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"/>
          <p:cNvSpPr/>
          <p:nvPr/>
        </p:nvSpPr>
        <p:spPr>
          <a:xfrm>
            <a:off x="496119" y="1101849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I Can Do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96119" y="1828354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From launching campaigns to operating the entire acquisition loop.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96119" y="2214637"/>
            <a:ext cx="4004965" cy="514499"/>
          </a:xfrm>
          <a:prstGeom prst="roundRect">
            <a:avLst>
              <a:gd fmla="val 1157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642640" y="2361158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Media Buying &amp; Campaign Management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642842" y="2214637"/>
            <a:ext cx="4005039" cy="514499"/>
          </a:xfrm>
          <a:prstGeom prst="roundRect">
            <a:avLst>
              <a:gd fmla="val 1157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789363" y="2361158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Creative Strategy &amp; UGC Direction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96119" y="2870895"/>
            <a:ext cx="4004965" cy="514499"/>
          </a:xfrm>
          <a:prstGeom prst="roundRect">
            <a:avLst>
              <a:gd fmla="val 1157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642640" y="3017416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Funnel Optimization &amp; Testing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642842" y="2870895"/>
            <a:ext cx="4005039" cy="514499"/>
          </a:xfrm>
          <a:prstGeom prst="roundRect">
            <a:avLst>
              <a:gd fmla="val 1157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789363" y="3017416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Performance Analytics &amp; Reporting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96119" y="3527152"/>
            <a:ext cx="4004965" cy="514499"/>
          </a:xfrm>
          <a:prstGeom prst="roundRect">
            <a:avLst>
              <a:gd fmla="val 1157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642640" y="3673673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Direct-Response Marketing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642842" y="3527152"/>
            <a:ext cx="4005039" cy="514499"/>
          </a:xfrm>
          <a:prstGeom prst="roundRect">
            <a:avLst>
              <a:gd fmla="val 1157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4789363" y="3673673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Campaign Scaling &amp; Budget Allocation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530100" y="4076375"/>
            <a:ext cx="81177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Open to media buying and performance marketing roles / contracts</a:t>
            </a:r>
            <a:endParaRPr i="1" sz="10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LinkedIn - Let's Connect</a:t>
            </a:r>
            <a:r>
              <a:rPr i="1" lang="en-US"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1" sz="10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8023225" y="4751700"/>
            <a:ext cx="11208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/>
          <p:nvPr/>
        </p:nvSpPr>
        <p:spPr>
          <a:xfrm>
            <a:off x="496119" y="167513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Confidentiality Notice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96119" y="2401639"/>
            <a:ext cx="8151763" cy="1066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case study has been intentionally anonymized. Client identities, proprietary creative assets, internal documents, account credentials, domains, complete financial records, and other confidential materials have been excluded.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Performance figures shown are limited to historical snapshots that I am permitted to reference and should not be interpreted as complete seven-month financial results.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8023225" y="4751700"/>
            <a:ext cx="11208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2026-08-13T20:33:28Z</dcterms:created>
</cp:coreProperties>
</file>