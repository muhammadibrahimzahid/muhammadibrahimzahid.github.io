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5143500" cy="9144000"/>
  <p:embeddedFontLst>
    <p:embeddedFont>
      <p:font typeface="Raleway"/>
      <p:regular r:id="rId22"/>
      <p:bold r:id="rId23"/>
      <p:italic r:id="rId24"/>
      <p:boldItalic r:id="rId25"/>
    </p:embeddedFont>
    <p:embeddedFont>
      <p:font typeface="Roboto"/>
      <p:regular r:id="rId26"/>
      <p:bold r:id="rId27"/>
      <p:italic r:id="rId28"/>
      <p:boldItalic r:id="rId29"/>
    </p:embeddedFont>
    <p:embeddedFont>
      <p:font typeface="Raleway Ligh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H/MCgyMR8Q2XNcBYY6HeFhs0L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aleway-regular.fntdata"/><Relationship Id="rId21" Type="http://schemas.openxmlformats.org/officeDocument/2006/relationships/slide" Target="slides/slide17.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font" Target="fonts/Raleway-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lewayLight-bold.fntdata"/><Relationship Id="rId30" Type="http://schemas.openxmlformats.org/officeDocument/2006/relationships/font" Target="fonts/RalewayLight-regular.fntdata"/><Relationship Id="rId11" Type="http://schemas.openxmlformats.org/officeDocument/2006/relationships/slide" Target="slides/slide7.xml"/><Relationship Id="rId33" Type="http://schemas.openxmlformats.org/officeDocument/2006/relationships/font" Target="fonts/RalewayLight-boldItalic.fntdata"/><Relationship Id="rId10" Type="http://schemas.openxmlformats.org/officeDocument/2006/relationships/slide" Target="slides/slide6.xml"/><Relationship Id="rId32" Type="http://schemas.openxmlformats.org/officeDocument/2006/relationships/font" Target="fonts/RalewayLight-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70509ea7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g3f70509ea79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3f70509ea79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70509ea79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70509ea79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g3f70509ea79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70509ea79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f70509ea79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g3f70509ea79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70509ea79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f70509ea79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f70509ea79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70509ea79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f70509ea79_1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3f70509ea79_1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f70509ea79_1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f70509ea79_1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g3f70509ea79_1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spTree>
      <p:nvGrpSpPr>
        <p:cNvPr id="10" name="Shape 10"/>
        <p:cNvGrpSpPr/>
        <p:nvPr/>
      </p:nvGrpSpPr>
      <p:grpSpPr>
        <a:xfrm>
          <a:off x="0" y="0"/>
          <a:ext cx="0" cy="0"/>
          <a:chOff x="0" y="0"/>
          <a:chExt cx="0" cy="0"/>
        </a:xfrm>
      </p:grpSpPr>
      <p:sp>
        <p:nvSpPr>
          <p:cNvPr id="11" name="Google Shape;11;p13"/>
          <p:cNvSpPr/>
          <p:nvPr/>
        </p:nvSpPr>
        <p:spPr>
          <a:xfrm>
            <a:off x="0" y="0"/>
            <a:ext cx="9144000" cy="5143500"/>
          </a:xfrm>
          <a:prstGeom prst="rect">
            <a:avLst/>
          </a:prstGeom>
          <a:solidFill>
            <a:srgbClr val="ECEC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3"/>
          <p:cNvSpPr/>
          <p:nvPr/>
        </p:nvSpPr>
        <p:spPr>
          <a:xfrm>
            <a:off x="0" y="0"/>
            <a:ext cx="9144000" cy="5143500"/>
          </a:xfrm>
          <a:prstGeom prst="rect">
            <a:avLst/>
          </a:prstGeom>
          <a:solidFill>
            <a:srgbClr val="FFFFFF">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3">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7.jp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8.jpg"/><Relationship Id="rId5" Type="http://schemas.openxmlformats.org/officeDocument/2006/relationships/image" Target="../media/image12.jp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0.jp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1.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jp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3.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4.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preencoded.png" id="20" name="Google Shape;20;p1"/>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21" name="Google Shape;21;p1"/>
          <p:cNvSpPr/>
          <p:nvPr/>
        </p:nvSpPr>
        <p:spPr>
          <a:xfrm>
            <a:off x="3925119" y="1715914"/>
            <a:ext cx="4722763" cy="885974"/>
          </a:xfrm>
          <a:prstGeom prst="rect">
            <a:avLst/>
          </a:prstGeom>
          <a:noFill/>
          <a:ln>
            <a:noFill/>
          </a:ln>
        </p:spPr>
        <p:txBody>
          <a:bodyPr anchorCtr="0" anchor="t" bIns="0" lIns="0" spcFirstLastPara="1" rIns="0" wrap="square" tIns="0">
            <a:norm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Lead Generation Media Buying Case Study</a:t>
            </a:r>
            <a:endParaRPr b="0" i="0" sz="2750" u="none" cap="none" strike="noStrike">
              <a:solidFill>
                <a:schemeClr val="dk1"/>
              </a:solidFill>
              <a:latin typeface="Calibri"/>
              <a:ea typeface="Calibri"/>
              <a:cs typeface="Calibri"/>
              <a:sym typeface="Calibri"/>
            </a:endParaRPr>
          </a:p>
        </p:txBody>
      </p:sp>
      <p:sp>
        <p:nvSpPr>
          <p:cNvPr id="22" name="Google Shape;22;p1"/>
          <p:cNvSpPr/>
          <p:nvPr/>
        </p:nvSpPr>
        <p:spPr>
          <a:xfrm>
            <a:off x="3925119" y="2814489"/>
            <a:ext cx="4722763" cy="61309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Spanish &amp; English Debt Relief</a:t>
            </a:r>
            <a:endParaRPr b="0" i="0" sz="1100" u="none" cap="none" strike="noStrike">
              <a:solidFill>
                <a:schemeClr val="dk1"/>
              </a:solidFill>
              <a:latin typeface="Calibri"/>
              <a:ea typeface="Calibri"/>
              <a:cs typeface="Calibri"/>
              <a:sym typeface="Calibri"/>
            </a:endParaRPr>
          </a:p>
          <a:p>
            <a:pPr indent="0" lvl="0" marL="0" marR="0" rtl="0" algn="l">
              <a:lnSpc>
                <a:spcPct val="133000"/>
              </a:lnSpc>
              <a:spcBef>
                <a:spcPts val="1250"/>
              </a:spcBef>
              <a:spcAft>
                <a:spcPts val="0"/>
              </a:spcAft>
              <a:buClr>
                <a:srgbClr val="3C3939"/>
              </a:buClr>
              <a:buSzPts val="1100"/>
              <a:buFont typeface="Roboto"/>
              <a:buNone/>
            </a:pPr>
            <a:r>
              <a:rPr b="0" i="1" lang="en-US" sz="1100" u="none" cap="none" strike="noStrike">
                <a:solidFill>
                  <a:srgbClr val="3C3939"/>
                </a:solidFill>
                <a:latin typeface="Roboto"/>
                <a:ea typeface="Roboto"/>
                <a:cs typeface="Roboto"/>
                <a:sym typeface="Roboto"/>
              </a:rPr>
              <a:t>From $2K/day acquisition to $10K+/day scale</a:t>
            </a:r>
            <a:endParaRPr b="0" i="0" sz="1100" u="none" cap="none" strike="noStrike">
              <a:solidFill>
                <a:schemeClr val="dk1"/>
              </a:solidFill>
              <a:latin typeface="Calibri"/>
              <a:ea typeface="Calibri"/>
              <a:cs typeface="Calibri"/>
              <a:sym typeface="Calibri"/>
            </a:endParaRPr>
          </a:p>
        </p:txBody>
      </p:sp>
      <p:sp>
        <p:nvSpPr>
          <p:cNvPr id="23" name="Google Shape;23;p1"/>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2"/>
          <p:cNvSpPr/>
          <p:nvPr/>
        </p:nvSpPr>
        <p:spPr>
          <a:xfrm>
            <a:off x="496119" y="411435"/>
            <a:ext cx="8151763" cy="41530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600"/>
              <a:buFont typeface="Raleway"/>
              <a:buNone/>
            </a:pPr>
            <a:r>
              <a:rPr b="0" i="0" lang="en-US" sz="2600" u="none" cap="none" strike="noStrike">
                <a:solidFill>
                  <a:srgbClr val="1B1B27"/>
                </a:solidFill>
                <a:latin typeface="Raleway"/>
                <a:ea typeface="Raleway"/>
                <a:cs typeface="Raleway"/>
                <a:sym typeface="Raleway"/>
              </a:rPr>
              <a:t>2-Year Acquisition Performance</a:t>
            </a:r>
            <a:endParaRPr b="0" i="0" sz="2600" u="none" cap="none" strike="noStrike">
              <a:solidFill>
                <a:schemeClr val="dk1"/>
              </a:solidFill>
              <a:latin typeface="Calibri"/>
              <a:ea typeface="Calibri"/>
              <a:cs typeface="Calibri"/>
              <a:sym typeface="Calibri"/>
            </a:endParaRPr>
          </a:p>
        </p:txBody>
      </p:sp>
      <p:sp>
        <p:nvSpPr>
          <p:cNvPr id="30" name="Google Shape;30;p2"/>
          <p:cNvSpPr/>
          <p:nvPr/>
        </p:nvSpPr>
        <p:spPr>
          <a:xfrm>
            <a:off x="496119" y="1142330"/>
            <a:ext cx="3997970" cy="438596"/>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5CC97B"/>
              </a:buClr>
              <a:buSzPts val="3450"/>
              <a:buFont typeface="Raleway"/>
              <a:buNone/>
            </a:pPr>
            <a:r>
              <a:rPr b="0" i="0" lang="en-US" sz="3450" u="none" cap="none" strike="noStrike">
                <a:solidFill>
                  <a:srgbClr val="5CC97B"/>
                </a:solidFill>
                <a:latin typeface="Raleway"/>
                <a:ea typeface="Raleway"/>
                <a:cs typeface="Raleway"/>
                <a:sym typeface="Raleway"/>
              </a:rPr>
              <a:t>$5.4M+</a:t>
            </a:r>
            <a:endParaRPr b="0" i="0" sz="3450" u="none" cap="none" strike="noStrike">
              <a:solidFill>
                <a:schemeClr val="dk1"/>
              </a:solidFill>
              <a:latin typeface="Calibri"/>
              <a:ea typeface="Calibri"/>
              <a:cs typeface="Calibri"/>
              <a:sym typeface="Calibri"/>
            </a:endParaRPr>
          </a:p>
        </p:txBody>
      </p:sp>
      <p:sp>
        <p:nvSpPr>
          <p:cNvPr id="31" name="Google Shape;31;p2"/>
          <p:cNvSpPr/>
          <p:nvPr/>
        </p:nvSpPr>
        <p:spPr>
          <a:xfrm>
            <a:off x="496119" y="1740768"/>
            <a:ext cx="3997970" cy="20769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1300"/>
              <a:buFont typeface="Raleway"/>
              <a:buNone/>
            </a:pPr>
            <a:r>
              <a:rPr b="0" i="0" lang="en-US" sz="1300" u="none" cap="none" strike="noStrike">
                <a:solidFill>
                  <a:srgbClr val="3C3939"/>
                </a:solidFill>
                <a:latin typeface="Raleway"/>
                <a:ea typeface="Raleway"/>
                <a:cs typeface="Raleway"/>
                <a:sym typeface="Raleway"/>
              </a:rPr>
              <a:t>Revenue Generated</a:t>
            </a:r>
            <a:endParaRPr b="0" i="0" sz="1300" u="none" cap="none" strike="noStrike">
              <a:solidFill>
                <a:schemeClr val="dk1"/>
              </a:solidFill>
              <a:latin typeface="Calibri"/>
              <a:ea typeface="Calibri"/>
              <a:cs typeface="Calibri"/>
              <a:sym typeface="Calibri"/>
            </a:endParaRPr>
          </a:p>
        </p:txBody>
      </p:sp>
      <p:sp>
        <p:nvSpPr>
          <p:cNvPr id="32" name="Google Shape;32;p2"/>
          <p:cNvSpPr/>
          <p:nvPr/>
        </p:nvSpPr>
        <p:spPr>
          <a:xfrm>
            <a:off x="4649837" y="1142330"/>
            <a:ext cx="3998044" cy="438596"/>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C3939"/>
              </a:buClr>
              <a:buSzPts val="3450"/>
              <a:buFont typeface="Raleway"/>
              <a:buNone/>
            </a:pPr>
            <a:r>
              <a:rPr b="0" i="0" lang="en-US" sz="3450" u="none" cap="none" strike="noStrike">
                <a:solidFill>
                  <a:srgbClr val="3C3939"/>
                </a:solidFill>
                <a:latin typeface="Raleway"/>
                <a:ea typeface="Raleway"/>
                <a:cs typeface="Raleway"/>
                <a:sym typeface="Raleway"/>
              </a:rPr>
              <a:t>$3.7M+</a:t>
            </a:r>
            <a:endParaRPr b="0" i="0" sz="3450" u="none" cap="none" strike="noStrike">
              <a:solidFill>
                <a:schemeClr val="dk1"/>
              </a:solidFill>
              <a:latin typeface="Calibri"/>
              <a:ea typeface="Calibri"/>
              <a:cs typeface="Calibri"/>
              <a:sym typeface="Calibri"/>
            </a:endParaRPr>
          </a:p>
        </p:txBody>
      </p:sp>
      <p:sp>
        <p:nvSpPr>
          <p:cNvPr id="33" name="Google Shape;33;p2"/>
          <p:cNvSpPr/>
          <p:nvPr/>
        </p:nvSpPr>
        <p:spPr>
          <a:xfrm>
            <a:off x="4649837" y="1740768"/>
            <a:ext cx="3998044" cy="20769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1300"/>
              <a:buFont typeface="Raleway"/>
              <a:buNone/>
            </a:pPr>
            <a:r>
              <a:rPr b="0" i="0" lang="en-US" sz="1300" u="none" cap="none" strike="noStrike">
                <a:solidFill>
                  <a:srgbClr val="3C3939"/>
                </a:solidFill>
                <a:latin typeface="Raleway"/>
                <a:ea typeface="Raleway"/>
                <a:cs typeface="Raleway"/>
                <a:sym typeface="Raleway"/>
              </a:rPr>
              <a:t>Media Spend</a:t>
            </a:r>
            <a:endParaRPr b="0" i="0" sz="1300" u="none" cap="none" strike="noStrike">
              <a:solidFill>
                <a:schemeClr val="dk1"/>
              </a:solidFill>
              <a:latin typeface="Calibri"/>
              <a:ea typeface="Calibri"/>
              <a:cs typeface="Calibri"/>
              <a:sym typeface="Calibri"/>
            </a:endParaRPr>
          </a:p>
        </p:txBody>
      </p:sp>
      <p:sp>
        <p:nvSpPr>
          <p:cNvPr id="34" name="Google Shape;34;p2"/>
          <p:cNvSpPr/>
          <p:nvPr/>
        </p:nvSpPr>
        <p:spPr>
          <a:xfrm>
            <a:off x="496119" y="2264048"/>
            <a:ext cx="3997970" cy="438596"/>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C3939"/>
              </a:buClr>
              <a:buSzPts val="3450"/>
              <a:buFont typeface="Raleway"/>
              <a:buNone/>
            </a:pPr>
            <a:r>
              <a:rPr b="0" i="0" lang="en-US" sz="3450" u="none" cap="none" strike="noStrike">
                <a:solidFill>
                  <a:srgbClr val="3C3939"/>
                </a:solidFill>
                <a:latin typeface="Raleway"/>
                <a:ea typeface="Raleway"/>
                <a:cs typeface="Raleway"/>
                <a:sym typeface="Raleway"/>
              </a:rPr>
              <a:t>935K+</a:t>
            </a:r>
            <a:endParaRPr b="0" i="0" sz="3450" u="none" cap="none" strike="noStrike">
              <a:solidFill>
                <a:schemeClr val="dk1"/>
              </a:solidFill>
              <a:latin typeface="Calibri"/>
              <a:ea typeface="Calibri"/>
              <a:cs typeface="Calibri"/>
              <a:sym typeface="Calibri"/>
            </a:endParaRPr>
          </a:p>
        </p:txBody>
      </p:sp>
      <p:sp>
        <p:nvSpPr>
          <p:cNvPr id="35" name="Google Shape;35;p2"/>
          <p:cNvSpPr/>
          <p:nvPr/>
        </p:nvSpPr>
        <p:spPr>
          <a:xfrm>
            <a:off x="496119" y="2862486"/>
            <a:ext cx="3997970" cy="20769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1300"/>
              <a:buFont typeface="Raleway"/>
              <a:buNone/>
            </a:pPr>
            <a:r>
              <a:rPr b="0" i="0" lang="en-US" sz="1300" u="none" cap="none" strike="noStrike">
                <a:solidFill>
                  <a:srgbClr val="3C3939"/>
                </a:solidFill>
                <a:latin typeface="Raleway"/>
                <a:ea typeface="Raleway"/>
                <a:cs typeface="Raleway"/>
                <a:sym typeface="Raleway"/>
              </a:rPr>
              <a:t>Calls Generated</a:t>
            </a:r>
            <a:endParaRPr b="0" i="0" sz="1300" u="none" cap="none" strike="noStrike">
              <a:solidFill>
                <a:schemeClr val="dk1"/>
              </a:solidFill>
              <a:latin typeface="Calibri"/>
              <a:ea typeface="Calibri"/>
              <a:cs typeface="Calibri"/>
              <a:sym typeface="Calibri"/>
            </a:endParaRPr>
          </a:p>
        </p:txBody>
      </p:sp>
      <p:sp>
        <p:nvSpPr>
          <p:cNvPr id="36" name="Google Shape;36;p2"/>
          <p:cNvSpPr/>
          <p:nvPr/>
        </p:nvSpPr>
        <p:spPr>
          <a:xfrm>
            <a:off x="4649837" y="2264048"/>
            <a:ext cx="3998044" cy="438596"/>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C3939"/>
              </a:buClr>
              <a:buSzPts val="3450"/>
              <a:buFont typeface="Raleway"/>
              <a:buNone/>
            </a:pPr>
            <a:r>
              <a:rPr b="0" i="0" lang="en-US" sz="3450" u="none" cap="none" strike="noStrike">
                <a:solidFill>
                  <a:srgbClr val="3C3939"/>
                </a:solidFill>
                <a:latin typeface="Raleway"/>
                <a:ea typeface="Raleway"/>
                <a:cs typeface="Raleway"/>
                <a:sym typeface="Raleway"/>
              </a:rPr>
              <a:t>272K+</a:t>
            </a:r>
            <a:endParaRPr b="0" i="0" sz="3450" u="none" cap="none" strike="noStrike">
              <a:solidFill>
                <a:schemeClr val="dk1"/>
              </a:solidFill>
              <a:latin typeface="Calibri"/>
              <a:ea typeface="Calibri"/>
              <a:cs typeface="Calibri"/>
              <a:sym typeface="Calibri"/>
            </a:endParaRPr>
          </a:p>
        </p:txBody>
      </p:sp>
      <p:sp>
        <p:nvSpPr>
          <p:cNvPr id="37" name="Google Shape;37;p2"/>
          <p:cNvSpPr/>
          <p:nvPr/>
        </p:nvSpPr>
        <p:spPr>
          <a:xfrm>
            <a:off x="4649837" y="2862486"/>
            <a:ext cx="3998044" cy="20769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1300"/>
              <a:buFont typeface="Raleway"/>
              <a:buNone/>
            </a:pPr>
            <a:r>
              <a:rPr b="0" i="0" lang="en-US" sz="1300" u="none" cap="none" strike="noStrike">
                <a:solidFill>
                  <a:srgbClr val="3C3939"/>
                </a:solidFill>
                <a:latin typeface="Raleway"/>
                <a:ea typeface="Raleway"/>
                <a:cs typeface="Raleway"/>
                <a:sym typeface="Raleway"/>
              </a:rPr>
              <a:t>Monetized Qualified Calls</a:t>
            </a:r>
            <a:endParaRPr b="0" i="0" sz="1300" u="none" cap="none" strike="noStrike">
              <a:solidFill>
                <a:schemeClr val="dk1"/>
              </a:solidFill>
              <a:latin typeface="Calibri"/>
              <a:ea typeface="Calibri"/>
              <a:cs typeface="Calibri"/>
              <a:sym typeface="Calibri"/>
            </a:endParaRPr>
          </a:p>
        </p:txBody>
      </p:sp>
      <p:sp>
        <p:nvSpPr>
          <p:cNvPr id="38" name="Google Shape;38;p2"/>
          <p:cNvSpPr/>
          <p:nvPr/>
        </p:nvSpPr>
        <p:spPr>
          <a:xfrm>
            <a:off x="496119" y="3210297"/>
            <a:ext cx="2634183" cy="969690"/>
          </a:xfrm>
          <a:prstGeom prst="roundRect">
            <a:avLst>
              <a:gd fmla="val 5757"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633785" y="3347963"/>
            <a:ext cx="2358851" cy="2076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00"/>
              <a:buFont typeface="Raleway"/>
              <a:buNone/>
            </a:pPr>
            <a:r>
              <a:rPr b="0" i="0" lang="en-US" sz="1300" u="none" cap="none" strike="noStrike">
                <a:solidFill>
                  <a:srgbClr val="3C3939"/>
                </a:solidFill>
                <a:latin typeface="Raleway"/>
                <a:ea typeface="Raleway"/>
                <a:cs typeface="Raleway"/>
                <a:sym typeface="Raleway"/>
              </a:rPr>
              <a:t>Platforms</a:t>
            </a:r>
            <a:endParaRPr b="0" i="0" sz="1300" u="none" cap="none" strike="noStrike">
              <a:solidFill>
                <a:schemeClr val="dk1"/>
              </a:solidFill>
              <a:latin typeface="Calibri"/>
              <a:ea typeface="Calibri"/>
              <a:cs typeface="Calibri"/>
              <a:sym typeface="Calibri"/>
            </a:endParaRPr>
          </a:p>
        </p:txBody>
      </p:sp>
      <p:sp>
        <p:nvSpPr>
          <p:cNvPr id="40" name="Google Shape;40;p2"/>
          <p:cNvSpPr/>
          <p:nvPr/>
        </p:nvSpPr>
        <p:spPr>
          <a:xfrm>
            <a:off x="633785" y="3630364"/>
            <a:ext cx="2358851" cy="20597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3C3939"/>
              </a:buClr>
              <a:buSzPts val="1000"/>
              <a:buFont typeface="Roboto"/>
              <a:buNone/>
            </a:pPr>
            <a:r>
              <a:rPr b="0" i="0" lang="en-US" sz="1000" u="none" cap="none" strike="noStrike">
                <a:solidFill>
                  <a:srgbClr val="3C3939"/>
                </a:solidFill>
                <a:latin typeface="Roboto"/>
                <a:ea typeface="Roboto"/>
                <a:cs typeface="Roboto"/>
                <a:sym typeface="Roboto"/>
              </a:rPr>
              <a:t>Google · Meta · TikTok</a:t>
            </a:r>
            <a:endParaRPr b="0" i="0" sz="1000" u="none" cap="none" strike="noStrike">
              <a:solidFill>
                <a:schemeClr val="dk1"/>
              </a:solidFill>
              <a:latin typeface="Calibri"/>
              <a:ea typeface="Calibri"/>
              <a:cs typeface="Calibri"/>
              <a:sym typeface="Calibri"/>
            </a:endParaRPr>
          </a:p>
        </p:txBody>
      </p:sp>
      <p:sp>
        <p:nvSpPr>
          <p:cNvPr id="41" name="Google Shape;41;p2"/>
          <p:cNvSpPr/>
          <p:nvPr/>
        </p:nvSpPr>
        <p:spPr>
          <a:xfrm>
            <a:off x="3254871" y="3210297"/>
            <a:ext cx="2634183" cy="969690"/>
          </a:xfrm>
          <a:prstGeom prst="roundRect">
            <a:avLst>
              <a:gd fmla="val 5757"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392537" y="3347963"/>
            <a:ext cx="2358851" cy="2076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00"/>
              <a:buFont typeface="Raleway"/>
              <a:buNone/>
            </a:pPr>
            <a:r>
              <a:rPr b="0" i="0" lang="en-US" sz="1300" u="none" cap="none" strike="noStrike">
                <a:solidFill>
                  <a:srgbClr val="3C3939"/>
                </a:solidFill>
                <a:latin typeface="Raleway"/>
                <a:ea typeface="Raleway"/>
                <a:cs typeface="Raleway"/>
                <a:sym typeface="Raleway"/>
              </a:rPr>
              <a:t>Market</a:t>
            </a:r>
            <a:endParaRPr b="0" i="0" sz="1300" u="none" cap="none" strike="noStrike">
              <a:solidFill>
                <a:schemeClr val="dk1"/>
              </a:solidFill>
              <a:latin typeface="Calibri"/>
              <a:ea typeface="Calibri"/>
              <a:cs typeface="Calibri"/>
              <a:sym typeface="Calibri"/>
            </a:endParaRPr>
          </a:p>
        </p:txBody>
      </p:sp>
      <p:sp>
        <p:nvSpPr>
          <p:cNvPr id="43" name="Google Shape;43;p2"/>
          <p:cNvSpPr/>
          <p:nvPr/>
        </p:nvSpPr>
        <p:spPr>
          <a:xfrm>
            <a:off x="3392537" y="3630364"/>
            <a:ext cx="2358851" cy="20597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3C3939"/>
              </a:buClr>
              <a:buSzPts val="1000"/>
              <a:buFont typeface="Roboto"/>
              <a:buNone/>
            </a:pPr>
            <a:r>
              <a:rPr b="0" i="0" lang="en-US" sz="1000" u="none" cap="none" strike="noStrike">
                <a:solidFill>
                  <a:srgbClr val="3C3939"/>
                </a:solidFill>
                <a:latin typeface="Roboto"/>
                <a:ea typeface="Roboto"/>
                <a:cs typeface="Roboto"/>
                <a:sym typeface="Roboto"/>
              </a:rPr>
              <a:t>United States · Nationwide</a:t>
            </a:r>
            <a:endParaRPr b="0" i="0" sz="1000" u="none" cap="none" strike="noStrike">
              <a:solidFill>
                <a:schemeClr val="dk1"/>
              </a:solidFill>
              <a:latin typeface="Calibri"/>
              <a:ea typeface="Calibri"/>
              <a:cs typeface="Calibri"/>
              <a:sym typeface="Calibri"/>
            </a:endParaRPr>
          </a:p>
        </p:txBody>
      </p:sp>
      <p:sp>
        <p:nvSpPr>
          <p:cNvPr id="44" name="Google Shape;44;p2"/>
          <p:cNvSpPr/>
          <p:nvPr/>
        </p:nvSpPr>
        <p:spPr>
          <a:xfrm>
            <a:off x="6013624" y="3210297"/>
            <a:ext cx="2634183" cy="969690"/>
          </a:xfrm>
          <a:prstGeom prst="roundRect">
            <a:avLst>
              <a:gd fmla="val 5757"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151290" y="3347963"/>
            <a:ext cx="2358851" cy="2076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00"/>
              <a:buFont typeface="Raleway"/>
              <a:buNone/>
            </a:pPr>
            <a:r>
              <a:rPr b="0" i="0" lang="en-US" sz="1300" u="none" cap="none" strike="noStrike">
                <a:solidFill>
                  <a:srgbClr val="3C3939"/>
                </a:solidFill>
                <a:latin typeface="Raleway"/>
                <a:ea typeface="Raleway"/>
                <a:cs typeface="Raleway"/>
                <a:sym typeface="Raleway"/>
              </a:rPr>
              <a:t>Vertical</a:t>
            </a:r>
            <a:endParaRPr b="0" i="0" sz="1300" u="none" cap="none" strike="noStrike">
              <a:solidFill>
                <a:schemeClr val="dk1"/>
              </a:solidFill>
              <a:latin typeface="Calibri"/>
              <a:ea typeface="Calibri"/>
              <a:cs typeface="Calibri"/>
              <a:sym typeface="Calibri"/>
            </a:endParaRPr>
          </a:p>
        </p:txBody>
      </p:sp>
      <p:sp>
        <p:nvSpPr>
          <p:cNvPr id="46" name="Google Shape;46;p2"/>
          <p:cNvSpPr/>
          <p:nvPr/>
        </p:nvSpPr>
        <p:spPr>
          <a:xfrm>
            <a:off x="6151290" y="3630364"/>
            <a:ext cx="2358851" cy="411956"/>
          </a:xfrm>
          <a:prstGeom prst="rect">
            <a:avLst/>
          </a:prstGeom>
          <a:noFill/>
          <a:ln>
            <a:noFill/>
          </a:ln>
        </p:spPr>
        <p:txBody>
          <a:bodyPr anchorCtr="0" anchor="t" bIns="0" lIns="0" spcFirstLastPara="1" rIns="0" wrap="square" tIns="0">
            <a:normAutofit/>
          </a:bodyPr>
          <a:lstStyle/>
          <a:p>
            <a:pPr indent="0" lvl="0" marL="0" marR="0" rtl="0" algn="l">
              <a:lnSpc>
                <a:spcPct val="129000"/>
              </a:lnSpc>
              <a:spcBef>
                <a:spcPts val="0"/>
              </a:spcBef>
              <a:spcAft>
                <a:spcPts val="0"/>
              </a:spcAft>
              <a:buClr>
                <a:srgbClr val="3C3939"/>
              </a:buClr>
              <a:buSzPts val="1000"/>
              <a:buFont typeface="Roboto"/>
              <a:buNone/>
            </a:pPr>
            <a:r>
              <a:rPr b="0" i="0" lang="en-US" sz="1000" u="none" cap="none" strike="noStrike">
                <a:solidFill>
                  <a:srgbClr val="3C3939"/>
                </a:solidFill>
                <a:latin typeface="Roboto"/>
                <a:ea typeface="Roboto"/>
                <a:cs typeface="Roboto"/>
                <a:sym typeface="Roboto"/>
              </a:rPr>
              <a:t>Debt Relief / Debt Settlement / Debt Consolidation</a:t>
            </a:r>
            <a:endParaRPr b="0" i="0" sz="1000" u="none" cap="none" strike="noStrike">
              <a:solidFill>
                <a:schemeClr val="dk1"/>
              </a:solidFill>
              <a:latin typeface="Calibri"/>
              <a:ea typeface="Calibri"/>
              <a:cs typeface="Calibri"/>
              <a:sym typeface="Calibri"/>
            </a:endParaRPr>
          </a:p>
        </p:txBody>
      </p:sp>
      <p:sp>
        <p:nvSpPr>
          <p:cNvPr id="47" name="Google Shape;47;p2"/>
          <p:cNvSpPr/>
          <p:nvPr/>
        </p:nvSpPr>
        <p:spPr>
          <a:xfrm>
            <a:off x="496119" y="4320108"/>
            <a:ext cx="8151763" cy="411956"/>
          </a:xfrm>
          <a:prstGeom prst="rect">
            <a:avLst/>
          </a:prstGeom>
          <a:noFill/>
          <a:ln>
            <a:noFill/>
          </a:ln>
        </p:spPr>
        <p:txBody>
          <a:bodyPr anchorCtr="0" anchor="t" bIns="0" lIns="0" spcFirstLastPara="1" rIns="0" wrap="square" tIns="0">
            <a:normAutofit/>
          </a:bodyPr>
          <a:lstStyle/>
          <a:p>
            <a:pPr indent="0" lvl="0" marL="0" marR="0" rtl="0" algn="l">
              <a:lnSpc>
                <a:spcPct val="129000"/>
              </a:lnSpc>
              <a:spcBef>
                <a:spcPts val="0"/>
              </a:spcBef>
              <a:spcAft>
                <a:spcPts val="0"/>
              </a:spcAft>
              <a:buClr>
                <a:srgbClr val="3C3939"/>
              </a:buClr>
              <a:buSzPts val="1000"/>
              <a:buFont typeface="Roboto"/>
              <a:buNone/>
            </a:pPr>
            <a:r>
              <a:rPr b="0" i="1" lang="en-US" sz="1000" u="none" cap="none" strike="noStrike">
                <a:solidFill>
                  <a:srgbClr val="3C3939"/>
                </a:solidFill>
                <a:latin typeface="Roboto"/>
                <a:ea typeface="Roboto"/>
                <a:cs typeface="Roboto"/>
                <a:sym typeface="Roboto"/>
              </a:rPr>
              <a:t>Confidential case study. Selected metrics are presented in rounded or range-based form to protect client, buyer and proprietary business information.</a:t>
            </a:r>
            <a:endParaRPr b="0" i="0" sz="1000" u="none" cap="none" strike="noStrike">
              <a:solidFill>
                <a:schemeClr val="dk1"/>
              </a:solidFill>
              <a:latin typeface="Calibri"/>
              <a:ea typeface="Calibri"/>
              <a:cs typeface="Calibri"/>
              <a:sym typeface="Calibri"/>
            </a:endParaRPr>
          </a:p>
        </p:txBody>
      </p:sp>
      <p:sp>
        <p:nvSpPr>
          <p:cNvPr id="48" name="Google Shape;48;p2"/>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preencoded.png" id="54" name="Google Shape;54;p3"/>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55" name="Google Shape;55;p3"/>
          <p:cNvSpPr/>
          <p:nvPr/>
        </p:nvSpPr>
        <p:spPr>
          <a:xfrm>
            <a:off x="3925119" y="411956"/>
            <a:ext cx="4722763" cy="789087"/>
          </a:xfrm>
          <a:prstGeom prst="rect">
            <a:avLst/>
          </a:prstGeom>
          <a:noFill/>
          <a:ln>
            <a:noFill/>
          </a:ln>
        </p:spPr>
        <p:txBody>
          <a:bodyPr anchorCtr="0" anchor="t" bIns="0" lIns="0" spcFirstLastPara="1" rIns="0" wrap="square" tIns="0">
            <a:normAutofit/>
          </a:bodyPr>
          <a:lstStyle/>
          <a:p>
            <a:pPr indent="0" lvl="0" marL="0" marR="0" rtl="0" algn="l">
              <a:lnSpc>
                <a:spcPct val="104000"/>
              </a:lnSpc>
              <a:spcBef>
                <a:spcPts val="0"/>
              </a:spcBef>
              <a:spcAft>
                <a:spcPts val="0"/>
              </a:spcAft>
              <a:buClr>
                <a:srgbClr val="1B1B27"/>
              </a:buClr>
              <a:buSzPts val="2450"/>
              <a:buFont typeface="Raleway"/>
              <a:buNone/>
            </a:pPr>
            <a:r>
              <a:rPr b="0" i="0" lang="en-US" sz="2450" u="none" cap="none" strike="noStrike">
                <a:solidFill>
                  <a:srgbClr val="1B1B27"/>
                </a:solidFill>
                <a:latin typeface="Raleway"/>
                <a:ea typeface="Raleway"/>
                <a:cs typeface="Raleway"/>
                <a:sym typeface="Raleway"/>
              </a:rPr>
              <a:t>A Different Kind of Lead Generation Model</a:t>
            </a:r>
            <a:endParaRPr b="0" i="0" sz="2450" u="none" cap="none" strike="noStrike">
              <a:solidFill>
                <a:schemeClr val="dk1"/>
              </a:solidFill>
              <a:latin typeface="Calibri"/>
              <a:ea typeface="Calibri"/>
              <a:cs typeface="Calibri"/>
              <a:sym typeface="Calibri"/>
            </a:endParaRPr>
          </a:p>
        </p:txBody>
      </p:sp>
      <p:sp>
        <p:nvSpPr>
          <p:cNvPr id="56" name="Google Shape;56;p3"/>
          <p:cNvSpPr/>
          <p:nvPr/>
        </p:nvSpPr>
        <p:spPr>
          <a:xfrm>
            <a:off x="3925119" y="1369665"/>
            <a:ext cx="4722763" cy="572839"/>
          </a:xfrm>
          <a:prstGeom prst="rect">
            <a:avLst/>
          </a:prstGeom>
          <a:noFill/>
          <a:ln>
            <a:noFill/>
          </a:ln>
        </p:spPr>
        <p:txBody>
          <a:bodyPr anchorCtr="0" anchor="t" bIns="0" lIns="0" spcFirstLastPara="1" rIns="0" wrap="square" tIns="0">
            <a:normAutofit/>
          </a:bodyPr>
          <a:lstStyle/>
          <a:p>
            <a:pPr indent="0" lvl="0" marL="0" marR="0" rtl="0" algn="l">
              <a:lnSpc>
                <a:spcPct val="126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This was not a traditional form-lead campaign. The objective was to generate high-intent consumer demand, route qualified leads into the buyer's call-center operation, and monetize standard calls that met the agreed 8+ minute qualification threshold.</a:t>
            </a:r>
            <a:endParaRPr b="0" i="0" sz="950" u="none" cap="none" strike="noStrike">
              <a:solidFill>
                <a:schemeClr val="dk1"/>
              </a:solidFill>
              <a:latin typeface="Calibri"/>
              <a:ea typeface="Calibri"/>
              <a:cs typeface="Calibri"/>
              <a:sym typeface="Calibri"/>
            </a:endParaRPr>
          </a:p>
        </p:txBody>
      </p:sp>
      <p:pic>
        <p:nvPicPr>
          <p:cNvPr descr="preencoded.png" id="57" name="Google Shape;57;p3"/>
          <p:cNvPicPr preferRelativeResize="0"/>
          <p:nvPr/>
        </p:nvPicPr>
        <p:blipFill rotWithShape="1">
          <a:blip r:embed="rId4">
            <a:alphaModFix/>
          </a:blip>
          <a:srcRect b="0" l="0" r="0" t="0"/>
          <a:stretch/>
        </p:blipFill>
        <p:spPr>
          <a:xfrm>
            <a:off x="3925119" y="2069009"/>
            <a:ext cx="4722763" cy="1772171"/>
          </a:xfrm>
          <a:prstGeom prst="rect">
            <a:avLst/>
          </a:prstGeom>
          <a:noFill/>
          <a:ln>
            <a:noFill/>
          </a:ln>
        </p:spPr>
      </p:pic>
      <p:sp>
        <p:nvSpPr>
          <p:cNvPr id="58" name="Google Shape;58;p3"/>
          <p:cNvSpPr/>
          <p:nvPr/>
        </p:nvSpPr>
        <p:spPr>
          <a:xfrm>
            <a:off x="7741044" y="3427664"/>
            <a:ext cx="712323" cy="103753"/>
          </a:xfrm>
          <a:prstGeom prst="rect">
            <a:avLst/>
          </a:prstGeom>
          <a:noFill/>
          <a:ln>
            <a:noFill/>
          </a:ln>
        </p:spPr>
        <p:txBody>
          <a:bodyPr anchorCtr="0" anchor="t" bIns="0" lIns="0" spcFirstLastPara="1" rIns="0" wrap="square" tIns="0">
            <a:noAutofit/>
          </a:bodyPr>
          <a:lstStyle/>
          <a:p>
            <a:pPr indent="0" lvl="0" marL="0" marR="0" rtl="0" algn="ctr">
              <a:lnSpc>
                <a:spcPct val="98000"/>
              </a:lnSpc>
              <a:spcBef>
                <a:spcPts val="0"/>
              </a:spcBef>
              <a:spcAft>
                <a:spcPts val="0"/>
              </a:spcAft>
              <a:buClr>
                <a:srgbClr val="3C3939"/>
              </a:buClr>
              <a:buSzPts val="650"/>
              <a:buFont typeface="Roboto"/>
              <a:buNone/>
            </a:pPr>
            <a:r>
              <a:rPr b="0" i="0" lang="en-US" sz="650" u="none" cap="none" strike="noStrike">
                <a:solidFill>
                  <a:srgbClr val="3C3939"/>
                </a:solidFill>
                <a:latin typeface="Roboto"/>
                <a:ea typeface="Roboto"/>
                <a:cs typeface="Roboto"/>
                <a:sym typeface="Roboto"/>
              </a:rPr>
              <a:t>Monetization</a:t>
            </a:r>
            <a:endParaRPr b="0" i="0" sz="650" u="none" cap="none" strike="noStrike">
              <a:solidFill>
                <a:schemeClr val="dk1"/>
              </a:solidFill>
              <a:latin typeface="Calibri"/>
              <a:ea typeface="Calibri"/>
              <a:cs typeface="Calibri"/>
              <a:sym typeface="Calibri"/>
            </a:endParaRPr>
          </a:p>
        </p:txBody>
      </p:sp>
      <p:sp>
        <p:nvSpPr>
          <p:cNvPr id="59" name="Google Shape;59;p3"/>
          <p:cNvSpPr/>
          <p:nvPr/>
        </p:nvSpPr>
        <p:spPr>
          <a:xfrm>
            <a:off x="6843322" y="3427664"/>
            <a:ext cx="712323" cy="103753"/>
          </a:xfrm>
          <a:prstGeom prst="rect">
            <a:avLst/>
          </a:prstGeom>
          <a:noFill/>
          <a:ln>
            <a:noFill/>
          </a:ln>
        </p:spPr>
        <p:txBody>
          <a:bodyPr anchorCtr="0" anchor="t" bIns="0" lIns="0" spcFirstLastPara="1" rIns="0" wrap="square" tIns="0">
            <a:noAutofit/>
          </a:bodyPr>
          <a:lstStyle/>
          <a:p>
            <a:pPr indent="0" lvl="0" marL="0" marR="0" rtl="0" algn="ctr">
              <a:lnSpc>
                <a:spcPct val="98000"/>
              </a:lnSpc>
              <a:spcBef>
                <a:spcPts val="0"/>
              </a:spcBef>
              <a:spcAft>
                <a:spcPts val="0"/>
              </a:spcAft>
              <a:buClr>
                <a:srgbClr val="3C3939"/>
              </a:buClr>
              <a:buSzPts val="650"/>
              <a:buFont typeface="Roboto"/>
              <a:buNone/>
            </a:pPr>
            <a:r>
              <a:rPr b="0" i="0" lang="en-US" sz="650" u="none" cap="none" strike="noStrike">
                <a:solidFill>
                  <a:srgbClr val="3C3939"/>
                </a:solidFill>
                <a:latin typeface="Roboto"/>
                <a:ea typeface="Roboto"/>
                <a:cs typeface="Roboto"/>
                <a:sym typeface="Roboto"/>
              </a:rPr>
              <a:t>8+ Min Call</a:t>
            </a:r>
            <a:endParaRPr b="0" i="0" sz="650" u="none" cap="none" strike="noStrike">
              <a:solidFill>
                <a:schemeClr val="dk1"/>
              </a:solidFill>
              <a:latin typeface="Calibri"/>
              <a:ea typeface="Calibri"/>
              <a:cs typeface="Calibri"/>
              <a:sym typeface="Calibri"/>
            </a:endParaRPr>
          </a:p>
        </p:txBody>
      </p:sp>
      <p:sp>
        <p:nvSpPr>
          <p:cNvPr id="60" name="Google Shape;60;p3"/>
          <p:cNvSpPr/>
          <p:nvPr/>
        </p:nvSpPr>
        <p:spPr>
          <a:xfrm>
            <a:off x="5950479" y="3427664"/>
            <a:ext cx="712323" cy="103753"/>
          </a:xfrm>
          <a:prstGeom prst="rect">
            <a:avLst/>
          </a:prstGeom>
          <a:noFill/>
          <a:ln>
            <a:noFill/>
          </a:ln>
        </p:spPr>
        <p:txBody>
          <a:bodyPr anchorCtr="0" anchor="t" bIns="0" lIns="0" spcFirstLastPara="1" rIns="0" wrap="square" tIns="0">
            <a:noAutofit/>
          </a:bodyPr>
          <a:lstStyle/>
          <a:p>
            <a:pPr indent="0" lvl="0" marL="0" marR="0" rtl="0" algn="ctr">
              <a:lnSpc>
                <a:spcPct val="98000"/>
              </a:lnSpc>
              <a:spcBef>
                <a:spcPts val="0"/>
              </a:spcBef>
              <a:spcAft>
                <a:spcPts val="0"/>
              </a:spcAft>
              <a:buClr>
                <a:srgbClr val="3C3939"/>
              </a:buClr>
              <a:buSzPts val="650"/>
              <a:buFont typeface="Roboto"/>
              <a:buNone/>
            </a:pPr>
            <a:r>
              <a:rPr b="0" i="0" lang="en-US" sz="650" u="none" cap="none" strike="noStrike">
                <a:solidFill>
                  <a:srgbClr val="3C3939"/>
                </a:solidFill>
                <a:latin typeface="Roboto"/>
                <a:ea typeface="Roboto"/>
                <a:cs typeface="Roboto"/>
                <a:sym typeface="Roboto"/>
              </a:rPr>
              <a:t>Buyer Call Center</a:t>
            </a:r>
            <a:endParaRPr b="0" i="0" sz="650" u="none" cap="none" strike="noStrike">
              <a:solidFill>
                <a:schemeClr val="dk1"/>
              </a:solidFill>
              <a:latin typeface="Calibri"/>
              <a:ea typeface="Calibri"/>
              <a:cs typeface="Calibri"/>
              <a:sym typeface="Calibri"/>
            </a:endParaRPr>
          </a:p>
        </p:txBody>
      </p:sp>
      <p:sp>
        <p:nvSpPr>
          <p:cNvPr id="61" name="Google Shape;61;p3"/>
          <p:cNvSpPr/>
          <p:nvPr/>
        </p:nvSpPr>
        <p:spPr>
          <a:xfrm>
            <a:off x="5162532" y="3427664"/>
            <a:ext cx="502453" cy="102457"/>
          </a:xfrm>
          <a:prstGeom prst="rect">
            <a:avLst/>
          </a:prstGeom>
          <a:noFill/>
          <a:ln>
            <a:noFill/>
          </a:ln>
        </p:spPr>
        <p:txBody>
          <a:bodyPr anchorCtr="0" anchor="t" bIns="0" lIns="0" spcFirstLastPara="1" rIns="0" wrap="square" tIns="0">
            <a:noAutofit/>
          </a:bodyPr>
          <a:lstStyle/>
          <a:p>
            <a:pPr indent="0" lvl="0" marL="0" marR="0" rtl="0" algn="ctr">
              <a:lnSpc>
                <a:spcPct val="98000"/>
              </a:lnSpc>
              <a:spcBef>
                <a:spcPts val="0"/>
              </a:spcBef>
              <a:spcAft>
                <a:spcPts val="0"/>
              </a:spcAft>
              <a:buClr>
                <a:srgbClr val="3C3939"/>
              </a:buClr>
              <a:buSzPts val="650"/>
              <a:buFont typeface="Roboto"/>
              <a:buNone/>
            </a:pPr>
            <a:r>
              <a:rPr b="1" i="0" lang="en-US" sz="650" u="none" cap="none" strike="noStrike">
                <a:solidFill>
                  <a:srgbClr val="3C3939"/>
                </a:solidFill>
                <a:latin typeface="Roboto"/>
                <a:ea typeface="Roboto"/>
                <a:cs typeface="Roboto"/>
                <a:sym typeface="Roboto"/>
              </a:rPr>
              <a:t>Qualification</a:t>
            </a:r>
            <a:endParaRPr b="0" i="0" sz="650" u="none" cap="none" strike="noStrike">
              <a:solidFill>
                <a:schemeClr val="dk1"/>
              </a:solidFill>
              <a:latin typeface="Calibri"/>
              <a:ea typeface="Calibri"/>
              <a:cs typeface="Calibri"/>
              <a:sym typeface="Calibri"/>
            </a:endParaRPr>
          </a:p>
        </p:txBody>
      </p:sp>
      <p:sp>
        <p:nvSpPr>
          <p:cNvPr id="62" name="Google Shape;62;p3"/>
          <p:cNvSpPr/>
          <p:nvPr/>
        </p:nvSpPr>
        <p:spPr>
          <a:xfrm>
            <a:off x="4145276" y="3427664"/>
            <a:ext cx="712323" cy="103753"/>
          </a:xfrm>
          <a:prstGeom prst="rect">
            <a:avLst/>
          </a:prstGeom>
          <a:noFill/>
          <a:ln>
            <a:noFill/>
          </a:ln>
        </p:spPr>
        <p:txBody>
          <a:bodyPr anchorCtr="0" anchor="t" bIns="0" lIns="0" spcFirstLastPara="1" rIns="0" wrap="square" tIns="0">
            <a:noAutofit/>
          </a:bodyPr>
          <a:lstStyle/>
          <a:p>
            <a:pPr indent="0" lvl="0" marL="0" marR="0" rtl="0" algn="ctr">
              <a:lnSpc>
                <a:spcPct val="98000"/>
              </a:lnSpc>
              <a:spcBef>
                <a:spcPts val="0"/>
              </a:spcBef>
              <a:spcAft>
                <a:spcPts val="0"/>
              </a:spcAft>
              <a:buClr>
                <a:srgbClr val="3C3939"/>
              </a:buClr>
              <a:buSzPts val="650"/>
              <a:buFont typeface="Roboto"/>
              <a:buNone/>
            </a:pPr>
            <a:r>
              <a:rPr b="0" i="0" lang="en-US" sz="650" u="none" cap="none" strike="noStrike">
                <a:solidFill>
                  <a:srgbClr val="3C3939"/>
                </a:solidFill>
                <a:latin typeface="Roboto"/>
                <a:ea typeface="Roboto"/>
                <a:cs typeface="Roboto"/>
                <a:sym typeface="Roboto"/>
              </a:rPr>
              <a:t>Paid Traffic</a:t>
            </a:r>
            <a:endParaRPr b="0" i="0" sz="650" u="none" cap="none" strike="noStrike">
              <a:solidFill>
                <a:schemeClr val="dk1"/>
              </a:solidFill>
              <a:latin typeface="Calibri"/>
              <a:ea typeface="Calibri"/>
              <a:cs typeface="Calibri"/>
              <a:sym typeface="Calibri"/>
            </a:endParaRPr>
          </a:p>
        </p:txBody>
      </p:sp>
      <p:sp>
        <p:nvSpPr>
          <p:cNvPr id="63" name="Google Shape;63;p3"/>
          <p:cNvSpPr/>
          <p:nvPr/>
        </p:nvSpPr>
        <p:spPr>
          <a:xfrm>
            <a:off x="3925119" y="3967683"/>
            <a:ext cx="4722763" cy="763786"/>
          </a:xfrm>
          <a:prstGeom prst="rect">
            <a:avLst/>
          </a:prstGeom>
          <a:noFill/>
          <a:ln>
            <a:noFill/>
          </a:ln>
        </p:spPr>
        <p:txBody>
          <a:bodyPr anchorCtr="0" anchor="t" bIns="0" lIns="0" spcFirstLastPara="1" rIns="0" wrap="square" tIns="0">
            <a:normAutofit/>
          </a:bodyPr>
          <a:lstStyle/>
          <a:p>
            <a:pPr indent="0" lvl="0" marL="0" marR="0" rtl="0" algn="l">
              <a:lnSpc>
                <a:spcPct val="126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The optimization target was not simply "Get the cheapest lead." It was: </a:t>
            </a:r>
            <a:r>
              <a:rPr b="1" i="0" lang="en-US" sz="950" u="none" cap="none" strike="noStrike">
                <a:solidFill>
                  <a:srgbClr val="3C3939"/>
                </a:solidFill>
                <a:latin typeface="Roboto"/>
                <a:ea typeface="Roboto"/>
                <a:cs typeface="Roboto"/>
                <a:sym typeface="Roboto"/>
              </a:rPr>
              <a:t>Generate buyer-valuable calls at a sustainable CPA while maintaining call quality.</a:t>
            </a:r>
            <a:r>
              <a:rPr b="0" i="0" lang="en-US" sz="950" u="none" cap="none" strike="noStrike">
                <a:solidFill>
                  <a:srgbClr val="3C3939"/>
                </a:solidFill>
                <a:latin typeface="Roboto"/>
                <a:ea typeface="Roboto"/>
                <a:cs typeface="Roboto"/>
                <a:sym typeface="Roboto"/>
              </a:rPr>
              <a:t> The standard qualification threshold was approximately </a:t>
            </a:r>
            <a:r>
              <a:rPr b="1" i="0" lang="en-US" sz="950" u="none" cap="none" strike="noStrike">
                <a:solidFill>
                  <a:srgbClr val="3C3939"/>
                </a:solidFill>
                <a:latin typeface="Roboto"/>
                <a:ea typeface="Roboto"/>
                <a:cs typeface="Roboto"/>
                <a:sym typeface="Roboto"/>
              </a:rPr>
              <a:t>8+ minutes</a:t>
            </a:r>
            <a:r>
              <a:rPr b="0" i="0" lang="en-US" sz="950" u="none" cap="none" strike="noStrike">
                <a:solidFill>
                  <a:srgbClr val="3C3939"/>
                </a:solidFill>
                <a:latin typeface="Roboto"/>
                <a:ea typeface="Roboto"/>
                <a:cs typeface="Roboto"/>
                <a:sym typeface="Roboto"/>
              </a:rPr>
              <a:t>, while many high-quality calls extended substantially longer.</a:t>
            </a:r>
            <a:endParaRPr b="0" i="0" sz="950" u="none" cap="none" strike="noStrike">
              <a:solidFill>
                <a:schemeClr val="dk1"/>
              </a:solidFill>
              <a:latin typeface="Calibri"/>
              <a:ea typeface="Calibri"/>
              <a:cs typeface="Calibri"/>
              <a:sym typeface="Calibri"/>
            </a:endParaRPr>
          </a:p>
        </p:txBody>
      </p:sp>
      <p:sp>
        <p:nvSpPr>
          <p:cNvPr id="64" name="Google Shape;64;p3"/>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4"/>
          <p:cNvSpPr/>
          <p:nvPr/>
        </p:nvSpPr>
        <p:spPr>
          <a:xfrm>
            <a:off x="496119" y="400273"/>
            <a:ext cx="8151763" cy="38754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400"/>
              <a:buFont typeface="Raleway"/>
              <a:buNone/>
            </a:pPr>
            <a:r>
              <a:rPr b="0" i="0" lang="en-US" sz="2400" u="none" cap="none" strike="noStrike">
                <a:solidFill>
                  <a:srgbClr val="1B1B27"/>
                </a:solidFill>
                <a:latin typeface="Raleway"/>
                <a:ea typeface="Raleway"/>
                <a:cs typeface="Raleway"/>
                <a:sym typeface="Raleway"/>
              </a:rPr>
              <a:t>The Problem Wasn't Traffic. It Was Scale + Quality.</a:t>
            </a:r>
            <a:endParaRPr b="0" i="0" sz="2400" u="none" cap="none" strike="noStrike">
              <a:solidFill>
                <a:schemeClr val="dk1"/>
              </a:solidFill>
              <a:latin typeface="Calibri"/>
              <a:ea typeface="Calibri"/>
              <a:cs typeface="Calibri"/>
              <a:sym typeface="Calibri"/>
            </a:endParaRPr>
          </a:p>
        </p:txBody>
      </p:sp>
      <p:sp>
        <p:nvSpPr>
          <p:cNvPr id="71" name="Google Shape;71;p4"/>
          <p:cNvSpPr/>
          <p:nvPr/>
        </p:nvSpPr>
        <p:spPr>
          <a:xfrm>
            <a:off x="496119" y="1004888"/>
            <a:ext cx="8151763" cy="37207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When I took over, the advertising platform was already operational. The real challenge was creating a </a:t>
            </a:r>
            <a:r>
              <a:rPr b="1" i="0" lang="en-US" sz="950" u="none" cap="none" strike="noStrike">
                <a:solidFill>
                  <a:srgbClr val="3C3939"/>
                </a:solidFill>
                <a:latin typeface="Roboto"/>
                <a:ea typeface="Roboto"/>
                <a:cs typeface="Roboto"/>
                <a:sym typeface="Roboto"/>
              </a:rPr>
              <a:t>repeatable acquisition system capable of scaling without destroying lead quality or economics.</a:t>
            </a:r>
            <a:endParaRPr b="0" i="0" sz="950" u="none" cap="none" strike="noStrike">
              <a:solidFill>
                <a:schemeClr val="dk1"/>
              </a:solidFill>
              <a:latin typeface="Calibri"/>
              <a:ea typeface="Calibri"/>
              <a:cs typeface="Calibri"/>
              <a:sym typeface="Calibri"/>
            </a:endParaRPr>
          </a:p>
        </p:txBody>
      </p:sp>
      <p:sp>
        <p:nvSpPr>
          <p:cNvPr id="72" name="Google Shape;72;p4"/>
          <p:cNvSpPr/>
          <p:nvPr/>
        </p:nvSpPr>
        <p:spPr>
          <a:xfrm>
            <a:off x="406822" y="1498997"/>
            <a:ext cx="4103100" cy="3244200"/>
          </a:xfrm>
          <a:prstGeom prst="roundRect">
            <a:avLst>
              <a:gd fmla="val 2753" name="adj"/>
            </a:avLst>
          </a:prstGeom>
          <a:solidFill>
            <a:srgbClr val="1B1B27">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530796" y="1607493"/>
            <a:ext cx="3855244"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Raleway"/>
              <a:buNone/>
            </a:pPr>
            <a:r>
              <a:rPr b="0" i="0" lang="en-US" sz="1200" u="none" cap="none" strike="noStrike">
                <a:solidFill>
                  <a:srgbClr val="FFFFFF"/>
                </a:solidFill>
                <a:latin typeface="Raleway"/>
                <a:ea typeface="Raleway"/>
                <a:cs typeface="Raleway"/>
                <a:sym typeface="Raleway"/>
              </a:rPr>
              <a:t>Starting Conditions</a:t>
            </a:r>
            <a:endParaRPr b="0" i="0" sz="1200" u="none" cap="none" strike="noStrike">
              <a:solidFill>
                <a:schemeClr val="dk1"/>
              </a:solidFill>
              <a:latin typeface="Calibri"/>
              <a:ea typeface="Calibri"/>
              <a:cs typeface="Calibri"/>
              <a:sym typeface="Calibri"/>
            </a:endParaRPr>
          </a:p>
        </p:txBody>
      </p:sp>
      <p:pic>
        <p:nvPicPr>
          <p:cNvPr descr="preencoded.png" id="74" name="Google Shape;74;p4"/>
          <p:cNvPicPr preferRelativeResize="0"/>
          <p:nvPr/>
        </p:nvPicPr>
        <p:blipFill rotWithShape="1">
          <a:blip r:embed="rId3">
            <a:alphaModFix/>
          </a:blip>
          <a:srcRect b="0" l="0" r="0" t="0"/>
          <a:stretch/>
        </p:blipFill>
        <p:spPr>
          <a:xfrm>
            <a:off x="530796" y="1923380"/>
            <a:ext cx="1873374" cy="764902"/>
          </a:xfrm>
          <a:prstGeom prst="rect">
            <a:avLst/>
          </a:prstGeom>
          <a:noFill/>
          <a:ln>
            <a:noFill/>
          </a:ln>
        </p:spPr>
      </p:pic>
      <p:sp>
        <p:nvSpPr>
          <p:cNvPr id="75" name="Google Shape;75;p4"/>
          <p:cNvSpPr/>
          <p:nvPr/>
        </p:nvSpPr>
        <p:spPr>
          <a:xfrm>
            <a:off x="726207" y="2061642"/>
            <a:ext cx="1539701"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Raleway"/>
              <a:buNone/>
            </a:pPr>
            <a:r>
              <a:rPr b="0" i="0" lang="en-US" sz="1200" u="none" cap="none" strike="noStrike">
                <a:solidFill>
                  <a:srgbClr val="FFFFFF"/>
                </a:solidFill>
                <a:latin typeface="Raleway"/>
                <a:ea typeface="Raleway"/>
                <a:cs typeface="Raleway"/>
                <a:sym typeface="Raleway"/>
              </a:rPr>
              <a:t>Acquisition CPA</a:t>
            </a:r>
            <a:endParaRPr b="0" i="0" sz="1200" u="none" cap="none" strike="noStrike">
              <a:solidFill>
                <a:schemeClr val="dk1"/>
              </a:solidFill>
              <a:latin typeface="Calibri"/>
              <a:ea typeface="Calibri"/>
              <a:cs typeface="Calibri"/>
              <a:sym typeface="Calibri"/>
            </a:endParaRPr>
          </a:p>
        </p:txBody>
      </p:sp>
      <p:sp>
        <p:nvSpPr>
          <p:cNvPr id="76" name="Google Shape;76;p4"/>
          <p:cNvSpPr/>
          <p:nvPr/>
        </p:nvSpPr>
        <p:spPr>
          <a:xfrm>
            <a:off x="726207" y="2363986"/>
            <a:ext cx="1539701"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950"/>
              <a:buFont typeface="Roboto"/>
              <a:buNone/>
            </a:pPr>
            <a:r>
              <a:rPr b="0" i="0" lang="en-US" sz="950" u="none" cap="none" strike="noStrike">
                <a:solidFill>
                  <a:srgbClr val="FFFFFF"/>
                </a:solidFill>
                <a:latin typeface="Roboto"/>
                <a:ea typeface="Roboto"/>
                <a:cs typeface="Roboto"/>
                <a:sym typeface="Roboto"/>
              </a:rPr>
              <a:t>$2,000+</a:t>
            </a:r>
            <a:endParaRPr b="0" i="0" sz="950" u="none" cap="none" strike="noStrike">
              <a:solidFill>
                <a:schemeClr val="dk1"/>
              </a:solidFill>
              <a:latin typeface="Calibri"/>
              <a:ea typeface="Calibri"/>
              <a:cs typeface="Calibri"/>
              <a:sym typeface="Calibri"/>
            </a:endParaRPr>
          </a:p>
        </p:txBody>
      </p:sp>
      <p:pic>
        <p:nvPicPr>
          <p:cNvPr descr="preencoded.png" id="77" name="Google Shape;77;p4"/>
          <p:cNvPicPr preferRelativeResize="0"/>
          <p:nvPr/>
        </p:nvPicPr>
        <p:blipFill rotWithShape="1">
          <a:blip r:embed="rId3">
            <a:alphaModFix/>
          </a:blip>
          <a:srcRect b="0" l="0" r="0" t="0"/>
          <a:stretch/>
        </p:blipFill>
        <p:spPr>
          <a:xfrm>
            <a:off x="2512665" y="1923380"/>
            <a:ext cx="1873374" cy="764902"/>
          </a:xfrm>
          <a:prstGeom prst="rect">
            <a:avLst/>
          </a:prstGeom>
          <a:noFill/>
          <a:ln>
            <a:noFill/>
          </a:ln>
        </p:spPr>
      </p:pic>
      <p:sp>
        <p:nvSpPr>
          <p:cNvPr id="78" name="Google Shape;78;p4"/>
          <p:cNvSpPr/>
          <p:nvPr/>
        </p:nvSpPr>
        <p:spPr>
          <a:xfrm>
            <a:off x="2708077" y="2061642"/>
            <a:ext cx="1539701"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Raleway"/>
              <a:buNone/>
            </a:pPr>
            <a:r>
              <a:rPr b="0" i="0" lang="en-US" sz="1200" u="none" cap="none" strike="noStrike">
                <a:solidFill>
                  <a:srgbClr val="FFFFFF"/>
                </a:solidFill>
                <a:latin typeface="Raleway"/>
                <a:ea typeface="Raleway"/>
                <a:cs typeface="Raleway"/>
                <a:sym typeface="Raleway"/>
              </a:rPr>
              <a:t>ACL (Qualified)</a:t>
            </a:r>
            <a:endParaRPr b="0" i="0" sz="1200" u="none" cap="none" strike="noStrike">
              <a:solidFill>
                <a:schemeClr val="dk1"/>
              </a:solidFill>
              <a:latin typeface="Calibri"/>
              <a:ea typeface="Calibri"/>
              <a:cs typeface="Calibri"/>
              <a:sym typeface="Calibri"/>
            </a:endParaRPr>
          </a:p>
        </p:txBody>
      </p:sp>
      <p:sp>
        <p:nvSpPr>
          <p:cNvPr id="79" name="Google Shape;79;p4"/>
          <p:cNvSpPr/>
          <p:nvPr/>
        </p:nvSpPr>
        <p:spPr>
          <a:xfrm>
            <a:off x="2708077" y="2363986"/>
            <a:ext cx="1539701"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950"/>
              <a:buFont typeface="Roboto"/>
              <a:buNone/>
            </a:pPr>
            <a:r>
              <a:rPr b="0" i="0" lang="en-US" sz="950" u="none" cap="none" strike="noStrike">
                <a:solidFill>
                  <a:srgbClr val="FFFFFF"/>
                </a:solidFill>
                <a:latin typeface="Roboto"/>
                <a:ea typeface="Roboto"/>
                <a:cs typeface="Roboto"/>
                <a:sym typeface="Roboto"/>
              </a:rPr>
              <a:t>~5 minutes</a:t>
            </a:r>
            <a:endParaRPr b="0" i="0" sz="950" u="none" cap="none" strike="noStrike">
              <a:solidFill>
                <a:schemeClr val="dk1"/>
              </a:solidFill>
              <a:latin typeface="Calibri"/>
              <a:ea typeface="Calibri"/>
              <a:cs typeface="Calibri"/>
              <a:sym typeface="Calibri"/>
            </a:endParaRPr>
          </a:p>
        </p:txBody>
      </p:sp>
      <p:pic>
        <p:nvPicPr>
          <p:cNvPr descr="preencoded.png" id="80" name="Google Shape;80;p4"/>
          <p:cNvPicPr preferRelativeResize="0"/>
          <p:nvPr/>
        </p:nvPicPr>
        <p:blipFill rotWithShape="1">
          <a:blip r:embed="rId3">
            <a:alphaModFix/>
          </a:blip>
          <a:srcRect b="0" l="0" r="0" t="0"/>
          <a:stretch/>
        </p:blipFill>
        <p:spPr>
          <a:xfrm>
            <a:off x="530796" y="2796778"/>
            <a:ext cx="1873374" cy="764902"/>
          </a:xfrm>
          <a:prstGeom prst="rect">
            <a:avLst/>
          </a:prstGeom>
          <a:noFill/>
          <a:ln>
            <a:noFill/>
          </a:ln>
        </p:spPr>
      </p:pic>
      <p:sp>
        <p:nvSpPr>
          <p:cNvPr id="81" name="Google Shape;81;p4"/>
          <p:cNvSpPr/>
          <p:nvPr/>
        </p:nvSpPr>
        <p:spPr>
          <a:xfrm>
            <a:off x="726207" y="2935039"/>
            <a:ext cx="1539701"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Raleway"/>
              <a:buNone/>
            </a:pPr>
            <a:r>
              <a:rPr b="0" i="0" lang="en-US" sz="1200" u="none" cap="none" strike="noStrike">
                <a:solidFill>
                  <a:srgbClr val="FFFFFF"/>
                </a:solidFill>
                <a:latin typeface="Raleway"/>
                <a:ea typeface="Raleway"/>
                <a:cs typeface="Raleway"/>
                <a:sym typeface="Raleway"/>
              </a:rPr>
              <a:t>Monetized Calls</a:t>
            </a:r>
            <a:endParaRPr b="0" i="0" sz="1200" u="none" cap="none" strike="noStrike">
              <a:solidFill>
                <a:schemeClr val="dk1"/>
              </a:solidFill>
              <a:latin typeface="Calibri"/>
              <a:ea typeface="Calibri"/>
              <a:cs typeface="Calibri"/>
              <a:sym typeface="Calibri"/>
            </a:endParaRPr>
          </a:p>
        </p:txBody>
      </p:sp>
      <p:sp>
        <p:nvSpPr>
          <p:cNvPr id="82" name="Google Shape;82;p4"/>
          <p:cNvSpPr/>
          <p:nvPr/>
        </p:nvSpPr>
        <p:spPr>
          <a:xfrm>
            <a:off x="726207" y="3237384"/>
            <a:ext cx="1539701"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950"/>
              <a:buFont typeface="Roboto"/>
              <a:buNone/>
            </a:pPr>
            <a:r>
              <a:rPr b="0" i="0" lang="en-US" sz="950" u="none" cap="none" strike="noStrike">
                <a:solidFill>
                  <a:srgbClr val="FFFFFF"/>
                </a:solidFill>
                <a:latin typeface="Roboto"/>
                <a:ea typeface="Roboto"/>
                <a:cs typeface="Roboto"/>
                <a:sym typeface="Roboto"/>
              </a:rPr>
              <a:t>~2000 per month</a:t>
            </a:r>
            <a:endParaRPr b="0" i="0" sz="950" u="none" cap="none" strike="noStrike">
              <a:solidFill>
                <a:schemeClr val="dk1"/>
              </a:solidFill>
              <a:latin typeface="Calibri"/>
              <a:ea typeface="Calibri"/>
              <a:cs typeface="Calibri"/>
              <a:sym typeface="Calibri"/>
            </a:endParaRPr>
          </a:p>
        </p:txBody>
      </p:sp>
      <p:pic>
        <p:nvPicPr>
          <p:cNvPr descr="preencoded.png" id="83" name="Google Shape;83;p4"/>
          <p:cNvPicPr preferRelativeResize="0"/>
          <p:nvPr/>
        </p:nvPicPr>
        <p:blipFill rotWithShape="1">
          <a:blip r:embed="rId3">
            <a:alphaModFix/>
          </a:blip>
          <a:srcRect b="0" l="0" r="0" t="0"/>
          <a:stretch/>
        </p:blipFill>
        <p:spPr>
          <a:xfrm>
            <a:off x="2512665" y="2796778"/>
            <a:ext cx="1873374" cy="764902"/>
          </a:xfrm>
          <a:prstGeom prst="rect">
            <a:avLst/>
          </a:prstGeom>
          <a:noFill/>
          <a:ln>
            <a:noFill/>
          </a:ln>
        </p:spPr>
      </p:pic>
      <p:sp>
        <p:nvSpPr>
          <p:cNvPr id="84" name="Google Shape;84;p4"/>
          <p:cNvSpPr/>
          <p:nvPr/>
        </p:nvSpPr>
        <p:spPr>
          <a:xfrm>
            <a:off x="2708077" y="2935039"/>
            <a:ext cx="1539701"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Raleway"/>
              <a:buNone/>
            </a:pPr>
            <a:r>
              <a:rPr b="0" i="0" lang="en-US" sz="1200" u="none" cap="none" strike="noStrike">
                <a:solidFill>
                  <a:srgbClr val="FFFFFF"/>
                </a:solidFill>
                <a:latin typeface="Raleway"/>
                <a:ea typeface="Raleway"/>
                <a:cs typeface="Raleway"/>
                <a:sym typeface="Raleway"/>
              </a:rPr>
              <a:t>Daily Spend</a:t>
            </a:r>
            <a:endParaRPr b="0" i="0" sz="1200" u="none" cap="none" strike="noStrike">
              <a:solidFill>
                <a:schemeClr val="dk1"/>
              </a:solidFill>
              <a:latin typeface="Calibri"/>
              <a:ea typeface="Calibri"/>
              <a:cs typeface="Calibri"/>
              <a:sym typeface="Calibri"/>
            </a:endParaRPr>
          </a:p>
        </p:txBody>
      </p:sp>
      <p:sp>
        <p:nvSpPr>
          <p:cNvPr id="85" name="Google Shape;85;p4"/>
          <p:cNvSpPr/>
          <p:nvPr/>
        </p:nvSpPr>
        <p:spPr>
          <a:xfrm>
            <a:off x="2708077" y="3237384"/>
            <a:ext cx="1539701" cy="18603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950"/>
              <a:buFont typeface="Roboto"/>
              <a:buNone/>
            </a:pPr>
            <a:r>
              <a:rPr b="0" i="0" lang="en-US" sz="950" u="none" cap="none" strike="noStrike">
                <a:solidFill>
                  <a:srgbClr val="FFFFFF"/>
                </a:solidFill>
                <a:latin typeface="Roboto"/>
                <a:ea typeface="Roboto"/>
                <a:cs typeface="Roboto"/>
                <a:sym typeface="Roboto"/>
              </a:rPr>
              <a:t>~$</a:t>
            </a:r>
            <a:r>
              <a:rPr lang="en-US" sz="950">
                <a:solidFill>
                  <a:srgbClr val="FFFFFF"/>
                </a:solidFill>
                <a:latin typeface="Roboto"/>
                <a:ea typeface="Roboto"/>
                <a:cs typeface="Roboto"/>
                <a:sym typeface="Roboto"/>
              </a:rPr>
              <a:t>3.33</a:t>
            </a:r>
            <a:r>
              <a:rPr b="0" i="0" lang="en-US" sz="950" u="none" cap="none" strike="noStrike">
                <a:solidFill>
                  <a:srgbClr val="FFFFFF"/>
                </a:solidFill>
                <a:latin typeface="Roboto"/>
                <a:ea typeface="Roboto"/>
                <a:cs typeface="Roboto"/>
                <a:sym typeface="Roboto"/>
              </a:rPr>
              <a:t>K</a:t>
            </a:r>
            <a:endParaRPr b="0" i="0" sz="950" u="none" cap="none" strike="noStrike">
              <a:solidFill>
                <a:schemeClr val="dk1"/>
              </a:solidFill>
              <a:latin typeface="Calibri"/>
              <a:ea typeface="Calibri"/>
              <a:cs typeface="Calibri"/>
              <a:sym typeface="Calibri"/>
            </a:endParaRPr>
          </a:p>
        </p:txBody>
      </p:sp>
      <p:pic>
        <p:nvPicPr>
          <p:cNvPr descr="preencoded.png" id="86" name="Google Shape;86;p4"/>
          <p:cNvPicPr preferRelativeResize="0"/>
          <p:nvPr/>
        </p:nvPicPr>
        <p:blipFill rotWithShape="1">
          <a:blip r:embed="rId4">
            <a:alphaModFix/>
          </a:blip>
          <a:srcRect b="0" l="0" r="0" t="0"/>
          <a:stretch/>
        </p:blipFill>
        <p:spPr>
          <a:xfrm>
            <a:off x="530796" y="3670176"/>
            <a:ext cx="1873374" cy="950937"/>
          </a:xfrm>
          <a:prstGeom prst="rect">
            <a:avLst/>
          </a:prstGeom>
          <a:noFill/>
          <a:ln>
            <a:noFill/>
          </a:ln>
        </p:spPr>
      </p:pic>
      <p:sp>
        <p:nvSpPr>
          <p:cNvPr id="87" name="Google Shape;87;p4"/>
          <p:cNvSpPr/>
          <p:nvPr/>
        </p:nvSpPr>
        <p:spPr>
          <a:xfrm>
            <a:off x="726207" y="3808437"/>
            <a:ext cx="1539701"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Raleway"/>
              <a:buNone/>
            </a:pPr>
            <a:r>
              <a:rPr b="0" i="0" lang="en-US" sz="1200" u="none" cap="none" strike="noStrike">
                <a:solidFill>
                  <a:srgbClr val="FFFFFF"/>
                </a:solidFill>
                <a:latin typeface="Raleway"/>
                <a:ea typeface="Raleway"/>
                <a:cs typeface="Raleway"/>
                <a:sym typeface="Raleway"/>
              </a:rPr>
              <a:t>Monthly Revenue</a:t>
            </a:r>
            <a:endParaRPr b="0" i="0" sz="1200" u="none" cap="none" strike="noStrike">
              <a:solidFill>
                <a:schemeClr val="dk1"/>
              </a:solidFill>
              <a:latin typeface="Calibri"/>
              <a:ea typeface="Calibri"/>
              <a:cs typeface="Calibri"/>
              <a:sym typeface="Calibri"/>
            </a:endParaRPr>
          </a:p>
        </p:txBody>
      </p:sp>
      <p:sp>
        <p:nvSpPr>
          <p:cNvPr id="88" name="Google Shape;88;p4"/>
          <p:cNvSpPr/>
          <p:nvPr/>
        </p:nvSpPr>
        <p:spPr>
          <a:xfrm>
            <a:off x="726207" y="4110782"/>
            <a:ext cx="1539701" cy="37207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FFFFFF"/>
              </a:buClr>
              <a:buSzPts val="950"/>
              <a:buFont typeface="Roboto"/>
              <a:buNone/>
            </a:pPr>
            <a:r>
              <a:rPr b="0" i="0" lang="en-US" sz="950" u="none" cap="none" strike="noStrike">
                <a:solidFill>
                  <a:srgbClr val="FFFFFF"/>
                </a:solidFill>
                <a:latin typeface="Roboto"/>
                <a:ea typeface="Roboto"/>
                <a:cs typeface="Roboto"/>
                <a:sym typeface="Roboto"/>
              </a:rPr>
              <a:t>~$100K / breakeven territory</a:t>
            </a:r>
            <a:endParaRPr b="0" i="0" sz="950" u="none" cap="none" strike="noStrike">
              <a:solidFill>
                <a:schemeClr val="dk1"/>
              </a:solidFill>
              <a:latin typeface="Calibri"/>
              <a:ea typeface="Calibri"/>
              <a:cs typeface="Calibri"/>
              <a:sym typeface="Calibri"/>
            </a:endParaRPr>
          </a:p>
        </p:txBody>
      </p:sp>
      <p:sp>
        <p:nvSpPr>
          <p:cNvPr id="89" name="Google Shape;89;p4"/>
          <p:cNvSpPr/>
          <p:nvPr/>
        </p:nvSpPr>
        <p:spPr>
          <a:xfrm>
            <a:off x="4728046" y="1607493"/>
            <a:ext cx="3924598" cy="1938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200"/>
              <a:buFont typeface="Raleway"/>
              <a:buNone/>
            </a:pPr>
            <a:r>
              <a:rPr b="0" i="0" lang="en-US" sz="1200" u="none" cap="none" strike="noStrike">
                <a:solidFill>
                  <a:srgbClr val="1B1B27"/>
                </a:solidFill>
                <a:latin typeface="Raleway"/>
                <a:ea typeface="Raleway"/>
                <a:cs typeface="Raleway"/>
                <a:sym typeface="Raleway"/>
              </a:rPr>
              <a:t>Key Realization</a:t>
            </a:r>
            <a:endParaRPr b="0" i="0" sz="1200" u="none" cap="none" strike="noStrike">
              <a:solidFill>
                <a:schemeClr val="dk1"/>
              </a:solidFill>
              <a:latin typeface="Calibri"/>
              <a:ea typeface="Calibri"/>
              <a:cs typeface="Calibri"/>
              <a:sym typeface="Calibri"/>
            </a:endParaRPr>
          </a:p>
        </p:txBody>
      </p:sp>
      <p:sp>
        <p:nvSpPr>
          <p:cNvPr id="90" name="Google Shape;90;p4"/>
          <p:cNvSpPr/>
          <p:nvPr/>
        </p:nvSpPr>
        <p:spPr>
          <a:xfrm>
            <a:off x="4728046" y="1909837"/>
            <a:ext cx="3924598" cy="744141"/>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3C3939"/>
              </a:buClr>
              <a:buSzPts val="950"/>
              <a:buFont typeface="Roboto"/>
              <a:buNone/>
            </a:pPr>
            <a:r>
              <a:rPr b="0" i="0" lang="en-US" sz="950" u="none" cap="none" strike="noStrike">
                <a:solidFill>
                  <a:srgbClr val="3C3939"/>
                </a:solidFill>
                <a:latin typeface="Roboto"/>
                <a:ea typeface="Roboto"/>
                <a:cs typeface="Roboto"/>
                <a:sym typeface="Roboto"/>
              </a:rPr>
              <a:t>The same audience was producing dramatically different outcomes depending on the call-center operation.The buyer's call-center operation was performing approximately 3–4× better than the original low-performing agent environment.</a:t>
            </a:r>
            <a:endParaRPr b="0" i="0" sz="950" u="none" cap="none" strike="noStrike">
              <a:solidFill>
                <a:schemeClr val="dk1"/>
              </a:solidFill>
              <a:latin typeface="Calibri"/>
              <a:ea typeface="Calibri"/>
              <a:cs typeface="Calibri"/>
              <a:sym typeface="Calibri"/>
            </a:endParaRPr>
          </a:p>
        </p:txBody>
      </p:sp>
      <p:sp>
        <p:nvSpPr>
          <p:cNvPr id="91" name="Google Shape;91;p4"/>
          <p:cNvSpPr/>
          <p:nvPr/>
        </p:nvSpPr>
        <p:spPr>
          <a:xfrm>
            <a:off x="4728046" y="2776017"/>
            <a:ext cx="3924598" cy="1001316"/>
          </a:xfrm>
          <a:prstGeom prst="roundRect">
            <a:avLst>
              <a:gd fmla="val 5203" name="adj"/>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2" name="Google Shape;92;p4"/>
          <p:cNvPicPr preferRelativeResize="0"/>
          <p:nvPr/>
        </p:nvPicPr>
        <p:blipFill rotWithShape="1">
          <a:blip r:embed="rId5">
            <a:alphaModFix/>
          </a:blip>
          <a:srcRect b="0" l="0" r="0" t="0"/>
          <a:stretch/>
        </p:blipFill>
        <p:spPr>
          <a:xfrm>
            <a:off x="4852020" y="2940323"/>
            <a:ext cx="155004" cy="123974"/>
          </a:xfrm>
          <a:prstGeom prst="rect">
            <a:avLst/>
          </a:prstGeom>
          <a:noFill/>
          <a:ln>
            <a:noFill/>
          </a:ln>
        </p:spPr>
      </p:pic>
      <p:sp>
        <p:nvSpPr>
          <p:cNvPr id="93" name="Google Shape;93;p4"/>
          <p:cNvSpPr/>
          <p:nvPr/>
        </p:nvSpPr>
        <p:spPr>
          <a:xfrm>
            <a:off x="5130998" y="2904604"/>
            <a:ext cx="3397672" cy="744141"/>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000000"/>
              </a:buClr>
              <a:buSzPts val="950"/>
              <a:buFont typeface="Roboto"/>
              <a:buNone/>
            </a:pPr>
            <a:r>
              <a:rPr b="0" i="0" lang="en-US" sz="950" u="none" cap="none" strike="noStrike">
                <a:solidFill>
                  <a:srgbClr val="000000"/>
                </a:solidFill>
                <a:latin typeface="Roboto"/>
                <a:ea typeface="Roboto"/>
                <a:cs typeface="Roboto"/>
                <a:sym typeface="Roboto"/>
              </a:rPr>
              <a:t>Media quality could not be evaluated independently from downstream call quality. The acquisition strategy had to optimize for the entire funnel—not just clicks or form submissions.</a:t>
            </a:r>
            <a:endParaRPr b="0" i="0" sz="950" u="none" cap="none" strike="noStrike">
              <a:solidFill>
                <a:schemeClr val="dk1"/>
              </a:solidFill>
              <a:latin typeface="Calibri"/>
              <a:ea typeface="Calibri"/>
              <a:cs typeface="Calibri"/>
              <a:sym typeface="Calibri"/>
            </a:endParaRPr>
          </a:p>
        </p:txBody>
      </p:sp>
      <p:sp>
        <p:nvSpPr>
          <p:cNvPr id="94" name="Google Shape;94;p4"/>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p:nvPr/>
        </p:nvSpPr>
        <p:spPr>
          <a:xfrm>
            <a:off x="4482875" y="2926311"/>
            <a:ext cx="4454400" cy="1131300"/>
          </a:xfrm>
          <a:prstGeom prst="roundRect">
            <a:avLst>
              <a:gd fmla="val 7751" name="adj"/>
            </a:avLst>
          </a:prstGeom>
          <a:solidFill>
            <a:srgbClr val="E1E1EA"/>
          </a:solidFill>
          <a:ln cap="flat" cmpd="sng" w="10650">
            <a:solidFill>
              <a:srgbClr val="C7C7D0"/>
            </a:solidFill>
            <a:prstDash val="solid"/>
            <a:round/>
            <a:headEnd len="sm" w="sm" type="none"/>
            <a:tailEnd len="sm" w="sm" type="none"/>
          </a:ln>
        </p:spPr>
        <p:txBody>
          <a:bodyPr anchorCtr="0" anchor="ctr" bIns="102150" lIns="102150" spcFirstLastPara="1" rIns="102150" wrap="square" tIns="102150">
            <a:noAutofit/>
          </a:bodyPr>
          <a:lstStyle/>
          <a:p>
            <a:pPr indent="0" lvl="0" marL="0" rtl="0" algn="just">
              <a:lnSpc>
                <a:spcPct val="101000"/>
              </a:lnSpc>
              <a:spcBef>
                <a:spcPts val="0"/>
              </a:spcBef>
              <a:spcAft>
                <a:spcPts val="0"/>
              </a:spcAft>
              <a:buNone/>
            </a:pPr>
            <a:r>
              <a:rPr lang="en-US" sz="800">
                <a:solidFill>
                  <a:srgbClr val="3C3939"/>
                </a:solidFill>
                <a:latin typeface="Roboto"/>
                <a:ea typeface="Roboto"/>
                <a:cs typeface="Roboto"/>
                <a:sym typeface="Roboto"/>
              </a:rPr>
              <a:t>1. </a:t>
            </a:r>
            <a:r>
              <a:rPr b="1" lang="en-US" sz="800">
                <a:solidFill>
                  <a:srgbClr val="3C3939"/>
                </a:solidFill>
                <a:latin typeface="Roboto"/>
                <a:ea typeface="Roboto"/>
                <a:cs typeface="Roboto"/>
                <a:sym typeface="Roboto"/>
              </a:rPr>
              <a:t>Calls:</a:t>
            </a:r>
            <a:r>
              <a:rPr lang="en-US" sz="800">
                <a:solidFill>
                  <a:srgbClr val="3C3939"/>
                </a:solidFill>
                <a:latin typeface="Roboto"/>
                <a:ea typeface="Roboto"/>
                <a:cs typeface="Roboto"/>
                <a:sym typeface="Roboto"/>
              </a:rPr>
              <a:t> All calls generated for the buyer, regardless of duration or conversion outcome.</a:t>
            </a:r>
            <a:endParaRPr sz="800">
              <a:solidFill>
                <a:srgbClr val="3C3939"/>
              </a:solidFill>
              <a:latin typeface="Roboto"/>
              <a:ea typeface="Roboto"/>
              <a:cs typeface="Roboto"/>
              <a:sym typeface="Roboto"/>
            </a:endParaRPr>
          </a:p>
          <a:p>
            <a:pPr indent="0" lvl="0" marL="0" rtl="0" algn="just">
              <a:lnSpc>
                <a:spcPct val="101000"/>
              </a:lnSpc>
              <a:spcBef>
                <a:spcPts val="0"/>
              </a:spcBef>
              <a:spcAft>
                <a:spcPts val="0"/>
              </a:spcAft>
              <a:buNone/>
            </a:pPr>
            <a:r>
              <a:rPr lang="en-US" sz="800">
                <a:solidFill>
                  <a:srgbClr val="3C3939"/>
                </a:solidFill>
                <a:latin typeface="Roboto"/>
                <a:ea typeface="Roboto"/>
                <a:cs typeface="Roboto"/>
                <a:sym typeface="Roboto"/>
              </a:rPr>
              <a:t>2. </a:t>
            </a:r>
            <a:r>
              <a:rPr b="1" lang="en-US" sz="800">
                <a:solidFill>
                  <a:srgbClr val="3C3939"/>
                </a:solidFill>
                <a:latin typeface="Roboto"/>
                <a:ea typeface="Roboto"/>
                <a:cs typeface="Roboto"/>
                <a:sym typeface="Roboto"/>
              </a:rPr>
              <a:t>Monetized Calls:</a:t>
            </a:r>
            <a:r>
              <a:rPr lang="en-US" sz="800">
                <a:solidFill>
                  <a:srgbClr val="3C3939"/>
                </a:solidFill>
                <a:latin typeface="Roboto"/>
                <a:ea typeface="Roboto"/>
                <a:cs typeface="Roboto"/>
                <a:sym typeface="Roboto"/>
              </a:rPr>
              <a:t> (8+ Minutes) Calls lasting at least eight minutes for which the buyer pays.</a:t>
            </a:r>
            <a:endParaRPr sz="800">
              <a:solidFill>
                <a:srgbClr val="3C3939"/>
              </a:solidFill>
              <a:latin typeface="Roboto"/>
              <a:ea typeface="Roboto"/>
              <a:cs typeface="Roboto"/>
              <a:sym typeface="Roboto"/>
            </a:endParaRPr>
          </a:p>
          <a:p>
            <a:pPr indent="0" lvl="0" marL="0" rtl="0" algn="just">
              <a:lnSpc>
                <a:spcPct val="101000"/>
              </a:lnSpc>
              <a:spcBef>
                <a:spcPts val="0"/>
              </a:spcBef>
              <a:spcAft>
                <a:spcPts val="0"/>
              </a:spcAft>
              <a:buNone/>
            </a:pPr>
            <a:r>
              <a:rPr lang="en-US" sz="800">
                <a:solidFill>
                  <a:srgbClr val="3C3939"/>
                </a:solidFill>
                <a:latin typeface="Roboto"/>
                <a:ea typeface="Roboto"/>
                <a:cs typeface="Roboto"/>
                <a:sym typeface="Roboto"/>
              </a:rPr>
              <a:t>3. </a:t>
            </a:r>
            <a:r>
              <a:rPr b="1" lang="en-US" sz="800">
                <a:solidFill>
                  <a:srgbClr val="3C3939"/>
                </a:solidFill>
                <a:latin typeface="Roboto"/>
                <a:ea typeface="Roboto"/>
                <a:cs typeface="Roboto"/>
                <a:sym typeface="Roboto"/>
              </a:rPr>
              <a:t>Qualified Leads: </a:t>
            </a:r>
            <a:r>
              <a:rPr lang="en-US" sz="800">
                <a:solidFill>
                  <a:srgbClr val="3C3939"/>
                </a:solidFill>
                <a:latin typeface="Roboto"/>
                <a:ea typeface="Roboto"/>
                <a:cs typeface="Roboto"/>
                <a:sym typeface="Roboto"/>
              </a:rPr>
              <a:t>Monetized calls that complete the required qualification process and convert into customers for the buyer.</a:t>
            </a:r>
            <a:endParaRPr sz="800">
              <a:solidFill>
                <a:srgbClr val="3C3939"/>
              </a:solidFill>
              <a:latin typeface="Roboto"/>
              <a:ea typeface="Roboto"/>
              <a:cs typeface="Roboto"/>
              <a:sym typeface="Roboto"/>
            </a:endParaRPr>
          </a:p>
          <a:p>
            <a:pPr indent="0" lvl="0" marL="0" rtl="0" algn="just">
              <a:lnSpc>
                <a:spcPct val="101000"/>
              </a:lnSpc>
              <a:spcBef>
                <a:spcPts val="0"/>
              </a:spcBef>
              <a:spcAft>
                <a:spcPts val="0"/>
              </a:spcAft>
              <a:buNone/>
            </a:pPr>
            <a:r>
              <a:rPr lang="en-US" sz="800">
                <a:solidFill>
                  <a:srgbClr val="3C3939"/>
                </a:solidFill>
                <a:latin typeface="Roboto"/>
                <a:ea typeface="Roboto"/>
                <a:cs typeface="Roboto"/>
                <a:sym typeface="Roboto"/>
              </a:rPr>
              <a:t>4. </a:t>
            </a:r>
            <a:r>
              <a:rPr b="1" lang="en-US" sz="800">
                <a:solidFill>
                  <a:srgbClr val="3C3939"/>
                </a:solidFill>
                <a:latin typeface="Roboto"/>
                <a:ea typeface="Roboto"/>
                <a:cs typeface="Roboto"/>
                <a:sym typeface="Roboto"/>
              </a:rPr>
              <a:t>CPA Measurement:</a:t>
            </a:r>
            <a:r>
              <a:rPr lang="en-US" sz="800">
                <a:solidFill>
                  <a:srgbClr val="3C3939"/>
                </a:solidFill>
                <a:latin typeface="Roboto"/>
                <a:ea typeface="Roboto"/>
                <a:cs typeface="Roboto"/>
                <a:sym typeface="Roboto"/>
              </a:rPr>
              <a:t> CPA is calculated as total acquisition spend divided by the number of qualified leads (or guaranteed qualified leads, if that is the contractual measurement basis).</a:t>
            </a:r>
            <a:endParaRPr sz="800">
              <a:solidFill>
                <a:srgbClr val="3C3939"/>
              </a:solidFill>
              <a:latin typeface="Roboto"/>
              <a:ea typeface="Roboto"/>
              <a:cs typeface="Roboto"/>
              <a:sym typeface="Roboto"/>
            </a:endParaRPr>
          </a:p>
        </p:txBody>
      </p:sp>
      <p:sp>
        <p:nvSpPr>
          <p:cNvPr id="101" name="Google Shape;101;p5"/>
          <p:cNvSpPr/>
          <p:nvPr/>
        </p:nvSpPr>
        <p:spPr>
          <a:xfrm>
            <a:off x="496119" y="393576"/>
            <a:ext cx="8151763" cy="22845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400"/>
              <a:buFont typeface="Raleway"/>
              <a:buNone/>
            </a:pPr>
            <a:r>
              <a:rPr b="0" i="0" lang="en-US" sz="1400" u="none" cap="none" strike="noStrike">
                <a:solidFill>
                  <a:srgbClr val="1B1B27"/>
                </a:solidFill>
                <a:latin typeface="Raleway"/>
                <a:ea typeface="Raleway"/>
                <a:cs typeface="Raleway"/>
                <a:sym typeface="Raleway"/>
              </a:rPr>
              <a:t>The Transformation: Before vs. After</a:t>
            </a:r>
            <a:endParaRPr b="0" i="0" sz="1400" u="none" cap="none" strike="noStrike">
              <a:solidFill>
                <a:schemeClr val="dk1"/>
              </a:solidFill>
              <a:latin typeface="Calibri"/>
              <a:ea typeface="Calibri"/>
              <a:cs typeface="Calibri"/>
              <a:sym typeface="Calibri"/>
            </a:endParaRPr>
          </a:p>
        </p:txBody>
      </p:sp>
      <p:pic>
        <p:nvPicPr>
          <p:cNvPr descr="preencoded.png" id="102" name="Google Shape;102;p5"/>
          <p:cNvPicPr preferRelativeResize="0"/>
          <p:nvPr/>
        </p:nvPicPr>
        <p:blipFill rotWithShape="1">
          <a:blip r:embed="rId3">
            <a:alphaModFix/>
          </a:blip>
          <a:srcRect b="0" l="0" r="0" t="0"/>
          <a:stretch/>
        </p:blipFill>
        <p:spPr>
          <a:xfrm>
            <a:off x="496119" y="720849"/>
            <a:ext cx="3986733" cy="3986733"/>
          </a:xfrm>
          <a:prstGeom prst="rect">
            <a:avLst/>
          </a:prstGeom>
          <a:noFill/>
          <a:ln>
            <a:noFill/>
          </a:ln>
        </p:spPr>
      </p:pic>
      <p:sp>
        <p:nvSpPr>
          <p:cNvPr id="103" name="Google Shape;103;p5"/>
          <p:cNvSpPr/>
          <p:nvPr/>
        </p:nvSpPr>
        <p:spPr>
          <a:xfrm>
            <a:off x="4482850" y="393575"/>
            <a:ext cx="4454400" cy="276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782"/>
              <a:buFont typeface="Raleway"/>
              <a:buNone/>
            </a:pPr>
            <a:r>
              <a:rPr b="0" i="0" lang="en-US" sz="1450" u="none" cap="none" strike="noStrike">
                <a:solidFill>
                  <a:srgbClr val="1B1B27"/>
                </a:solidFill>
                <a:latin typeface="Raleway"/>
                <a:ea typeface="Raleway"/>
                <a:cs typeface="Raleway"/>
                <a:sym typeface="Raleway"/>
              </a:rPr>
              <a:t>Scale Achieved in ~4 Months</a:t>
            </a:r>
            <a:endParaRPr b="0" i="0" sz="1450" u="none" cap="none" strike="noStrike">
              <a:solidFill>
                <a:schemeClr val="dk1"/>
              </a:solidFill>
              <a:latin typeface="Calibri"/>
              <a:ea typeface="Calibri"/>
              <a:cs typeface="Calibri"/>
              <a:sym typeface="Calibri"/>
            </a:endParaRPr>
          </a:p>
        </p:txBody>
      </p:sp>
      <p:sp>
        <p:nvSpPr>
          <p:cNvPr id="104" name="Google Shape;104;p5"/>
          <p:cNvSpPr/>
          <p:nvPr/>
        </p:nvSpPr>
        <p:spPr>
          <a:xfrm>
            <a:off x="4482850" y="717598"/>
            <a:ext cx="2206200" cy="576600"/>
          </a:xfrm>
          <a:prstGeom prst="roundRect">
            <a:avLst>
              <a:gd fmla="val 7751" name="adj"/>
            </a:avLst>
          </a:prstGeom>
          <a:solidFill>
            <a:srgbClr val="E1E1EA"/>
          </a:solidFill>
          <a:ln cap="flat" cmpd="sng" w="10650">
            <a:solidFill>
              <a:srgbClr val="C7C7D0"/>
            </a:solidFill>
            <a:prstDash val="solid"/>
            <a:round/>
            <a:headEnd len="sm" w="sm" type="none"/>
            <a:tailEnd len="sm" w="sm" type="none"/>
          </a:ln>
        </p:spPr>
        <p:txBody>
          <a:bodyPr anchorCtr="0" anchor="ctr" bIns="102150" lIns="102150" spcFirstLastPara="1" rIns="102150" wrap="square" tIns="102150">
            <a:noAutofit/>
          </a:bodyPr>
          <a:lstStyle/>
          <a:p>
            <a:pPr indent="0" lvl="0" marL="0" rtl="0" algn="l">
              <a:spcBef>
                <a:spcPts val="0"/>
              </a:spcBef>
              <a:spcAft>
                <a:spcPts val="0"/>
              </a:spcAft>
              <a:buNone/>
            </a:pPr>
            <a:r>
              <a:t/>
            </a:r>
            <a:endParaRPr/>
          </a:p>
        </p:txBody>
      </p:sp>
      <p:sp>
        <p:nvSpPr>
          <p:cNvPr id="105" name="Google Shape;105;p5"/>
          <p:cNvSpPr/>
          <p:nvPr/>
        </p:nvSpPr>
        <p:spPr>
          <a:xfrm>
            <a:off x="4569818" y="804575"/>
            <a:ext cx="2032500" cy="127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782"/>
              <a:buFont typeface="Raleway"/>
              <a:buNone/>
            </a:pPr>
            <a:r>
              <a:rPr b="0" i="0" lang="en-US" sz="1182" u="none" cap="none" strike="noStrike">
                <a:solidFill>
                  <a:srgbClr val="3C3939"/>
                </a:solidFill>
                <a:latin typeface="Raleway"/>
                <a:ea typeface="Raleway"/>
                <a:cs typeface="Raleway"/>
                <a:sym typeface="Raleway"/>
              </a:rPr>
              <a:t>~5×</a:t>
            </a:r>
            <a:endParaRPr b="0" i="0" sz="1182" u="none" cap="none" strike="noStrike">
              <a:solidFill>
                <a:schemeClr val="dk1"/>
              </a:solidFill>
              <a:latin typeface="Calibri"/>
              <a:ea typeface="Calibri"/>
              <a:cs typeface="Calibri"/>
              <a:sym typeface="Calibri"/>
            </a:endParaRPr>
          </a:p>
        </p:txBody>
      </p:sp>
      <p:sp>
        <p:nvSpPr>
          <p:cNvPr id="106" name="Google Shape;106;p5"/>
          <p:cNvSpPr/>
          <p:nvPr/>
        </p:nvSpPr>
        <p:spPr>
          <a:xfrm>
            <a:off x="4569825" y="1019875"/>
            <a:ext cx="2032500" cy="152400"/>
          </a:xfrm>
          <a:prstGeom prst="rect">
            <a:avLst/>
          </a:prstGeom>
          <a:noFill/>
          <a:ln>
            <a:noFill/>
          </a:ln>
        </p:spPr>
        <p:txBody>
          <a:bodyPr anchorCtr="0" anchor="t" bIns="0" lIns="0" spcFirstLastPara="1" rIns="0" wrap="square" tIns="0">
            <a:noAutofit/>
          </a:bodyPr>
          <a:lstStyle/>
          <a:p>
            <a:pPr indent="0" lvl="0" marL="0" marR="0" rtl="0" algn="l">
              <a:lnSpc>
                <a:spcPct val="101000"/>
              </a:lnSpc>
              <a:spcBef>
                <a:spcPts val="0"/>
              </a:spcBef>
              <a:spcAft>
                <a:spcPts val="0"/>
              </a:spcAft>
              <a:buClr>
                <a:srgbClr val="3C3939"/>
              </a:buClr>
              <a:buSzPts val="615"/>
              <a:buFont typeface="Roboto"/>
              <a:buNone/>
            </a:pPr>
            <a:r>
              <a:rPr b="0" i="0" lang="en-US" sz="815" u="none" cap="none" strike="noStrike">
                <a:solidFill>
                  <a:srgbClr val="3C3939"/>
                </a:solidFill>
                <a:latin typeface="Roboto"/>
                <a:ea typeface="Roboto"/>
                <a:cs typeface="Roboto"/>
                <a:sym typeface="Roboto"/>
              </a:rPr>
              <a:t>Lead-volume increase</a:t>
            </a:r>
            <a:endParaRPr b="0" i="0" sz="815" u="none" cap="none" strike="noStrike">
              <a:solidFill>
                <a:schemeClr val="dk1"/>
              </a:solidFill>
              <a:latin typeface="Calibri"/>
              <a:ea typeface="Calibri"/>
              <a:cs typeface="Calibri"/>
              <a:sym typeface="Calibri"/>
            </a:endParaRPr>
          </a:p>
        </p:txBody>
      </p:sp>
      <p:sp>
        <p:nvSpPr>
          <p:cNvPr id="107" name="Google Shape;107;p5"/>
          <p:cNvSpPr/>
          <p:nvPr/>
        </p:nvSpPr>
        <p:spPr>
          <a:xfrm>
            <a:off x="6731050" y="717598"/>
            <a:ext cx="2206200" cy="576600"/>
          </a:xfrm>
          <a:prstGeom prst="roundRect">
            <a:avLst>
              <a:gd fmla="val 7751" name="adj"/>
            </a:avLst>
          </a:prstGeom>
          <a:solidFill>
            <a:srgbClr val="E1E1EA"/>
          </a:solidFill>
          <a:ln cap="flat" cmpd="sng" w="10650">
            <a:solidFill>
              <a:srgbClr val="C7C7D0"/>
            </a:solidFill>
            <a:prstDash val="solid"/>
            <a:round/>
            <a:headEnd len="sm" w="sm" type="none"/>
            <a:tailEnd len="sm" w="sm" type="none"/>
          </a:ln>
        </p:spPr>
        <p:txBody>
          <a:bodyPr anchorCtr="0" anchor="ctr" bIns="102150" lIns="102150" spcFirstLastPara="1" rIns="102150" wrap="square" tIns="102150">
            <a:noAutofit/>
          </a:bodyPr>
          <a:lstStyle/>
          <a:p>
            <a:pPr indent="0" lvl="0" marL="0" rtl="0" algn="l">
              <a:spcBef>
                <a:spcPts val="0"/>
              </a:spcBef>
              <a:spcAft>
                <a:spcPts val="0"/>
              </a:spcAft>
              <a:buNone/>
            </a:pPr>
            <a:r>
              <a:t/>
            </a:r>
            <a:endParaRPr/>
          </a:p>
        </p:txBody>
      </p:sp>
      <p:sp>
        <p:nvSpPr>
          <p:cNvPr id="108" name="Google Shape;108;p5"/>
          <p:cNvSpPr/>
          <p:nvPr/>
        </p:nvSpPr>
        <p:spPr>
          <a:xfrm>
            <a:off x="6818006" y="804575"/>
            <a:ext cx="2032500" cy="127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782"/>
              <a:buFont typeface="Raleway"/>
              <a:buNone/>
            </a:pPr>
            <a:r>
              <a:rPr b="0" i="0" lang="en-US" sz="1182" u="none" cap="none" strike="noStrike">
                <a:solidFill>
                  <a:srgbClr val="3C3939"/>
                </a:solidFill>
                <a:latin typeface="Raleway"/>
                <a:ea typeface="Raleway"/>
                <a:cs typeface="Raleway"/>
                <a:sym typeface="Raleway"/>
              </a:rPr>
              <a:t>~5×</a:t>
            </a:r>
            <a:endParaRPr b="0" i="0" sz="1182" u="none" cap="none" strike="noStrike">
              <a:solidFill>
                <a:schemeClr val="dk1"/>
              </a:solidFill>
              <a:latin typeface="Calibri"/>
              <a:ea typeface="Calibri"/>
              <a:cs typeface="Calibri"/>
              <a:sym typeface="Calibri"/>
            </a:endParaRPr>
          </a:p>
        </p:txBody>
      </p:sp>
      <p:sp>
        <p:nvSpPr>
          <p:cNvPr id="109" name="Google Shape;109;p5"/>
          <p:cNvSpPr/>
          <p:nvPr/>
        </p:nvSpPr>
        <p:spPr>
          <a:xfrm>
            <a:off x="6818000" y="1048677"/>
            <a:ext cx="2032500" cy="99000"/>
          </a:xfrm>
          <a:prstGeom prst="rect">
            <a:avLst/>
          </a:prstGeom>
          <a:noFill/>
          <a:ln>
            <a:noFill/>
          </a:ln>
        </p:spPr>
        <p:txBody>
          <a:bodyPr anchorCtr="0" anchor="t" bIns="0" lIns="0" spcFirstLastPara="1" rIns="0" wrap="square" tIns="0">
            <a:noAutofit/>
          </a:bodyPr>
          <a:lstStyle/>
          <a:p>
            <a:pPr indent="0" lvl="0" marL="0" marR="0" rtl="0" algn="l">
              <a:lnSpc>
                <a:spcPct val="101000"/>
              </a:lnSpc>
              <a:spcBef>
                <a:spcPts val="0"/>
              </a:spcBef>
              <a:spcAft>
                <a:spcPts val="0"/>
              </a:spcAft>
              <a:buClr>
                <a:srgbClr val="3C3939"/>
              </a:buClr>
              <a:buSzPts val="615"/>
              <a:buFont typeface="Roboto"/>
              <a:buNone/>
            </a:pPr>
            <a:r>
              <a:rPr b="0" i="0" lang="en-US" sz="815" u="none" cap="none" strike="noStrike">
                <a:solidFill>
                  <a:srgbClr val="3C3939"/>
                </a:solidFill>
                <a:latin typeface="Roboto"/>
                <a:ea typeface="Roboto"/>
                <a:cs typeface="Roboto"/>
                <a:sym typeface="Roboto"/>
              </a:rPr>
              <a:t>Daily spend increase</a:t>
            </a:r>
            <a:endParaRPr b="0" i="0" sz="815" u="none" cap="none" strike="noStrike">
              <a:solidFill>
                <a:schemeClr val="dk1"/>
              </a:solidFill>
              <a:latin typeface="Calibri"/>
              <a:ea typeface="Calibri"/>
              <a:cs typeface="Calibri"/>
              <a:sym typeface="Calibri"/>
            </a:endParaRPr>
          </a:p>
        </p:txBody>
      </p:sp>
      <p:sp>
        <p:nvSpPr>
          <p:cNvPr id="110" name="Google Shape;110;p5"/>
          <p:cNvSpPr/>
          <p:nvPr/>
        </p:nvSpPr>
        <p:spPr>
          <a:xfrm>
            <a:off x="4482875" y="1422038"/>
            <a:ext cx="4454400" cy="532200"/>
          </a:xfrm>
          <a:prstGeom prst="roundRect">
            <a:avLst>
              <a:gd fmla="val 7751" name="adj"/>
            </a:avLst>
          </a:prstGeom>
          <a:solidFill>
            <a:srgbClr val="E1E1EA"/>
          </a:solidFill>
          <a:ln cap="flat" cmpd="sng" w="10650">
            <a:solidFill>
              <a:srgbClr val="C7C7D0"/>
            </a:solidFill>
            <a:prstDash val="solid"/>
            <a:round/>
            <a:headEnd len="sm" w="sm" type="none"/>
            <a:tailEnd len="sm" w="sm" type="none"/>
          </a:ln>
        </p:spPr>
        <p:txBody>
          <a:bodyPr anchorCtr="0" anchor="ctr" bIns="102150" lIns="102150" spcFirstLastPara="1" rIns="102150" wrap="square" tIns="102150">
            <a:noAutofit/>
          </a:bodyPr>
          <a:lstStyle/>
          <a:p>
            <a:pPr indent="0" lvl="0" marL="0" rtl="0" algn="l">
              <a:spcBef>
                <a:spcPts val="0"/>
              </a:spcBef>
              <a:spcAft>
                <a:spcPts val="0"/>
              </a:spcAft>
              <a:buNone/>
            </a:pPr>
            <a:r>
              <a:t/>
            </a:r>
            <a:endParaRPr/>
          </a:p>
        </p:txBody>
      </p:sp>
      <p:sp>
        <p:nvSpPr>
          <p:cNvPr id="111" name="Google Shape;111;p5"/>
          <p:cNvSpPr/>
          <p:nvPr/>
        </p:nvSpPr>
        <p:spPr>
          <a:xfrm>
            <a:off x="4569893" y="1596727"/>
            <a:ext cx="4280400" cy="127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782"/>
              <a:buFont typeface="Raleway"/>
              <a:buNone/>
            </a:pPr>
            <a:r>
              <a:rPr b="0" i="0" lang="en-US" sz="1150" u="none" cap="none" strike="noStrike">
                <a:solidFill>
                  <a:srgbClr val="3C3939"/>
                </a:solidFill>
                <a:latin typeface="Raleway"/>
                <a:ea typeface="Raleway"/>
                <a:cs typeface="Raleway"/>
                <a:sym typeface="Raleway"/>
              </a:rPr>
              <a:t>~7×</a:t>
            </a:r>
            <a:endParaRPr b="0" i="0" sz="1150" u="none" cap="none" strike="noStrike">
              <a:solidFill>
                <a:schemeClr val="dk1"/>
              </a:solidFill>
              <a:latin typeface="Calibri"/>
              <a:ea typeface="Calibri"/>
              <a:cs typeface="Calibri"/>
              <a:sym typeface="Calibri"/>
            </a:endParaRPr>
          </a:p>
        </p:txBody>
      </p:sp>
      <p:sp>
        <p:nvSpPr>
          <p:cNvPr id="112" name="Google Shape;112;p5"/>
          <p:cNvSpPr/>
          <p:nvPr/>
        </p:nvSpPr>
        <p:spPr>
          <a:xfrm>
            <a:off x="4569893" y="1766422"/>
            <a:ext cx="4280400" cy="99000"/>
          </a:xfrm>
          <a:prstGeom prst="rect">
            <a:avLst/>
          </a:prstGeom>
          <a:noFill/>
          <a:ln>
            <a:noFill/>
          </a:ln>
        </p:spPr>
        <p:txBody>
          <a:bodyPr anchorCtr="0" anchor="t" bIns="0" lIns="0" spcFirstLastPara="1" rIns="0" wrap="square" tIns="0">
            <a:noAutofit/>
          </a:bodyPr>
          <a:lstStyle/>
          <a:p>
            <a:pPr indent="0" lvl="0" marL="0" marR="0" rtl="0" algn="l">
              <a:lnSpc>
                <a:spcPct val="101000"/>
              </a:lnSpc>
              <a:spcBef>
                <a:spcPts val="0"/>
              </a:spcBef>
              <a:spcAft>
                <a:spcPts val="0"/>
              </a:spcAft>
              <a:buClr>
                <a:srgbClr val="3C3939"/>
              </a:buClr>
              <a:buSzPts val="615"/>
              <a:buFont typeface="Roboto"/>
              <a:buNone/>
            </a:pPr>
            <a:r>
              <a:rPr b="0" i="0" lang="en-US" sz="815" u="none" cap="none" strike="noStrike">
                <a:solidFill>
                  <a:srgbClr val="3C3939"/>
                </a:solidFill>
                <a:latin typeface="Roboto"/>
                <a:ea typeface="Roboto"/>
                <a:cs typeface="Roboto"/>
                <a:sym typeface="Roboto"/>
              </a:rPr>
              <a:t>Monthly revenue increase</a:t>
            </a:r>
            <a:endParaRPr b="0" i="0" sz="1215" u="none" cap="none" strike="noStrike">
              <a:solidFill>
                <a:schemeClr val="dk1"/>
              </a:solidFill>
              <a:latin typeface="Calibri"/>
              <a:ea typeface="Calibri"/>
              <a:cs typeface="Calibri"/>
              <a:sym typeface="Calibri"/>
            </a:endParaRPr>
          </a:p>
        </p:txBody>
      </p:sp>
      <p:sp>
        <p:nvSpPr>
          <p:cNvPr id="113" name="Google Shape;113;p5"/>
          <p:cNvSpPr/>
          <p:nvPr/>
        </p:nvSpPr>
        <p:spPr>
          <a:xfrm>
            <a:off x="4482875" y="4132371"/>
            <a:ext cx="4965000" cy="152400"/>
          </a:xfrm>
          <a:prstGeom prst="rect">
            <a:avLst/>
          </a:prstGeom>
          <a:noFill/>
          <a:ln>
            <a:noFill/>
          </a:ln>
        </p:spPr>
        <p:txBody>
          <a:bodyPr anchorCtr="0" anchor="t" bIns="0" lIns="0" spcFirstLastPara="1" rIns="0" wrap="square" tIns="0">
            <a:noAutofit/>
          </a:bodyPr>
          <a:lstStyle/>
          <a:p>
            <a:pPr indent="0" lvl="0" marL="0" marR="0" rtl="0" algn="l">
              <a:lnSpc>
                <a:spcPct val="101000"/>
              </a:lnSpc>
              <a:spcBef>
                <a:spcPts val="0"/>
              </a:spcBef>
              <a:spcAft>
                <a:spcPts val="0"/>
              </a:spcAft>
              <a:buClr>
                <a:srgbClr val="3C3939"/>
              </a:buClr>
              <a:buSzPts val="615"/>
              <a:buFont typeface="Roboto"/>
              <a:buNone/>
            </a:pPr>
            <a:r>
              <a:rPr b="0" i="1" lang="en-US" sz="615" u="none" cap="none" strike="noStrike">
                <a:solidFill>
                  <a:srgbClr val="3C3939"/>
                </a:solidFill>
                <a:latin typeface="Roboto"/>
                <a:ea typeface="Roboto"/>
                <a:cs typeface="Roboto"/>
                <a:sym typeface="Roboto"/>
              </a:rPr>
              <a:t>Figures are approximate/rounded where required for confidentiality.</a:t>
            </a:r>
            <a:endParaRPr b="0" i="0" sz="615" u="none" cap="none" strike="noStrike">
              <a:solidFill>
                <a:schemeClr val="dk1"/>
              </a:solidFill>
              <a:latin typeface="Calibri"/>
              <a:ea typeface="Calibri"/>
              <a:cs typeface="Calibri"/>
              <a:sym typeface="Calibri"/>
            </a:endParaRPr>
          </a:p>
        </p:txBody>
      </p:sp>
      <p:sp>
        <p:nvSpPr>
          <p:cNvPr id="114" name="Google Shape;114;p5"/>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5"/>
          <p:cNvSpPr txBox="1"/>
          <p:nvPr/>
        </p:nvSpPr>
        <p:spPr>
          <a:xfrm>
            <a:off x="1790275" y="1809050"/>
            <a:ext cx="534000" cy="3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00"/>
              <a:t>Qualified</a:t>
            </a:r>
            <a:endParaRPr sz="400"/>
          </a:p>
        </p:txBody>
      </p:sp>
      <p:sp>
        <p:nvSpPr>
          <p:cNvPr id="116" name="Google Shape;116;p5"/>
          <p:cNvSpPr txBox="1"/>
          <p:nvPr/>
        </p:nvSpPr>
        <p:spPr>
          <a:xfrm>
            <a:off x="3343475" y="1809050"/>
            <a:ext cx="5340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600">
                <a:solidFill>
                  <a:schemeClr val="dk1"/>
                </a:solidFill>
              </a:rPr>
              <a:t>Qualified</a:t>
            </a:r>
            <a:endParaRPr sz="400">
              <a:solidFill>
                <a:schemeClr val="dk1"/>
              </a:solidFill>
            </a:endParaRPr>
          </a:p>
        </p:txBody>
      </p:sp>
      <p:sp>
        <p:nvSpPr>
          <p:cNvPr id="117" name="Google Shape;117;p5"/>
          <p:cNvSpPr/>
          <p:nvPr/>
        </p:nvSpPr>
        <p:spPr>
          <a:xfrm>
            <a:off x="4482875" y="2082076"/>
            <a:ext cx="4454400" cy="711300"/>
          </a:xfrm>
          <a:prstGeom prst="roundRect">
            <a:avLst>
              <a:gd fmla="val 7751" name="adj"/>
            </a:avLst>
          </a:prstGeom>
          <a:solidFill>
            <a:srgbClr val="E1E1EA"/>
          </a:solidFill>
          <a:ln cap="flat" cmpd="sng" w="10650">
            <a:solidFill>
              <a:srgbClr val="C7C7D0"/>
            </a:solidFill>
            <a:prstDash val="solid"/>
            <a:round/>
            <a:headEnd len="sm" w="sm" type="none"/>
            <a:tailEnd len="sm" w="sm" type="none"/>
          </a:ln>
        </p:spPr>
        <p:txBody>
          <a:bodyPr anchorCtr="0" anchor="ctr" bIns="102150" lIns="102150" spcFirstLastPara="1" rIns="102150" wrap="square" tIns="102150">
            <a:noAutofit/>
          </a:bodyPr>
          <a:lstStyle/>
          <a:p>
            <a:pPr indent="0" lvl="0" marL="0" rtl="0" algn="just">
              <a:lnSpc>
                <a:spcPct val="101000"/>
              </a:lnSpc>
              <a:spcBef>
                <a:spcPts val="0"/>
              </a:spcBef>
              <a:spcAft>
                <a:spcPts val="0"/>
              </a:spcAft>
              <a:buClr>
                <a:srgbClr val="3C3939"/>
              </a:buClr>
              <a:buSzPts val="550"/>
              <a:buFont typeface="Roboto"/>
              <a:buNone/>
            </a:pPr>
            <a:r>
              <a:rPr lang="en-US" sz="815">
                <a:solidFill>
                  <a:srgbClr val="3C3939"/>
                </a:solidFill>
                <a:latin typeface="Roboto"/>
                <a:ea typeface="Roboto"/>
                <a:cs typeface="Roboto"/>
                <a:sym typeface="Roboto"/>
              </a:rPr>
              <a:t>Monetized Calls are calls for which the buyer has paid us. Qualified Leads, on the other hand, are leads that remain engaged throughout the entire offline conversion process and ultimately convert into customers for the buyer. Therefore, every Qualified Lead is a Monetized Call, but not every Monetized Call qualifies as a Qualified Lead.</a:t>
            </a:r>
            <a:endParaRPr sz="815">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p:nvPr/>
        </p:nvSpPr>
        <p:spPr>
          <a:xfrm>
            <a:off x="496119" y="407417"/>
            <a:ext cx="8151763" cy="31834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000"/>
              <a:buFont typeface="Raleway"/>
              <a:buNone/>
            </a:pPr>
            <a:r>
              <a:rPr b="0" i="0" lang="en-US" sz="2000" u="none" cap="none" strike="noStrike">
                <a:solidFill>
                  <a:srgbClr val="1B1B27"/>
                </a:solidFill>
                <a:latin typeface="Raleway"/>
                <a:ea typeface="Raleway"/>
                <a:cs typeface="Raleway"/>
                <a:sym typeface="Raleway"/>
              </a:rPr>
              <a:t>The Breakthrough: Creative as a Qualification Layer</a:t>
            </a:r>
            <a:endParaRPr b="0" i="0" sz="2000" u="none" cap="none" strike="noStrike">
              <a:solidFill>
                <a:schemeClr val="dk1"/>
              </a:solidFill>
              <a:latin typeface="Calibri"/>
              <a:ea typeface="Calibri"/>
              <a:cs typeface="Calibri"/>
              <a:sym typeface="Calibri"/>
            </a:endParaRPr>
          </a:p>
        </p:txBody>
      </p:sp>
      <p:sp>
        <p:nvSpPr>
          <p:cNvPr id="124" name="Google Shape;124;p6"/>
          <p:cNvSpPr/>
          <p:nvPr/>
        </p:nvSpPr>
        <p:spPr>
          <a:xfrm>
            <a:off x="496119" y="872207"/>
            <a:ext cx="8151763" cy="50251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C3939"/>
              </a:buClr>
              <a:buSzPts val="800"/>
              <a:buFont typeface="Roboto"/>
              <a:buNone/>
            </a:pPr>
            <a:r>
              <a:rPr b="0" i="0" lang="en-US" sz="800" u="none" cap="none" strike="noStrike">
                <a:solidFill>
                  <a:srgbClr val="3C3939"/>
                </a:solidFill>
                <a:latin typeface="Roboto"/>
                <a:ea typeface="Roboto"/>
                <a:cs typeface="Roboto"/>
                <a:sym typeface="Roboto"/>
              </a:rPr>
              <a:t>The biggest breakthrough was not simply finding cheaper traffic. It was understanding that </a:t>
            </a:r>
            <a:r>
              <a:rPr b="1" i="0" lang="en-US" sz="800" u="none" cap="none" strike="noStrike">
                <a:solidFill>
                  <a:srgbClr val="3C3939"/>
                </a:solidFill>
                <a:latin typeface="Roboto"/>
                <a:ea typeface="Roboto"/>
                <a:cs typeface="Roboto"/>
                <a:sym typeface="Roboto"/>
              </a:rPr>
              <a:t>the ad itself could help pre-qualify the audience.</a:t>
            </a:r>
            <a:endParaRPr b="0" i="0" sz="800" u="none" cap="none" strike="noStrike">
              <a:solidFill>
                <a:schemeClr val="dk1"/>
              </a:solidFill>
              <a:latin typeface="Calibri"/>
              <a:ea typeface="Calibri"/>
              <a:cs typeface="Calibri"/>
              <a:sym typeface="Calibri"/>
            </a:endParaRPr>
          </a:p>
          <a:p>
            <a:pPr indent="0" lvl="0" marL="0" marR="0" rtl="0" algn="l">
              <a:lnSpc>
                <a:spcPct val="115000"/>
              </a:lnSpc>
              <a:spcBef>
                <a:spcPts val="600"/>
              </a:spcBef>
              <a:spcAft>
                <a:spcPts val="0"/>
              </a:spcAft>
              <a:buClr>
                <a:srgbClr val="3C3939"/>
              </a:buClr>
              <a:buSzPts val="800"/>
              <a:buFont typeface="Roboto"/>
              <a:buNone/>
            </a:pPr>
            <a:r>
              <a:rPr b="0" i="0" lang="en-US" sz="800" u="none" cap="none" strike="noStrike">
                <a:solidFill>
                  <a:srgbClr val="3C3939"/>
                </a:solidFill>
                <a:latin typeface="Roboto"/>
                <a:ea typeface="Roboto"/>
                <a:cs typeface="Roboto"/>
                <a:sym typeface="Roboto"/>
              </a:rPr>
              <a:t>The buyer had a clear demand for consumers carrying </a:t>
            </a:r>
            <a:r>
              <a:rPr b="1" i="0" lang="en-US" sz="800" u="none" cap="none" strike="noStrike">
                <a:solidFill>
                  <a:srgbClr val="3C3939"/>
                </a:solidFill>
                <a:latin typeface="Roboto"/>
                <a:ea typeface="Roboto"/>
                <a:cs typeface="Roboto"/>
                <a:sym typeface="Roboto"/>
              </a:rPr>
              <a:t>$15K+ in debt.</a:t>
            </a:r>
            <a:r>
              <a:rPr b="0" i="0" lang="en-US" sz="800" u="none" cap="none" strike="noStrike">
                <a:solidFill>
                  <a:srgbClr val="3C3939"/>
                </a:solidFill>
                <a:latin typeface="Roboto"/>
                <a:ea typeface="Roboto"/>
                <a:cs typeface="Roboto"/>
                <a:sym typeface="Roboto"/>
              </a:rPr>
              <a:t> Instead of optimizing exclusively for maximum call volume, we developed a proprietary creative framework designed to attract the buyer's preferred audience.</a:t>
            </a:r>
            <a:endParaRPr b="0" i="0" sz="800" u="none" cap="none" strike="noStrike">
              <a:solidFill>
                <a:schemeClr val="dk1"/>
              </a:solidFill>
              <a:latin typeface="Calibri"/>
              <a:ea typeface="Calibri"/>
              <a:cs typeface="Calibri"/>
              <a:sym typeface="Calibri"/>
            </a:endParaRPr>
          </a:p>
        </p:txBody>
      </p:sp>
      <p:pic>
        <p:nvPicPr>
          <p:cNvPr descr="preencoded.png" id="125" name="Google Shape;125;p6"/>
          <p:cNvPicPr preferRelativeResize="0"/>
          <p:nvPr/>
        </p:nvPicPr>
        <p:blipFill rotWithShape="1">
          <a:blip r:embed="rId3">
            <a:alphaModFix/>
          </a:blip>
          <a:srcRect b="0" l="0" r="0" t="0"/>
          <a:stretch/>
        </p:blipFill>
        <p:spPr>
          <a:xfrm>
            <a:off x="496119" y="1457102"/>
            <a:ext cx="509439" cy="611312"/>
          </a:xfrm>
          <a:prstGeom prst="rect">
            <a:avLst/>
          </a:prstGeom>
          <a:noFill/>
          <a:ln>
            <a:noFill/>
          </a:ln>
        </p:spPr>
      </p:pic>
      <p:sp>
        <p:nvSpPr>
          <p:cNvPr id="126" name="Google Shape;126;p6"/>
          <p:cNvSpPr/>
          <p:nvPr/>
        </p:nvSpPr>
        <p:spPr>
          <a:xfrm>
            <a:off x="1078781" y="1558975"/>
            <a:ext cx="756910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00"/>
              <a:buFont typeface="Raleway"/>
              <a:buNone/>
            </a:pPr>
            <a:r>
              <a:rPr b="0" i="0" lang="en-US" sz="1000" u="none" cap="none" strike="noStrike">
                <a:solidFill>
                  <a:srgbClr val="3C3939"/>
                </a:solidFill>
                <a:latin typeface="Raleway"/>
                <a:ea typeface="Raleway"/>
                <a:cs typeface="Raleway"/>
                <a:sym typeface="Raleway"/>
              </a:rPr>
              <a:t>Buyer Demand</a:t>
            </a:r>
            <a:endParaRPr b="0" i="0" sz="1000" u="none" cap="none" strike="noStrike">
              <a:solidFill>
                <a:schemeClr val="dk1"/>
              </a:solidFill>
              <a:latin typeface="Calibri"/>
              <a:ea typeface="Calibri"/>
              <a:cs typeface="Calibri"/>
              <a:sym typeface="Calibri"/>
            </a:endParaRPr>
          </a:p>
        </p:txBody>
      </p:sp>
      <p:sp>
        <p:nvSpPr>
          <p:cNvPr id="127" name="Google Shape;127;p6"/>
          <p:cNvSpPr/>
          <p:nvPr/>
        </p:nvSpPr>
        <p:spPr>
          <a:xfrm>
            <a:off x="1078781" y="1762125"/>
            <a:ext cx="7569101"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C3939"/>
              </a:buClr>
              <a:buSzPts val="800"/>
              <a:buFont typeface="Roboto"/>
              <a:buNone/>
            </a:pPr>
            <a:r>
              <a:rPr b="0" i="0" lang="en-US" sz="800" u="none" cap="none" strike="noStrike">
                <a:solidFill>
                  <a:srgbClr val="3C3939"/>
                </a:solidFill>
                <a:latin typeface="Roboto"/>
                <a:ea typeface="Roboto"/>
                <a:cs typeface="Roboto"/>
                <a:sym typeface="Roboto"/>
              </a:rPr>
              <a:t>$15K+ debt consumers</a:t>
            </a:r>
            <a:endParaRPr b="0" i="0" sz="800" u="none" cap="none" strike="noStrike">
              <a:solidFill>
                <a:schemeClr val="dk1"/>
              </a:solidFill>
              <a:latin typeface="Calibri"/>
              <a:ea typeface="Calibri"/>
              <a:cs typeface="Calibri"/>
              <a:sym typeface="Calibri"/>
            </a:endParaRPr>
          </a:p>
        </p:txBody>
      </p:sp>
      <p:pic>
        <p:nvPicPr>
          <p:cNvPr descr="preencoded.png" id="128" name="Google Shape;128;p6"/>
          <p:cNvPicPr preferRelativeResize="0"/>
          <p:nvPr/>
        </p:nvPicPr>
        <p:blipFill rotWithShape="1">
          <a:blip r:embed="rId4">
            <a:alphaModFix/>
          </a:blip>
          <a:srcRect b="0" l="0" r="0" t="0"/>
          <a:stretch/>
        </p:blipFill>
        <p:spPr>
          <a:xfrm>
            <a:off x="496119" y="2068413"/>
            <a:ext cx="509439" cy="611312"/>
          </a:xfrm>
          <a:prstGeom prst="rect">
            <a:avLst/>
          </a:prstGeom>
          <a:noFill/>
          <a:ln>
            <a:noFill/>
          </a:ln>
        </p:spPr>
      </p:pic>
      <p:sp>
        <p:nvSpPr>
          <p:cNvPr id="129" name="Google Shape;129;p6"/>
          <p:cNvSpPr/>
          <p:nvPr/>
        </p:nvSpPr>
        <p:spPr>
          <a:xfrm>
            <a:off x="1078781" y="2170286"/>
            <a:ext cx="756910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00"/>
              <a:buFont typeface="Raleway"/>
              <a:buNone/>
            </a:pPr>
            <a:r>
              <a:rPr b="0" i="0" lang="en-US" sz="1000" u="none" cap="none" strike="noStrike">
                <a:solidFill>
                  <a:srgbClr val="3C3939"/>
                </a:solidFill>
                <a:latin typeface="Raleway"/>
                <a:ea typeface="Raleway"/>
                <a:cs typeface="Raleway"/>
                <a:sym typeface="Raleway"/>
              </a:rPr>
              <a:t>Audience Definition</a:t>
            </a:r>
            <a:endParaRPr b="0" i="0" sz="1000" u="none" cap="none" strike="noStrike">
              <a:solidFill>
                <a:schemeClr val="dk1"/>
              </a:solidFill>
              <a:latin typeface="Calibri"/>
              <a:ea typeface="Calibri"/>
              <a:cs typeface="Calibri"/>
              <a:sym typeface="Calibri"/>
            </a:endParaRPr>
          </a:p>
        </p:txBody>
      </p:sp>
      <p:sp>
        <p:nvSpPr>
          <p:cNvPr id="130" name="Google Shape;130;p6"/>
          <p:cNvSpPr/>
          <p:nvPr/>
        </p:nvSpPr>
        <p:spPr>
          <a:xfrm>
            <a:off x="1078781" y="2373437"/>
            <a:ext cx="7569101"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C3939"/>
              </a:buClr>
              <a:buSzPts val="800"/>
              <a:buFont typeface="Roboto"/>
              <a:buNone/>
            </a:pPr>
            <a:r>
              <a:rPr b="0" i="0" lang="en-US" sz="800" u="none" cap="none" strike="noStrike">
                <a:solidFill>
                  <a:srgbClr val="3C3939"/>
                </a:solidFill>
                <a:latin typeface="Roboto"/>
                <a:ea typeface="Roboto"/>
                <a:cs typeface="Roboto"/>
                <a:sym typeface="Roboto"/>
              </a:rPr>
              <a:t>Buyer-defined audience criteria</a:t>
            </a:r>
            <a:endParaRPr b="0" i="0" sz="800" u="none" cap="none" strike="noStrike">
              <a:solidFill>
                <a:schemeClr val="dk1"/>
              </a:solidFill>
              <a:latin typeface="Calibri"/>
              <a:ea typeface="Calibri"/>
              <a:cs typeface="Calibri"/>
              <a:sym typeface="Calibri"/>
            </a:endParaRPr>
          </a:p>
        </p:txBody>
      </p:sp>
      <p:pic>
        <p:nvPicPr>
          <p:cNvPr descr="preencoded.png" id="131" name="Google Shape;131;p6"/>
          <p:cNvPicPr preferRelativeResize="0"/>
          <p:nvPr/>
        </p:nvPicPr>
        <p:blipFill rotWithShape="1">
          <a:blip r:embed="rId5">
            <a:alphaModFix/>
          </a:blip>
          <a:srcRect b="0" l="0" r="0" t="0"/>
          <a:stretch/>
        </p:blipFill>
        <p:spPr>
          <a:xfrm>
            <a:off x="496119" y="2679725"/>
            <a:ext cx="509439" cy="611312"/>
          </a:xfrm>
          <a:prstGeom prst="rect">
            <a:avLst/>
          </a:prstGeom>
          <a:noFill/>
          <a:ln>
            <a:noFill/>
          </a:ln>
        </p:spPr>
      </p:pic>
      <p:sp>
        <p:nvSpPr>
          <p:cNvPr id="132" name="Google Shape;132;p6"/>
          <p:cNvSpPr/>
          <p:nvPr/>
        </p:nvSpPr>
        <p:spPr>
          <a:xfrm>
            <a:off x="1078781" y="2781598"/>
            <a:ext cx="756910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00"/>
              <a:buFont typeface="Raleway"/>
              <a:buNone/>
            </a:pPr>
            <a:r>
              <a:rPr b="0" i="0" lang="en-US" sz="1000" u="none" cap="none" strike="noStrike">
                <a:solidFill>
                  <a:srgbClr val="3C3939"/>
                </a:solidFill>
                <a:latin typeface="Raleway"/>
                <a:ea typeface="Raleway"/>
                <a:cs typeface="Raleway"/>
                <a:sym typeface="Raleway"/>
              </a:rPr>
              <a:t>Creative Messaging</a:t>
            </a:r>
            <a:endParaRPr b="0" i="0" sz="1000" u="none" cap="none" strike="noStrike">
              <a:solidFill>
                <a:schemeClr val="dk1"/>
              </a:solidFill>
              <a:latin typeface="Calibri"/>
              <a:ea typeface="Calibri"/>
              <a:cs typeface="Calibri"/>
              <a:sym typeface="Calibri"/>
            </a:endParaRPr>
          </a:p>
        </p:txBody>
      </p:sp>
      <p:sp>
        <p:nvSpPr>
          <p:cNvPr id="133" name="Google Shape;133;p6"/>
          <p:cNvSpPr/>
          <p:nvPr/>
        </p:nvSpPr>
        <p:spPr>
          <a:xfrm>
            <a:off x="1078781" y="2984748"/>
            <a:ext cx="7569101"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C3939"/>
              </a:buClr>
              <a:buSzPts val="800"/>
              <a:buFont typeface="Roboto"/>
              <a:buNone/>
            </a:pPr>
            <a:r>
              <a:rPr b="0" i="0" lang="en-US" sz="800" u="none" cap="none" strike="noStrike">
                <a:solidFill>
                  <a:srgbClr val="3C3939"/>
                </a:solidFill>
                <a:latin typeface="Roboto"/>
                <a:ea typeface="Roboto"/>
                <a:cs typeface="Roboto"/>
                <a:sym typeface="Roboto"/>
              </a:rPr>
              <a:t>Pre-qualification built in</a:t>
            </a:r>
            <a:endParaRPr b="0" i="0" sz="800" u="none" cap="none" strike="noStrike">
              <a:solidFill>
                <a:schemeClr val="dk1"/>
              </a:solidFill>
              <a:latin typeface="Calibri"/>
              <a:ea typeface="Calibri"/>
              <a:cs typeface="Calibri"/>
              <a:sym typeface="Calibri"/>
            </a:endParaRPr>
          </a:p>
        </p:txBody>
      </p:sp>
      <p:pic>
        <p:nvPicPr>
          <p:cNvPr descr="preencoded.png" id="134" name="Google Shape;134;p6"/>
          <p:cNvPicPr preferRelativeResize="0"/>
          <p:nvPr/>
        </p:nvPicPr>
        <p:blipFill rotWithShape="1">
          <a:blip r:embed="rId6">
            <a:alphaModFix/>
          </a:blip>
          <a:srcRect b="0" l="0" r="0" t="0"/>
          <a:stretch/>
        </p:blipFill>
        <p:spPr>
          <a:xfrm>
            <a:off x="496119" y="3291036"/>
            <a:ext cx="509439" cy="611312"/>
          </a:xfrm>
          <a:prstGeom prst="rect">
            <a:avLst/>
          </a:prstGeom>
          <a:noFill/>
          <a:ln>
            <a:noFill/>
          </a:ln>
        </p:spPr>
      </p:pic>
      <p:sp>
        <p:nvSpPr>
          <p:cNvPr id="135" name="Google Shape;135;p6"/>
          <p:cNvSpPr/>
          <p:nvPr/>
        </p:nvSpPr>
        <p:spPr>
          <a:xfrm>
            <a:off x="1078781" y="3392909"/>
            <a:ext cx="756910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00"/>
              <a:buFont typeface="Raleway"/>
              <a:buNone/>
            </a:pPr>
            <a:r>
              <a:rPr b="0" i="0" lang="en-US" sz="1000" u="none" cap="none" strike="noStrike">
                <a:solidFill>
                  <a:srgbClr val="3C3939"/>
                </a:solidFill>
                <a:latin typeface="Raleway"/>
                <a:ea typeface="Raleway"/>
                <a:cs typeface="Raleway"/>
                <a:sym typeface="Raleway"/>
              </a:rPr>
              <a:t>LP Qualification</a:t>
            </a:r>
            <a:endParaRPr b="0" i="0" sz="1000" u="none" cap="none" strike="noStrike">
              <a:solidFill>
                <a:schemeClr val="dk1"/>
              </a:solidFill>
              <a:latin typeface="Calibri"/>
              <a:ea typeface="Calibri"/>
              <a:cs typeface="Calibri"/>
              <a:sym typeface="Calibri"/>
            </a:endParaRPr>
          </a:p>
        </p:txBody>
      </p:sp>
      <p:sp>
        <p:nvSpPr>
          <p:cNvPr id="136" name="Google Shape;136;p6"/>
          <p:cNvSpPr/>
          <p:nvPr/>
        </p:nvSpPr>
        <p:spPr>
          <a:xfrm>
            <a:off x="1078781" y="3596060"/>
            <a:ext cx="7569101"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C3939"/>
              </a:buClr>
              <a:buSzPts val="800"/>
              <a:buFont typeface="Roboto"/>
              <a:buNone/>
            </a:pPr>
            <a:r>
              <a:rPr b="0" i="0" lang="en-US" sz="800" u="none" cap="none" strike="noStrike">
                <a:solidFill>
                  <a:srgbClr val="3C3939"/>
                </a:solidFill>
                <a:latin typeface="Roboto"/>
                <a:ea typeface="Roboto"/>
                <a:cs typeface="Roboto"/>
                <a:sym typeface="Roboto"/>
              </a:rPr>
              <a:t>Filter before the call</a:t>
            </a:r>
            <a:endParaRPr b="0" i="0" sz="800" u="none" cap="none" strike="noStrike">
              <a:solidFill>
                <a:schemeClr val="dk1"/>
              </a:solidFill>
              <a:latin typeface="Calibri"/>
              <a:ea typeface="Calibri"/>
              <a:cs typeface="Calibri"/>
              <a:sym typeface="Calibri"/>
            </a:endParaRPr>
          </a:p>
        </p:txBody>
      </p:sp>
      <p:pic>
        <p:nvPicPr>
          <p:cNvPr descr="preencoded.png" id="137" name="Google Shape;137;p6"/>
          <p:cNvPicPr preferRelativeResize="0"/>
          <p:nvPr/>
        </p:nvPicPr>
        <p:blipFill rotWithShape="1">
          <a:blip r:embed="rId7">
            <a:alphaModFix/>
          </a:blip>
          <a:srcRect b="0" l="0" r="0" t="0"/>
          <a:stretch/>
        </p:blipFill>
        <p:spPr>
          <a:xfrm>
            <a:off x="496119" y="3902348"/>
            <a:ext cx="509439" cy="611312"/>
          </a:xfrm>
          <a:prstGeom prst="rect">
            <a:avLst/>
          </a:prstGeom>
          <a:noFill/>
          <a:ln>
            <a:noFill/>
          </a:ln>
        </p:spPr>
      </p:pic>
      <p:sp>
        <p:nvSpPr>
          <p:cNvPr id="138" name="Google Shape;138;p6"/>
          <p:cNvSpPr/>
          <p:nvPr/>
        </p:nvSpPr>
        <p:spPr>
          <a:xfrm>
            <a:off x="1078781" y="4004221"/>
            <a:ext cx="7569101" cy="15924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00"/>
              <a:buFont typeface="Raleway"/>
              <a:buNone/>
            </a:pPr>
            <a:r>
              <a:rPr b="0" i="0" lang="en-US" sz="1000" u="none" cap="none" strike="noStrike">
                <a:solidFill>
                  <a:srgbClr val="3C3939"/>
                </a:solidFill>
                <a:latin typeface="Raleway"/>
                <a:ea typeface="Raleway"/>
                <a:cs typeface="Raleway"/>
                <a:sym typeface="Raleway"/>
              </a:rPr>
              <a:t>Higher-Intent Calls</a:t>
            </a:r>
            <a:endParaRPr b="0" i="0" sz="1000" u="none" cap="none" strike="noStrike">
              <a:solidFill>
                <a:schemeClr val="dk1"/>
              </a:solidFill>
              <a:latin typeface="Calibri"/>
              <a:ea typeface="Calibri"/>
              <a:cs typeface="Calibri"/>
              <a:sym typeface="Calibri"/>
            </a:endParaRPr>
          </a:p>
        </p:txBody>
      </p:sp>
      <p:sp>
        <p:nvSpPr>
          <p:cNvPr id="139" name="Google Shape;139;p6"/>
          <p:cNvSpPr/>
          <p:nvPr/>
        </p:nvSpPr>
        <p:spPr>
          <a:xfrm>
            <a:off x="1078781" y="4207371"/>
            <a:ext cx="7569101"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C3939"/>
              </a:buClr>
              <a:buSzPts val="800"/>
              <a:buFont typeface="Roboto"/>
              <a:buNone/>
            </a:pPr>
            <a:r>
              <a:rPr b="0" i="0" lang="en-US" sz="800" u="none" cap="none" strike="noStrike">
                <a:solidFill>
                  <a:srgbClr val="3C3939"/>
                </a:solidFill>
                <a:latin typeface="Roboto"/>
                <a:ea typeface="Roboto"/>
                <a:cs typeface="Roboto"/>
                <a:sym typeface="Roboto"/>
              </a:rPr>
              <a:t>Monetizable at scale</a:t>
            </a:r>
            <a:endParaRPr b="0" i="0" sz="800" u="none" cap="none" strike="noStrike">
              <a:solidFill>
                <a:schemeClr val="dk1"/>
              </a:solidFill>
              <a:latin typeface="Calibri"/>
              <a:ea typeface="Calibri"/>
              <a:cs typeface="Calibri"/>
              <a:sym typeface="Calibri"/>
            </a:endParaRPr>
          </a:p>
        </p:txBody>
      </p:sp>
      <p:sp>
        <p:nvSpPr>
          <p:cNvPr id="140" name="Google Shape;140;p6"/>
          <p:cNvSpPr/>
          <p:nvPr/>
        </p:nvSpPr>
        <p:spPr>
          <a:xfrm>
            <a:off x="496119" y="4596036"/>
            <a:ext cx="8608963" cy="140047"/>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3C3939"/>
              </a:buClr>
              <a:buSzPts val="800"/>
              <a:buFont typeface="Roboto"/>
              <a:buNone/>
            </a:pPr>
            <a:r>
              <a:rPr b="0" i="0" lang="en-US" sz="800" u="none" cap="none" strike="noStrike">
                <a:solidFill>
                  <a:srgbClr val="3C3939"/>
                </a:solidFill>
                <a:latin typeface="Roboto"/>
                <a:ea typeface="Roboto"/>
                <a:cs typeface="Roboto"/>
                <a:sym typeface="Roboto"/>
              </a:rPr>
              <a:t>We stopped treating creative as merely a CTR mechanism. </a:t>
            </a:r>
            <a:r>
              <a:rPr b="1" i="0" lang="en-US" sz="800" u="none" cap="none" strike="noStrike">
                <a:solidFill>
                  <a:srgbClr val="3C3939"/>
                </a:solidFill>
                <a:latin typeface="Roboto"/>
                <a:ea typeface="Roboto"/>
                <a:cs typeface="Roboto"/>
                <a:sym typeface="Roboto"/>
              </a:rPr>
              <a:t>Creative became part of the qualification system.</a:t>
            </a:r>
            <a:r>
              <a:rPr b="0" i="0" lang="en-US" sz="800" u="none" cap="none" strike="noStrike">
                <a:solidFill>
                  <a:srgbClr val="3C3939"/>
                </a:solidFill>
                <a:latin typeface="Roboto"/>
                <a:ea typeface="Roboto"/>
                <a:cs typeface="Roboto"/>
                <a:sym typeface="Roboto"/>
              </a:rPr>
              <a:t> The actual scripts and creative assets remain confidential.</a:t>
            </a:r>
            <a:endParaRPr b="0" i="0" sz="800" u="none" cap="none" strike="noStrike">
              <a:solidFill>
                <a:schemeClr val="dk1"/>
              </a:solidFill>
              <a:latin typeface="Calibri"/>
              <a:ea typeface="Calibri"/>
              <a:cs typeface="Calibri"/>
              <a:sym typeface="Calibri"/>
            </a:endParaRPr>
          </a:p>
        </p:txBody>
      </p:sp>
      <p:sp>
        <p:nvSpPr>
          <p:cNvPr id="141" name="Google Shape;141;p6"/>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p:nvPr/>
        </p:nvSpPr>
        <p:spPr>
          <a:xfrm>
            <a:off x="496119" y="406598"/>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Multi-Platform Acquisition Strategy</a:t>
            </a:r>
            <a:endParaRPr b="0" i="0" sz="2750" u="none" cap="none" strike="noStrike">
              <a:solidFill>
                <a:schemeClr val="dk1"/>
              </a:solidFill>
              <a:latin typeface="Calibri"/>
              <a:ea typeface="Calibri"/>
              <a:cs typeface="Calibri"/>
              <a:sym typeface="Calibri"/>
            </a:endParaRPr>
          </a:p>
        </p:txBody>
      </p:sp>
      <p:pic>
        <p:nvPicPr>
          <p:cNvPr descr="preencoded.png" id="148" name="Google Shape;148;p7"/>
          <p:cNvPicPr preferRelativeResize="0"/>
          <p:nvPr/>
        </p:nvPicPr>
        <p:blipFill rotWithShape="1">
          <a:blip r:embed="rId3">
            <a:alphaModFix/>
          </a:blip>
          <a:srcRect b="0" l="0" r="0" t="0"/>
          <a:stretch/>
        </p:blipFill>
        <p:spPr>
          <a:xfrm>
            <a:off x="496119" y="1133103"/>
            <a:ext cx="1143595" cy="706785"/>
          </a:xfrm>
          <a:prstGeom prst="rect">
            <a:avLst/>
          </a:prstGeom>
          <a:noFill/>
          <a:ln>
            <a:noFill/>
          </a:ln>
        </p:spPr>
      </p:pic>
      <p:sp>
        <p:nvSpPr>
          <p:cNvPr id="149" name="Google Shape;149;p7"/>
          <p:cNvSpPr/>
          <p:nvPr/>
        </p:nvSpPr>
        <p:spPr>
          <a:xfrm>
            <a:off x="496119" y="2017068"/>
            <a:ext cx="2599134"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Google: Search + Video</a:t>
            </a:r>
            <a:endParaRPr b="0" i="0" sz="1350" u="none" cap="none" strike="noStrike">
              <a:solidFill>
                <a:schemeClr val="dk1"/>
              </a:solidFill>
              <a:latin typeface="Calibri"/>
              <a:ea typeface="Calibri"/>
              <a:cs typeface="Calibri"/>
              <a:sym typeface="Calibri"/>
            </a:endParaRPr>
          </a:p>
        </p:txBody>
      </p:sp>
      <p:sp>
        <p:nvSpPr>
          <p:cNvPr id="150" name="Google Shape;150;p7"/>
          <p:cNvSpPr/>
          <p:nvPr/>
        </p:nvSpPr>
        <p:spPr>
          <a:xfrm>
            <a:off x="496119" y="2323579"/>
            <a:ext cx="2599134" cy="1055936"/>
          </a:xfrm>
          <a:prstGeom prst="rect">
            <a:avLst/>
          </a:prstGeom>
          <a:noFill/>
          <a:ln>
            <a:noFill/>
          </a:ln>
        </p:spPr>
        <p:txBody>
          <a:bodyPr anchorCtr="0" anchor="t" bIns="0" lIns="0" spcFirstLastPara="1" rIns="0" wrap="square" tIns="0">
            <a:normAutofit/>
          </a:bodyPr>
          <a:lstStyle/>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Search Terms &amp; Keyword Planner</a:t>
            </a:r>
            <a:endParaRPr b="0" i="0" sz="1100" u="none" cap="none" strike="noStrike">
              <a:solidFill>
                <a:schemeClr val="dk1"/>
              </a:solidFill>
              <a:latin typeface="Calibri"/>
              <a:ea typeface="Calibri"/>
              <a:cs typeface="Calibri"/>
              <a:sym typeface="Calibri"/>
            </a:endParaRPr>
          </a:p>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SEMrush &amp; YouTube research</a:t>
            </a:r>
            <a:endParaRPr b="0" i="0" sz="1100" u="none" cap="none" strike="noStrike">
              <a:solidFill>
                <a:schemeClr val="dk1"/>
              </a:solidFill>
              <a:latin typeface="Calibri"/>
              <a:ea typeface="Calibri"/>
              <a:cs typeface="Calibri"/>
              <a:sym typeface="Calibri"/>
            </a:endParaRPr>
          </a:p>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Competitive advertising research</a:t>
            </a:r>
            <a:endParaRPr b="0" i="0" sz="1100" u="none" cap="none" strike="noStrike">
              <a:solidFill>
                <a:schemeClr val="dk1"/>
              </a:solidFill>
              <a:latin typeface="Calibri"/>
              <a:ea typeface="Calibri"/>
              <a:cs typeface="Calibri"/>
              <a:sym typeface="Calibri"/>
            </a:endParaRPr>
          </a:p>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Bidding: Max Conversions / tCPA</a:t>
            </a:r>
            <a:endParaRPr b="0" i="0" sz="1100" u="none" cap="none" strike="noStrike">
              <a:solidFill>
                <a:schemeClr val="dk1"/>
              </a:solidFill>
              <a:latin typeface="Calibri"/>
              <a:ea typeface="Calibri"/>
              <a:cs typeface="Calibri"/>
              <a:sym typeface="Calibri"/>
            </a:endParaRPr>
          </a:p>
        </p:txBody>
      </p:sp>
      <p:pic>
        <p:nvPicPr>
          <p:cNvPr descr="preencoded.png" id="151" name="Google Shape;151;p7"/>
          <p:cNvPicPr preferRelativeResize="0"/>
          <p:nvPr/>
        </p:nvPicPr>
        <p:blipFill rotWithShape="1">
          <a:blip r:embed="rId4">
            <a:alphaModFix/>
          </a:blip>
          <a:srcRect b="0" l="0" r="0" t="0"/>
          <a:stretch/>
        </p:blipFill>
        <p:spPr>
          <a:xfrm>
            <a:off x="3272433" y="1133103"/>
            <a:ext cx="1143595" cy="706785"/>
          </a:xfrm>
          <a:prstGeom prst="rect">
            <a:avLst/>
          </a:prstGeom>
          <a:noFill/>
          <a:ln>
            <a:noFill/>
          </a:ln>
        </p:spPr>
      </p:pic>
      <p:sp>
        <p:nvSpPr>
          <p:cNvPr id="152" name="Google Shape;152;p7"/>
          <p:cNvSpPr/>
          <p:nvPr/>
        </p:nvSpPr>
        <p:spPr>
          <a:xfrm>
            <a:off x="3272433" y="2017068"/>
            <a:ext cx="2599134"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Meta: Broad Targeting</a:t>
            </a:r>
            <a:endParaRPr b="0" i="0" sz="1350" u="none" cap="none" strike="noStrike">
              <a:solidFill>
                <a:schemeClr val="dk1"/>
              </a:solidFill>
              <a:latin typeface="Calibri"/>
              <a:ea typeface="Calibri"/>
              <a:cs typeface="Calibri"/>
              <a:sym typeface="Calibri"/>
            </a:endParaRPr>
          </a:p>
        </p:txBody>
      </p:sp>
      <p:sp>
        <p:nvSpPr>
          <p:cNvPr id="153" name="Google Shape;153;p7"/>
          <p:cNvSpPr/>
          <p:nvPr/>
        </p:nvSpPr>
        <p:spPr>
          <a:xfrm>
            <a:off x="3272433" y="2323579"/>
            <a:ext cx="2599134" cy="1460004"/>
          </a:xfrm>
          <a:prstGeom prst="rect">
            <a:avLst/>
          </a:prstGeom>
          <a:noFill/>
          <a:ln>
            <a:noFill/>
          </a:ln>
        </p:spPr>
        <p:txBody>
          <a:bodyPr anchorCtr="0" anchor="t" bIns="0" lIns="0" spcFirstLastPara="1" rIns="0" wrap="square" tIns="0">
            <a:normAutofit/>
          </a:bodyPr>
          <a:lstStyle/>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Winner: 1 Campaign → 1 Ad Set → 5 Ads</a:t>
            </a:r>
            <a:endParaRPr b="0" i="0" sz="1100" u="none" cap="none" strike="noStrike">
              <a:solidFill>
                <a:schemeClr val="dk1"/>
              </a:solidFill>
              <a:latin typeface="Calibri"/>
              <a:ea typeface="Calibri"/>
              <a:cs typeface="Calibri"/>
              <a:sym typeface="Calibri"/>
            </a:endParaRPr>
          </a:p>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New-test: 1 Campaign → 1 Ad Set → 3 Ads</a:t>
            </a:r>
            <a:endParaRPr b="0" i="0" sz="1100" u="none" cap="none" strike="noStrike">
              <a:solidFill>
                <a:schemeClr val="dk1"/>
              </a:solidFill>
              <a:latin typeface="Calibri"/>
              <a:ea typeface="Calibri"/>
              <a:cs typeface="Calibri"/>
              <a:sym typeface="Calibri"/>
            </a:endParaRPr>
          </a:p>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Optimization: cost per result + downstream quality</a:t>
            </a:r>
            <a:endParaRPr b="0" i="0" sz="1100" u="none" cap="none" strike="noStrike">
              <a:solidFill>
                <a:schemeClr val="dk1"/>
              </a:solidFill>
              <a:latin typeface="Calibri"/>
              <a:ea typeface="Calibri"/>
              <a:cs typeface="Calibri"/>
              <a:sym typeface="Calibri"/>
            </a:endParaRPr>
          </a:p>
        </p:txBody>
      </p:sp>
      <p:pic>
        <p:nvPicPr>
          <p:cNvPr descr="preencoded.png" id="154" name="Google Shape;154;p7"/>
          <p:cNvPicPr preferRelativeResize="0"/>
          <p:nvPr/>
        </p:nvPicPr>
        <p:blipFill rotWithShape="1">
          <a:blip r:embed="rId5">
            <a:alphaModFix/>
          </a:blip>
          <a:srcRect b="0" l="0" r="0" t="0"/>
          <a:stretch/>
        </p:blipFill>
        <p:spPr>
          <a:xfrm>
            <a:off x="6048747" y="1133103"/>
            <a:ext cx="1143595" cy="706785"/>
          </a:xfrm>
          <a:prstGeom prst="rect">
            <a:avLst/>
          </a:prstGeom>
          <a:noFill/>
          <a:ln>
            <a:noFill/>
          </a:ln>
        </p:spPr>
      </p:pic>
      <p:sp>
        <p:nvSpPr>
          <p:cNvPr id="155" name="Google Shape;155;p7"/>
          <p:cNvSpPr/>
          <p:nvPr/>
        </p:nvSpPr>
        <p:spPr>
          <a:xfrm>
            <a:off x="6048747" y="2017068"/>
            <a:ext cx="2599134"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350"/>
              <a:buFont typeface="Raleway"/>
              <a:buNone/>
            </a:pPr>
            <a:r>
              <a:rPr b="0" i="0" lang="en-US" sz="1350" u="none" cap="none" strike="noStrike">
                <a:solidFill>
                  <a:srgbClr val="3C3939"/>
                </a:solidFill>
                <a:latin typeface="Raleway"/>
                <a:ea typeface="Raleway"/>
                <a:cs typeface="Raleway"/>
                <a:sym typeface="Raleway"/>
              </a:rPr>
              <a:t>TikTok: Video-First</a:t>
            </a:r>
            <a:endParaRPr b="0" i="0" sz="1350" u="none" cap="none" strike="noStrike">
              <a:solidFill>
                <a:schemeClr val="dk1"/>
              </a:solidFill>
              <a:latin typeface="Calibri"/>
              <a:ea typeface="Calibri"/>
              <a:cs typeface="Calibri"/>
              <a:sym typeface="Calibri"/>
            </a:endParaRPr>
          </a:p>
        </p:txBody>
      </p:sp>
      <p:sp>
        <p:nvSpPr>
          <p:cNvPr id="156" name="Google Shape;156;p7"/>
          <p:cNvSpPr/>
          <p:nvPr/>
        </p:nvSpPr>
        <p:spPr>
          <a:xfrm>
            <a:off x="6048747" y="2323579"/>
            <a:ext cx="2599134" cy="956816"/>
          </a:xfrm>
          <a:prstGeom prst="rect">
            <a:avLst/>
          </a:prstGeom>
          <a:noFill/>
          <a:ln>
            <a:noFill/>
          </a:ln>
        </p:spPr>
        <p:txBody>
          <a:bodyPr anchorCtr="0" anchor="t" bIns="0" lIns="0" spcFirstLastPara="1" rIns="0" wrap="square" tIns="0">
            <a:normAutofit/>
          </a:bodyPr>
          <a:lstStyle/>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Creative testing &amp; scalable audience acquisition</a:t>
            </a:r>
            <a:endParaRPr b="0" i="0" sz="1100" u="none" cap="none" strike="noStrike">
              <a:solidFill>
                <a:schemeClr val="dk1"/>
              </a:solidFill>
              <a:latin typeface="Calibri"/>
              <a:ea typeface="Calibri"/>
              <a:cs typeface="Calibri"/>
              <a:sym typeface="Calibri"/>
            </a:endParaRPr>
          </a:p>
          <a:p>
            <a:pPr indent="-223520" lvl="0" marL="223520" marR="0" rtl="0" algn="l">
              <a:lnSpc>
                <a:spcPct val="133000"/>
              </a:lnSpc>
              <a:spcBef>
                <a:spcPts val="0"/>
              </a:spcBef>
              <a:spcAft>
                <a:spcPts val="0"/>
              </a:spcAft>
              <a:buClr>
                <a:srgbClr val="3C3939"/>
              </a:buClr>
              <a:buSzPts val="1100"/>
              <a:buFont typeface="Roboto"/>
              <a:buChar char="•"/>
            </a:pPr>
            <a:r>
              <a:rPr b="0" i="0" lang="en-US" sz="1100" u="none" cap="none" strike="noStrike">
                <a:solidFill>
                  <a:srgbClr val="3C3939"/>
                </a:solidFill>
                <a:latin typeface="Roboto"/>
                <a:ea typeface="Roboto"/>
                <a:cs typeface="Roboto"/>
                <a:sym typeface="Roboto"/>
              </a:rPr>
              <a:t>Cost Cap bidding for economic control</a:t>
            </a:r>
            <a:endParaRPr b="0" i="0" sz="1100" u="none" cap="none" strike="noStrike">
              <a:solidFill>
                <a:schemeClr val="dk1"/>
              </a:solidFill>
              <a:latin typeface="Calibri"/>
              <a:ea typeface="Calibri"/>
              <a:cs typeface="Calibri"/>
              <a:sym typeface="Calibri"/>
            </a:endParaRPr>
          </a:p>
        </p:txBody>
      </p:sp>
      <p:sp>
        <p:nvSpPr>
          <p:cNvPr id="157" name="Google Shape;157;p7"/>
          <p:cNvSpPr/>
          <p:nvPr/>
        </p:nvSpPr>
        <p:spPr>
          <a:xfrm>
            <a:off x="496119" y="3943052"/>
            <a:ext cx="8151763" cy="793775"/>
          </a:xfrm>
          <a:prstGeom prst="roundRect">
            <a:avLst>
              <a:gd fmla="val 7501" name="adj"/>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8" name="Google Shape;158;p7"/>
          <p:cNvPicPr preferRelativeResize="0"/>
          <p:nvPr/>
        </p:nvPicPr>
        <p:blipFill rotWithShape="1">
          <a:blip r:embed="rId6">
            <a:alphaModFix/>
          </a:blip>
          <a:srcRect b="0" l="0" r="0" t="0"/>
          <a:stretch/>
        </p:blipFill>
        <p:spPr>
          <a:xfrm>
            <a:off x="637877" y="4143821"/>
            <a:ext cx="177180" cy="141759"/>
          </a:xfrm>
          <a:prstGeom prst="rect">
            <a:avLst/>
          </a:prstGeom>
          <a:noFill/>
          <a:ln>
            <a:noFill/>
          </a:ln>
        </p:spPr>
      </p:pic>
      <p:sp>
        <p:nvSpPr>
          <p:cNvPr id="159" name="Google Shape;159;p7"/>
          <p:cNvSpPr/>
          <p:nvPr/>
        </p:nvSpPr>
        <p:spPr>
          <a:xfrm>
            <a:off x="956816" y="4120232"/>
            <a:ext cx="7549307" cy="453628"/>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00"/>
              </a:buClr>
              <a:buSzPts val="1100"/>
              <a:buFont typeface="Roboto"/>
              <a:buNone/>
            </a:pPr>
            <a:r>
              <a:rPr b="1" i="0" lang="en-US" sz="1100" u="none" cap="none" strike="noStrike">
                <a:solidFill>
                  <a:srgbClr val="000000"/>
                </a:solidFill>
                <a:latin typeface="Roboto"/>
                <a:ea typeface="Roboto"/>
                <a:cs typeface="Roboto"/>
                <a:sym typeface="Roboto"/>
              </a:rPr>
              <a:t>Common denominator:</a:t>
            </a:r>
            <a:r>
              <a:rPr b="0" i="0" lang="en-US" sz="1100" u="none" cap="none" strike="noStrike">
                <a:solidFill>
                  <a:srgbClr val="000000"/>
                </a:solidFill>
                <a:latin typeface="Roboto"/>
                <a:ea typeface="Roboto"/>
                <a:cs typeface="Roboto"/>
                <a:sym typeface="Roboto"/>
              </a:rPr>
              <a:t> Every platform had to answer: Can this traffic produce qualified, monetizable calls at an acceptable CPA?</a:t>
            </a:r>
            <a:endParaRPr b="0" i="0" sz="1100" u="none" cap="none" strike="noStrike">
              <a:solidFill>
                <a:schemeClr val="dk1"/>
              </a:solidFill>
              <a:latin typeface="Calibri"/>
              <a:ea typeface="Calibri"/>
              <a:cs typeface="Calibri"/>
              <a:sym typeface="Calibri"/>
            </a:endParaRPr>
          </a:p>
        </p:txBody>
      </p:sp>
      <p:sp>
        <p:nvSpPr>
          <p:cNvPr id="160" name="Google Shape;160;p7"/>
          <p:cNvSpPr/>
          <p:nvPr/>
        </p:nvSpPr>
        <p:spPr>
          <a:xfrm>
            <a:off x="7922275" y="4794475"/>
            <a:ext cx="1221600" cy="348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p:nvPr/>
        </p:nvSpPr>
        <p:spPr>
          <a:xfrm>
            <a:off x="496119" y="401836"/>
            <a:ext cx="8151763" cy="346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150"/>
              <a:buFont typeface="Raleway"/>
              <a:buNone/>
            </a:pPr>
            <a:r>
              <a:rPr b="0" i="0" lang="en-US" sz="2150" u="none" cap="none" strike="noStrike">
                <a:solidFill>
                  <a:srgbClr val="1B1B27"/>
                </a:solidFill>
                <a:latin typeface="Raleway"/>
                <a:ea typeface="Raleway"/>
                <a:cs typeface="Raleway"/>
                <a:sym typeface="Raleway"/>
              </a:rPr>
              <a:t>Creative Testing Engine</a:t>
            </a:r>
            <a:endParaRPr b="0" i="0" sz="2150" u="none" cap="none" strike="noStrike">
              <a:solidFill>
                <a:schemeClr val="dk1"/>
              </a:solidFill>
              <a:latin typeface="Calibri"/>
              <a:ea typeface="Calibri"/>
              <a:cs typeface="Calibri"/>
              <a:sym typeface="Calibri"/>
            </a:endParaRPr>
          </a:p>
        </p:txBody>
      </p:sp>
      <p:sp>
        <p:nvSpPr>
          <p:cNvPr id="167" name="Google Shape;167;p8"/>
          <p:cNvSpPr/>
          <p:nvPr/>
        </p:nvSpPr>
        <p:spPr>
          <a:xfrm>
            <a:off x="496119" y="964183"/>
            <a:ext cx="3940820"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050"/>
              <a:buFont typeface="Raleway"/>
              <a:buNone/>
            </a:pPr>
            <a:r>
              <a:rPr b="0" i="0" lang="en-US" sz="1050" u="none" cap="none" strike="noStrike">
                <a:solidFill>
                  <a:srgbClr val="1B1B27"/>
                </a:solidFill>
                <a:latin typeface="Raleway"/>
                <a:ea typeface="Raleway"/>
                <a:cs typeface="Raleway"/>
                <a:sym typeface="Raleway"/>
              </a:rPr>
              <a:t>Research Sources</a:t>
            </a:r>
            <a:endParaRPr b="0" i="0" sz="1050" u="none" cap="none" strike="noStrike">
              <a:solidFill>
                <a:schemeClr val="dk1"/>
              </a:solidFill>
              <a:latin typeface="Calibri"/>
              <a:ea typeface="Calibri"/>
              <a:cs typeface="Calibri"/>
              <a:sym typeface="Calibri"/>
            </a:endParaRPr>
          </a:p>
        </p:txBody>
      </p:sp>
      <p:pic>
        <p:nvPicPr>
          <p:cNvPr descr="preencoded.png" id="168" name="Google Shape;168;p8"/>
          <p:cNvPicPr preferRelativeResize="0"/>
          <p:nvPr/>
        </p:nvPicPr>
        <p:blipFill rotWithShape="1">
          <a:blip r:embed="rId3">
            <a:alphaModFix/>
          </a:blip>
          <a:srcRect b="0" l="0" r="0" t="0"/>
          <a:stretch/>
        </p:blipFill>
        <p:spPr>
          <a:xfrm>
            <a:off x="496119" y="1234529"/>
            <a:ext cx="276820" cy="276820"/>
          </a:xfrm>
          <a:prstGeom prst="rect">
            <a:avLst/>
          </a:prstGeom>
          <a:noFill/>
          <a:ln>
            <a:noFill/>
          </a:ln>
        </p:spPr>
      </p:pic>
      <p:sp>
        <p:nvSpPr>
          <p:cNvPr id="169" name="Google Shape;169;p8"/>
          <p:cNvSpPr/>
          <p:nvPr/>
        </p:nvSpPr>
        <p:spPr>
          <a:xfrm>
            <a:off x="881062" y="1234529"/>
            <a:ext cx="3555876"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Ad Libraries</a:t>
            </a:r>
            <a:endParaRPr b="0" i="0" sz="1050" u="none" cap="none" strike="noStrike">
              <a:solidFill>
                <a:schemeClr val="dk1"/>
              </a:solidFill>
              <a:latin typeface="Calibri"/>
              <a:ea typeface="Calibri"/>
              <a:cs typeface="Calibri"/>
              <a:sym typeface="Calibri"/>
            </a:endParaRPr>
          </a:p>
        </p:txBody>
      </p:sp>
      <p:sp>
        <p:nvSpPr>
          <p:cNvPr id="170" name="Google Shape;170;p8"/>
          <p:cNvSpPr/>
          <p:nvPr/>
        </p:nvSpPr>
        <p:spPr>
          <a:xfrm>
            <a:off x="881062" y="1494011"/>
            <a:ext cx="3555876" cy="15775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3C3939"/>
              </a:buClr>
              <a:buSzPts val="850"/>
              <a:buFont typeface="Roboto"/>
              <a:buNone/>
            </a:pPr>
            <a:r>
              <a:rPr b="0" i="0" lang="en-US" sz="850" u="none" cap="none" strike="noStrike">
                <a:solidFill>
                  <a:srgbClr val="3C3939"/>
                </a:solidFill>
                <a:latin typeface="Roboto"/>
                <a:ea typeface="Roboto"/>
                <a:cs typeface="Roboto"/>
                <a:sym typeface="Roboto"/>
              </a:rPr>
              <a:t>Meta Ad Library, TikTok Creative Center, Google/YouTube</a:t>
            </a:r>
            <a:endParaRPr b="0" i="0" sz="850" u="none" cap="none" strike="noStrike">
              <a:solidFill>
                <a:schemeClr val="dk1"/>
              </a:solidFill>
              <a:latin typeface="Calibri"/>
              <a:ea typeface="Calibri"/>
              <a:cs typeface="Calibri"/>
              <a:sym typeface="Calibri"/>
            </a:endParaRPr>
          </a:p>
        </p:txBody>
      </p:sp>
      <p:pic>
        <p:nvPicPr>
          <p:cNvPr descr="preencoded.png" id="171" name="Google Shape;171;p8"/>
          <p:cNvPicPr preferRelativeResize="0"/>
          <p:nvPr/>
        </p:nvPicPr>
        <p:blipFill rotWithShape="1">
          <a:blip r:embed="rId4">
            <a:alphaModFix/>
          </a:blip>
          <a:srcRect b="0" l="0" r="0" t="0"/>
          <a:stretch/>
        </p:blipFill>
        <p:spPr>
          <a:xfrm>
            <a:off x="496119" y="1824782"/>
            <a:ext cx="276820" cy="276820"/>
          </a:xfrm>
          <a:prstGeom prst="rect">
            <a:avLst/>
          </a:prstGeom>
          <a:noFill/>
          <a:ln>
            <a:noFill/>
          </a:ln>
        </p:spPr>
      </p:pic>
      <p:sp>
        <p:nvSpPr>
          <p:cNvPr id="172" name="Google Shape;172;p8"/>
          <p:cNvSpPr/>
          <p:nvPr/>
        </p:nvSpPr>
        <p:spPr>
          <a:xfrm>
            <a:off x="881062" y="1824782"/>
            <a:ext cx="3555876"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Competitor Intelligence</a:t>
            </a:r>
            <a:endParaRPr b="0" i="0" sz="1050" u="none" cap="none" strike="noStrike">
              <a:solidFill>
                <a:schemeClr val="dk1"/>
              </a:solidFill>
              <a:latin typeface="Calibri"/>
              <a:ea typeface="Calibri"/>
              <a:cs typeface="Calibri"/>
              <a:sym typeface="Calibri"/>
            </a:endParaRPr>
          </a:p>
        </p:txBody>
      </p:sp>
      <p:sp>
        <p:nvSpPr>
          <p:cNvPr id="173" name="Google Shape;173;p8"/>
          <p:cNvSpPr/>
          <p:nvPr/>
        </p:nvSpPr>
        <p:spPr>
          <a:xfrm>
            <a:off x="881062" y="2084263"/>
            <a:ext cx="3555876" cy="15775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3C3939"/>
              </a:buClr>
              <a:buSzPts val="850"/>
              <a:buFont typeface="Roboto"/>
              <a:buNone/>
            </a:pPr>
            <a:r>
              <a:rPr b="0" i="0" lang="en-US" sz="850" u="none" cap="none" strike="noStrike">
                <a:solidFill>
                  <a:srgbClr val="3C3939"/>
                </a:solidFill>
                <a:latin typeface="Roboto"/>
                <a:ea typeface="Roboto"/>
                <a:cs typeface="Roboto"/>
                <a:sym typeface="Roboto"/>
              </a:rPr>
              <a:t>Competitor advertising patterns &amp; industry trends</a:t>
            </a:r>
            <a:endParaRPr b="0" i="0" sz="850" u="none" cap="none" strike="noStrike">
              <a:solidFill>
                <a:schemeClr val="dk1"/>
              </a:solidFill>
              <a:latin typeface="Calibri"/>
              <a:ea typeface="Calibri"/>
              <a:cs typeface="Calibri"/>
              <a:sym typeface="Calibri"/>
            </a:endParaRPr>
          </a:p>
        </p:txBody>
      </p:sp>
      <p:pic>
        <p:nvPicPr>
          <p:cNvPr descr="preencoded.png" id="174" name="Google Shape;174;p8"/>
          <p:cNvPicPr preferRelativeResize="0"/>
          <p:nvPr/>
        </p:nvPicPr>
        <p:blipFill rotWithShape="1">
          <a:blip r:embed="rId5">
            <a:alphaModFix/>
          </a:blip>
          <a:srcRect b="0" l="0" r="0" t="0"/>
          <a:stretch/>
        </p:blipFill>
        <p:spPr>
          <a:xfrm>
            <a:off x="496119" y="2415034"/>
            <a:ext cx="276820" cy="276820"/>
          </a:xfrm>
          <a:prstGeom prst="rect">
            <a:avLst/>
          </a:prstGeom>
          <a:noFill/>
          <a:ln>
            <a:noFill/>
          </a:ln>
        </p:spPr>
      </p:pic>
      <p:sp>
        <p:nvSpPr>
          <p:cNvPr id="175" name="Google Shape;175;p8"/>
          <p:cNvSpPr/>
          <p:nvPr/>
        </p:nvSpPr>
        <p:spPr>
          <a:xfrm>
            <a:off x="881062" y="2415034"/>
            <a:ext cx="3555876"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Social Trends</a:t>
            </a:r>
            <a:endParaRPr b="0" i="0" sz="1050" u="none" cap="none" strike="noStrike">
              <a:solidFill>
                <a:schemeClr val="dk1"/>
              </a:solidFill>
              <a:latin typeface="Calibri"/>
              <a:ea typeface="Calibri"/>
              <a:cs typeface="Calibri"/>
              <a:sym typeface="Calibri"/>
            </a:endParaRPr>
          </a:p>
        </p:txBody>
      </p:sp>
      <p:sp>
        <p:nvSpPr>
          <p:cNvPr id="176" name="Google Shape;176;p8"/>
          <p:cNvSpPr/>
          <p:nvPr/>
        </p:nvSpPr>
        <p:spPr>
          <a:xfrm>
            <a:off x="881062" y="2674516"/>
            <a:ext cx="3555876" cy="157758"/>
          </a:xfrm>
          <a:prstGeom prst="rect">
            <a:avLst/>
          </a:prstGeom>
          <a:noFill/>
          <a:ln>
            <a:noFill/>
          </a:ln>
        </p:spPr>
        <p:txBody>
          <a:bodyPr anchorCtr="0" anchor="t" bIns="0" lIns="0" spcFirstLastPara="1" rIns="0" wrap="square" tIns="0">
            <a:noAutofit/>
          </a:bodyPr>
          <a:lstStyle/>
          <a:p>
            <a:pPr indent="0" lvl="0" marL="0" marR="0" rtl="0" algn="l">
              <a:lnSpc>
                <a:spcPct val="119000"/>
              </a:lnSpc>
              <a:spcBef>
                <a:spcPts val="0"/>
              </a:spcBef>
              <a:spcAft>
                <a:spcPts val="0"/>
              </a:spcAft>
              <a:buClr>
                <a:srgbClr val="3C3939"/>
              </a:buClr>
              <a:buSzPts val="850"/>
              <a:buFont typeface="Roboto"/>
              <a:buNone/>
            </a:pPr>
            <a:r>
              <a:rPr b="0" i="0" lang="en-US" sz="850" u="none" cap="none" strike="noStrike">
                <a:solidFill>
                  <a:srgbClr val="3C3939"/>
                </a:solidFill>
                <a:latin typeface="Roboto"/>
                <a:ea typeface="Roboto"/>
                <a:cs typeface="Roboto"/>
                <a:sym typeface="Roboto"/>
              </a:rPr>
              <a:t>Social media trends &amp; industry advertising patterns</a:t>
            </a:r>
            <a:endParaRPr b="0" i="0" sz="850" u="none" cap="none" strike="noStrike">
              <a:solidFill>
                <a:schemeClr val="dk1"/>
              </a:solidFill>
              <a:latin typeface="Calibri"/>
              <a:ea typeface="Calibri"/>
              <a:cs typeface="Calibri"/>
              <a:sym typeface="Calibri"/>
            </a:endParaRPr>
          </a:p>
        </p:txBody>
      </p:sp>
      <p:sp>
        <p:nvSpPr>
          <p:cNvPr id="177" name="Google Shape;177;p8"/>
          <p:cNvSpPr/>
          <p:nvPr/>
        </p:nvSpPr>
        <p:spPr>
          <a:xfrm>
            <a:off x="4711824" y="964183"/>
            <a:ext cx="3940820"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050"/>
              <a:buFont typeface="Raleway"/>
              <a:buNone/>
            </a:pPr>
            <a:r>
              <a:rPr b="0" i="0" lang="en-US" sz="1050" u="none" cap="none" strike="noStrike">
                <a:solidFill>
                  <a:srgbClr val="1B1B27"/>
                </a:solidFill>
                <a:latin typeface="Raleway"/>
                <a:ea typeface="Raleway"/>
                <a:cs typeface="Raleway"/>
                <a:sym typeface="Raleway"/>
              </a:rPr>
              <a:t>Creative Development Process</a:t>
            </a:r>
            <a:endParaRPr b="0" i="0" sz="1050" u="none" cap="none" strike="noStrike">
              <a:solidFill>
                <a:schemeClr val="dk1"/>
              </a:solidFill>
              <a:latin typeface="Calibri"/>
              <a:ea typeface="Calibri"/>
              <a:cs typeface="Calibri"/>
              <a:sym typeface="Calibri"/>
            </a:endParaRPr>
          </a:p>
        </p:txBody>
      </p:sp>
      <p:sp>
        <p:nvSpPr>
          <p:cNvPr id="178" name="Google Shape;178;p8"/>
          <p:cNvSpPr/>
          <p:nvPr/>
        </p:nvSpPr>
        <p:spPr>
          <a:xfrm>
            <a:off x="4711824" y="1223665"/>
            <a:ext cx="3940820" cy="473273"/>
          </a:xfrm>
          <a:prstGeom prst="rect">
            <a:avLst/>
          </a:prstGeom>
          <a:noFill/>
          <a:ln>
            <a:noFill/>
          </a:ln>
        </p:spPr>
        <p:txBody>
          <a:bodyPr anchorCtr="0" anchor="t" bIns="0" lIns="0" spcFirstLastPara="1" rIns="0" wrap="square" tIns="0">
            <a:normAutofit/>
          </a:bodyPr>
          <a:lstStyle/>
          <a:p>
            <a:pPr indent="0" lvl="0" marL="0" marR="0" rtl="0" algn="l">
              <a:lnSpc>
                <a:spcPct val="119000"/>
              </a:lnSpc>
              <a:spcBef>
                <a:spcPts val="0"/>
              </a:spcBef>
              <a:spcAft>
                <a:spcPts val="0"/>
              </a:spcAft>
              <a:buClr>
                <a:srgbClr val="3C3939"/>
              </a:buClr>
              <a:buSzPts val="850"/>
              <a:buFont typeface="Roboto"/>
              <a:buNone/>
            </a:pPr>
            <a:r>
              <a:rPr b="1" i="0" lang="en-US" sz="850" u="none" cap="none" strike="noStrike">
                <a:solidFill>
                  <a:srgbClr val="3C3939"/>
                </a:solidFill>
                <a:latin typeface="Roboto"/>
                <a:ea typeface="Roboto"/>
                <a:cs typeface="Roboto"/>
                <a:sym typeface="Roboto"/>
              </a:rPr>
              <a:t>Key principle:</a:t>
            </a:r>
            <a:r>
              <a:rPr b="0" i="0" lang="en-US" sz="850" u="none" cap="none" strike="noStrike">
                <a:solidFill>
                  <a:srgbClr val="3C3939"/>
                </a:solidFill>
                <a:latin typeface="Roboto"/>
                <a:ea typeface="Roboto"/>
                <a:cs typeface="Roboto"/>
                <a:sym typeface="Roboto"/>
              </a:rPr>
              <a:t> A creative was not considered successful simply because it generated cheap clicks. It had to contribute to: CPA + qualification + ACL + monetization.</a:t>
            </a:r>
            <a:endParaRPr b="0" i="0" sz="850" u="none" cap="none" strike="noStrike">
              <a:solidFill>
                <a:schemeClr val="dk1"/>
              </a:solidFill>
              <a:latin typeface="Calibri"/>
              <a:ea typeface="Calibri"/>
              <a:cs typeface="Calibri"/>
              <a:sym typeface="Calibri"/>
            </a:endParaRPr>
          </a:p>
        </p:txBody>
      </p:sp>
      <p:sp>
        <p:nvSpPr>
          <p:cNvPr id="179" name="Google Shape;179;p8"/>
          <p:cNvSpPr/>
          <p:nvPr/>
        </p:nvSpPr>
        <p:spPr>
          <a:xfrm>
            <a:off x="496119" y="3026941"/>
            <a:ext cx="221456" cy="1384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850"/>
              <a:buFont typeface="Raleway Light"/>
              <a:buNone/>
            </a:pPr>
            <a:r>
              <a:rPr b="0" i="0" lang="en-US" sz="850" u="none" cap="none" strike="noStrike">
                <a:solidFill>
                  <a:srgbClr val="3C3939"/>
                </a:solidFill>
                <a:latin typeface="Raleway Light"/>
                <a:ea typeface="Raleway Light"/>
                <a:cs typeface="Raleway Light"/>
                <a:sym typeface="Raleway Light"/>
              </a:rPr>
              <a:t>01</a:t>
            </a:r>
            <a:endParaRPr b="0" i="0" sz="850" u="none" cap="none" strike="noStrike">
              <a:solidFill>
                <a:schemeClr val="dk1"/>
              </a:solidFill>
              <a:latin typeface="Calibri"/>
              <a:ea typeface="Calibri"/>
              <a:cs typeface="Calibri"/>
              <a:sym typeface="Calibri"/>
            </a:endParaRPr>
          </a:p>
        </p:txBody>
      </p:sp>
      <p:sp>
        <p:nvSpPr>
          <p:cNvPr id="180" name="Google Shape;180;p8"/>
          <p:cNvSpPr/>
          <p:nvPr/>
        </p:nvSpPr>
        <p:spPr>
          <a:xfrm>
            <a:off x="496119" y="3200846"/>
            <a:ext cx="4032647"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
          <p:cNvSpPr/>
          <p:nvPr/>
        </p:nvSpPr>
        <p:spPr>
          <a:xfrm>
            <a:off x="496119" y="3284786"/>
            <a:ext cx="4032647"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Identify proven hook</a:t>
            </a:r>
            <a:endParaRPr b="0" i="0" sz="1050" u="none" cap="none" strike="noStrike">
              <a:solidFill>
                <a:schemeClr val="dk1"/>
              </a:solidFill>
              <a:latin typeface="Calibri"/>
              <a:ea typeface="Calibri"/>
              <a:cs typeface="Calibri"/>
              <a:sym typeface="Calibri"/>
            </a:endParaRPr>
          </a:p>
        </p:txBody>
      </p:sp>
      <p:sp>
        <p:nvSpPr>
          <p:cNvPr id="182" name="Google Shape;182;p8"/>
          <p:cNvSpPr/>
          <p:nvPr/>
        </p:nvSpPr>
        <p:spPr>
          <a:xfrm>
            <a:off x="4615235" y="3026941"/>
            <a:ext cx="221456" cy="1384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850"/>
              <a:buFont typeface="Raleway Light"/>
              <a:buNone/>
            </a:pPr>
            <a:r>
              <a:rPr b="0" i="0" lang="en-US" sz="850" u="none" cap="none" strike="noStrike">
                <a:solidFill>
                  <a:srgbClr val="3C3939"/>
                </a:solidFill>
                <a:latin typeface="Raleway Light"/>
                <a:ea typeface="Raleway Light"/>
                <a:cs typeface="Raleway Light"/>
                <a:sym typeface="Raleway Light"/>
              </a:rPr>
              <a:t>02</a:t>
            </a:r>
            <a:endParaRPr b="0" i="0" sz="850" u="none" cap="none" strike="noStrike">
              <a:solidFill>
                <a:schemeClr val="dk1"/>
              </a:solidFill>
              <a:latin typeface="Calibri"/>
              <a:ea typeface="Calibri"/>
              <a:cs typeface="Calibri"/>
              <a:sym typeface="Calibri"/>
            </a:endParaRPr>
          </a:p>
        </p:txBody>
      </p:sp>
      <p:sp>
        <p:nvSpPr>
          <p:cNvPr id="183" name="Google Shape;183;p8"/>
          <p:cNvSpPr/>
          <p:nvPr/>
        </p:nvSpPr>
        <p:spPr>
          <a:xfrm>
            <a:off x="4615235" y="3200846"/>
            <a:ext cx="4032647"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4615235" y="3284786"/>
            <a:ext cx="4032647"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Reframe for debt vertical</a:t>
            </a:r>
            <a:endParaRPr b="0" i="0" sz="1050" u="none" cap="none" strike="noStrike">
              <a:solidFill>
                <a:schemeClr val="dk1"/>
              </a:solidFill>
              <a:latin typeface="Calibri"/>
              <a:ea typeface="Calibri"/>
              <a:cs typeface="Calibri"/>
              <a:sym typeface="Calibri"/>
            </a:endParaRPr>
          </a:p>
        </p:txBody>
      </p:sp>
      <p:sp>
        <p:nvSpPr>
          <p:cNvPr id="185" name="Google Shape;185;p8"/>
          <p:cNvSpPr/>
          <p:nvPr/>
        </p:nvSpPr>
        <p:spPr>
          <a:xfrm>
            <a:off x="496119" y="3627313"/>
            <a:ext cx="221456" cy="1384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850"/>
              <a:buFont typeface="Raleway Light"/>
              <a:buNone/>
            </a:pPr>
            <a:r>
              <a:rPr b="0" i="0" lang="en-US" sz="850" u="none" cap="none" strike="noStrike">
                <a:solidFill>
                  <a:srgbClr val="3C3939"/>
                </a:solidFill>
                <a:latin typeface="Raleway Light"/>
                <a:ea typeface="Raleway Light"/>
                <a:cs typeface="Raleway Light"/>
                <a:sym typeface="Raleway Light"/>
              </a:rPr>
              <a:t>03</a:t>
            </a:r>
            <a:endParaRPr b="0" i="0" sz="850" u="none" cap="none" strike="noStrike">
              <a:solidFill>
                <a:schemeClr val="dk1"/>
              </a:solidFill>
              <a:latin typeface="Calibri"/>
              <a:ea typeface="Calibri"/>
              <a:cs typeface="Calibri"/>
              <a:sym typeface="Calibri"/>
            </a:endParaRPr>
          </a:p>
        </p:txBody>
      </p:sp>
      <p:sp>
        <p:nvSpPr>
          <p:cNvPr id="186" name="Google Shape;186;p8"/>
          <p:cNvSpPr/>
          <p:nvPr/>
        </p:nvSpPr>
        <p:spPr>
          <a:xfrm>
            <a:off x="496119" y="3801219"/>
            <a:ext cx="4032647"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496119" y="3885158"/>
            <a:ext cx="4032647"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Adapt to target audience</a:t>
            </a:r>
            <a:endParaRPr b="0" i="0" sz="1050" u="none" cap="none" strike="noStrike">
              <a:solidFill>
                <a:schemeClr val="dk1"/>
              </a:solidFill>
              <a:latin typeface="Calibri"/>
              <a:ea typeface="Calibri"/>
              <a:cs typeface="Calibri"/>
              <a:sym typeface="Calibri"/>
            </a:endParaRPr>
          </a:p>
        </p:txBody>
      </p:sp>
      <p:sp>
        <p:nvSpPr>
          <p:cNvPr id="188" name="Google Shape;188;p8"/>
          <p:cNvSpPr/>
          <p:nvPr/>
        </p:nvSpPr>
        <p:spPr>
          <a:xfrm>
            <a:off x="4615235" y="3627313"/>
            <a:ext cx="221456" cy="1384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850"/>
              <a:buFont typeface="Raleway Light"/>
              <a:buNone/>
            </a:pPr>
            <a:r>
              <a:rPr b="0" i="0" lang="en-US" sz="850" u="none" cap="none" strike="noStrike">
                <a:solidFill>
                  <a:srgbClr val="3C3939"/>
                </a:solidFill>
                <a:latin typeface="Raleway Light"/>
                <a:ea typeface="Raleway Light"/>
                <a:cs typeface="Raleway Light"/>
                <a:sym typeface="Raleway Light"/>
              </a:rPr>
              <a:t>04</a:t>
            </a:r>
            <a:endParaRPr b="0" i="0" sz="850" u="none" cap="none" strike="noStrike">
              <a:solidFill>
                <a:schemeClr val="dk1"/>
              </a:solidFill>
              <a:latin typeface="Calibri"/>
              <a:ea typeface="Calibri"/>
              <a:cs typeface="Calibri"/>
              <a:sym typeface="Calibri"/>
            </a:endParaRPr>
          </a:p>
        </p:txBody>
      </p:sp>
      <p:sp>
        <p:nvSpPr>
          <p:cNvPr id="189" name="Google Shape;189;p8"/>
          <p:cNvSpPr/>
          <p:nvPr/>
        </p:nvSpPr>
        <p:spPr>
          <a:xfrm>
            <a:off x="4615235" y="3801219"/>
            <a:ext cx="4032647"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4615235" y="3885158"/>
            <a:ext cx="4032647"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Launch controlled test</a:t>
            </a:r>
            <a:endParaRPr b="0" i="0" sz="1050" u="none" cap="none" strike="noStrike">
              <a:solidFill>
                <a:schemeClr val="dk1"/>
              </a:solidFill>
              <a:latin typeface="Calibri"/>
              <a:ea typeface="Calibri"/>
              <a:cs typeface="Calibri"/>
              <a:sym typeface="Calibri"/>
            </a:endParaRPr>
          </a:p>
        </p:txBody>
      </p:sp>
      <p:sp>
        <p:nvSpPr>
          <p:cNvPr id="191" name="Google Shape;191;p8"/>
          <p:cNvSpPr/>
          <p:nvPr/>
        </p:nvSpPr>
        <p:spPr>
          <a:xfrm>
            <a:off x="496119" y="4227686"/>
            <a:ext cx="221456" cy="1384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850"/>
              <a:buFont typeface="Raleway Light"/>
              <a:buNone/>
            </a:pPr>
            <a:r>
              <a:rPr b="0" i="0" lang="en-US" sz="850" u="none" cap="none" strike="noStrike">
                <a:solidFill>
                  <a:srgbClr val="3C3939"/>
                </a:solidFill>
                <a:latin typeface="Raleway Light"/>
                <a:ea typeface="Raleway Light"/>
                <a:cs typeface="Raleway Light"/>
                <a:sym typeface="Raleway Light"/>
              </a:rPr>
              <a:t>05</a:t>
            </a:r>
            <a:endParaRPr b="0" i="0" sz="850" u="none" cap="none" strike="noStrike">
              <a:solidFill>
                <a:schemeClr val="dk1"/>
              </a:solidFill>
              <a:latin typeface="Calibri"/>
              <a:ea typeface="Calibri"/>
              <a:cs typeface="Calibri"/>
              <a:sym typeface="Calibri"/>
            </a:endParaRPr>
          </a:p>
        </p:txBody>
      </p:sp>
      <p:sp>
        <p:nvSpPr>
          <p:cNvPr id="192" name="Google Shape;192;p8"/>
          <p:cNvSpPr/>
          <p:nvPr/>
        </p:nvSpPr>
        <p:spPr>
          <a:xfrm>
            <a:off x="496119" y="4401592"/>
            <a:ext cx="4032647"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496119" y="4485531"/>
            <a:ext cx="4032647"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Measure downstream quality</a:t>
            </a:r>
            <a:endParaRPr b="0" i="0" sz="1050" u="none" cap="none" strike="noStrike">
              <a:solidFill>
                <a:schemeClr val="dk1"/>
              </a:solidFill>
              <a:latin typeface="Calibri"/>
              <a:ea typeface="Calibri"/>
              <a:cs typeface="Calibri"/>
              <a:sym typeface="Calibri"/>
            </a:endParaRPr>
          </a:p>
        </p:txBody>
      </p:sp>
      <p:sp>
        <p:nvSpPr>
          <p:cNvPr id="194" name="Google Shape;194;p8"/>
          <p:cNvSpPr/>
          <p:nvPr/>
        </p:nvSpPr>
        <p:spPr>
          <a:xfrm>
            <a:off x="4615235" y="4227686"/>
            <a:ext cx="221456" cy="13841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C3939"/>
              </a:buClr>
              <a:buSzPts val="850"/>
              <a:buFont typeface="Raleway Light"/>
              <a:buNone/>
            </a:pPr>
            <a:r>
              <a:rPr b="0" i="0" lang="en-US" sz="850" u="none" cap="none" strike="noStrike">
                <a:solidFill>
                  <a:srgbClr val="3C3939"/>
                </a:solidFill>
                <a:latin typeface="Raleway Light"/>
                <a:ea typeface="Raleway Light"/>
                <a:cs typeface="Raleway Light"/>
                <a:sym typeface="Raleway Light"/>
              </a:rPr>
              <a:t>06</a:t>
            </a:r>
            <a:endParaRPr b="0" i="0" sz="850" u="none" cap="none" strike="noStrike">
              <a:solidFill>
                <a:schemeClr val="dk1"/>
              </a:solidFill>
              <a:latin typeface="Calibri"/>
              <a:ea typeface="Calibri"/>
              <a:cs typeface="Calibri"/>
              <a:sym typeface="Calibri"/>
            </a:endParaRPr>
          </a:p>
        </p:txBody>
      </p:sp>
      <p:sp>
        <p:nvSpPr>
          <p:cNvPr id="195" name="Google Shape;195;p8"/>
          <p:cNvSpPr/>
          <p:nvPr/>
        </p:nvSpPr>
        <p:spPr>
          <a:xfrm>
            <a:off x="4615235" y="4401592"/>
            <a:ext cx="4032647" cy="14288"/>
          </a:xfrm>
          <a:prstGeom prst="rect">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4615235" y="4485531"/>
            <a:ext cx="4032647" cy="1730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050"/>
              <a:buFont typeface="Raleway"/>
              <a:buNone/>
            </a:pPr>
            <a:r>
              <a:rPr b="0" i="0" lang="en-US" sz="1050" u="none" cap="none" strike="noStrike">
                <a:solidFill>
                  <a:srgbClr val="3C3939"/>
                </a:solidFill>
                <a:latin typeface="Raleway"/>
                <a:ea typeface="Raleway"/>
                <a:cs typeface="Raleway"/>
                <a:sym typeface="Raleway"/>
              </a:rPr>
              <a:t>Scale / iterate / kill</a:t>
            </a:r>
            <a:endParaRPr b="0" i="0" sz="1050" u="none" cap="none" strike="noStrike">
              <a:solidFill>
                <a:schemeClr val="dk1"/>
              </a:solidFill>
              <a:latin typeface="Calibri"/>
              <a:ea typeface="Calibri"/>
              <a:cs typeface="Calibri"/>
              <a:sym typeface="Calibri"/>
            </a:endParaRPr>
          </a:p>
        </p:txBody>
      </p:sp>
      <p:sp>
        <p:nvSpPr>
          <p:cNvPr id="197" name="Google Shape;197;p8"/>
          <p:cNvSpPr/>
          <p:nvPr/>
        </p:nvSpPr>
        <p:spPr>
          <a:xfrm>
            <a:off x="7922275" y="4712253"/>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descr="preencoded.png" id="203" name="Google Shape;203;p9"/>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204" name="Google Shape;204;p9"/>
          <p:cNvSpPr/>
          <p:nvPr/>
        </p:nvSpPr>
        <p:spPr>
          <a:xfrm>
            <a:off x="496119" y="395511"/>
            <a:ext cx="4722763" cy="802928"/>
          </a:xfrm>
          <a:prstGeom prst="rect">
            <a:avLst/>
          </a:prstGeom>
          <a:noFill/>
          <a:ln>
            <a:noFill/>
          </a:ln>
        </p:spPr>
        <p:txBody>
          <a:bodyPr anchorCtr="0" anchor="t" bIns="0" lIns="0" spcFirstLastPara="1" rIns="0" wrap="square" tIns="0">
            <a:normAutofit/>
          </a:bodyPr>
          <a:lstStyle/>
          <a:p>
            <a:pPr indent="0" lvl="0" marL="0" marR="0" rtl="0" algn="l">
              <a:lnSpc>
                <a:spcPct val="104000"/>
              </a:lnSpc>
              <a:spcBef>
                <a:spcPts val="0"/>
              </a:spcBef>
              <a:spcAft>
                <a:spcPts val="0"/>
              </a:spcAft>
              <a:buClr>
                <a:srgbClr val="1B1B27"/>
              </a:buClr>
              <a:buSzPts val="2500"/>
              <a:buFont typeface="Raleway"/>
              <a:buNone/>
            </a:pPr>
            <a:r>
              <a:rPr b="0" i="0" lang="en-US" sz="2500" u="none" cap="none" strike="noStrike">
                <a:solidFill>
                  <a:srgbClr val="1B1B27"/>
                </a:solidFill>
                <a:latin typeface="Raleway"/>
                <a:ea typeface="Raleway"/>
                <a:cs typeface="Raleway"/>
                <a:sym typeface="Raleway"/>
              </a:rPr>
              <a:t>Campaign Architecture &amp; Testing</a:t>
            </a:r>
            <a:endParaRPr b="0" i="0" sz="2500" u="none" cap="none" strike="noStrike">
              <a:solidFill>
                <a:schemeClr val="dk1"/>
              </a:solidFill>
              <a:latin typeface="Calibri"/>
              <a:ea typeface="Calibri"/>
              <a:cs typeface="Calibri"/>
              <a:sym typeface="Calibri"/>
            </a:endParaRPr>
          </a:p>
        </p:txBody>
      </p:sp>
      <p:sp>
        <p:nvSpPr>
          <p:cNvPr id="205" name="Google Shape;205;p9"/>
          <p:cNvSpPr/>
          <p:nvPr/>
        </p:nvSpPr>
        <p:spPr>
          <a:xfrm>
            <a:off x="496119" y="1373014"/>
            <a:ext cx="5179963" cy="195932"/>
          </a:xfrm>
          <a:prstGeom prst="rect">
            <a:avLst/>
          </a:prstGeom>
          <a:noFill/>
          <a:ln>
            <a:noFill/>
          </a:ln>
        </p:spPr>
        <p:txBody>
          <a:bodyPr anchorCtr="0" anchor="t" bIns="0" lIns="0" spcFirstLastPara="1" rIns="0" wrap="square" tIns="0">
            <a:noAutofit/>
          </a:bodyPr>
          <a:lstStyle/>
          <a:p>
            <a:pPr indent="0" lvl="0" marL="0" marR="0" rtl="0" algn="l">
              <a:lnSpc>
                <a:spcPct val="127000"/>
              </a:lnSpc>
              <a:spcBef>
                <a:spcPts val="0"/>
              </a:spcBef>
              <a:spcAft>
                <a:spcPts val="0"/>
              </a:spcAft>
              <a:buClr>
                <a:srgbClr val="3C3939"/>
              </a:buClr>
              <a:buSzPts val="1000"/>
              <a:buFont typeface="Roboto"/>
              <a:buNone/>
            </a:pPr>
            <a:r>
              <a:rPr b="0" i="0" lang="en-US" sz="1000" u="none" cap="none" strike="noStrike">
                <a:solidFill>
                  <a:srgbClr val="3C3939"/>
                </a:solidFill>
                <a:latin typeface="Roboto"/>
                <a:ea typeface="Roboto"/>
                <a:cs typeface="Roboto"/>
                <a:sym typeface="Roboto"/>
              </a:rPr>
              <a:t>The account structure was designed to separate </a:t>
            </a:r>
            <a:r>
              <a:rPr b="1" i="0" lang="en-US" sz="1000" u="none" cap="none" strike="noStrike">
                <a:solidFill>
                  <a:srgbClr val="3C3939"/>
                </a:solidFill>
                <a:latin typeface="Roboto"/>
                <a:ea typeface="Roboto"/>
                <a:cs typeface="Roboto"/>
                <a:sym typeface="Roboto"/>
              </a:rPr>
              <a:t>testing from scaling.</a:t>
            </a:r>
            <a:endParaRPr b="0" i="0" sz="1000" u="none" cap="none" strike="noStrike">
              <a:solidFill>
                <a:schemeClr val="dk1"/>
              </a:solidFill>
              <a:latin typeface="Calibri"/>
              <a:ea typeface="Calibri"/>
              <a:cs typeface="Calibri"/>
              <a:sym typeface="Calibri"/>
            </a:endParaRPr>
          </a:p>
        </p:txBody>
      </p:sp>
      <p:sp>
        <p:nvSpPr>
          <p:cNvPr id="206" name="Google Shape;206;p9"/>
          <p:cNvSpPr/>
          <p:nvPr/>
        </p:nvSpPr>
        <p:spPr>
          <a:xfrm>
            <a:off x="496119" y="1699915"/>
            <a:ext cx="4722763" cy="2239863"/>
          </a:xfrm>
          <a:prstGeom prst="roundRect">
            <a:avLst>
              <a:gd fmla="val 2409"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500881" y="1704677"/>
            <a:ext cx="2356619" cy="1311101"/>
          </a:xfrm>
          <a:custGeom>
            <a:rect b="b" l="l" r="r" t="t"/>
            <a:pathLst>
              <a:path extrusionOk="0" h="1311101" w="2356619">
                <a:moveTo>
                  <a:pt x="44967" y="0"/>
                </a:moveTo>
                <a:lnTo>
                  <a:pt x="2356619" y="0"/>
                </a:lnTo>
                <a:lnTo>
                  <a:pt x="2356619" y="1311101"/>
                </a:lnTo>
                <a:lnTo>
                  <a:pt x="0" y="1311101"/>
                </a:lnTo>
                <a:lnTo>
                  <a:pt x="0" y="44967"/>
                </a:lnTo>
                <a:cubicBezTo>
                  <a:pt x="0" y="20132"/>
                  <a:pt x="20132" y="0"/>
                  <a:pt x="44967" y="0"/>
                </a:cubicBezTo>
                <a:close/>
              </a:path>
            </a:pathLst>
          </a:cu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629320" y="1833116"/>
            <a:ext cx="2099742" cy="20069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50"/>
              <a:buFont typeface="Raleway"/>
              <a:buNone/>
            </a:pPr>
            <a:r>
              <a:rPr b="0" i="0" lang="en-US" sz="1250" u="none" cap="none" strike="noStrike">
                <a:solidFill>
                  <a:srgbClr val="3C3939"/>
                </a:solidFill>
                <a:latin typeface="Raleway"/>
                <a:ea typeface="Raleway"/>
                <a:cs typeface="Raleway"/>
                <a:sym typeface="Raleway"/>
              </a:rPr>
              <a:t>New Campaigns</a:t>
            </a:r>
            <a:endParaRPr b="0" i="0" sz="1250" u="none" cap="none" strike="noStrike">
              <a:solidFill>
                <a:schemeClr val="dk1"/>
              </a:solidFill>
              <a:latin typeface="Calibri"/>
              <a:ea typeface="Calibri"/>
              <a:cs typeface="Calibri"/>
              <a:sym typeface="Calibri"/>
            </a:endParaRPr>
          </a:p>
        </p:txBody>
      </p:sp>
      <p:sp>
        <p:nvSpPr>
          <p:cNvPr id="209" name="Google Shape;209;p9"/>
          <p:cNvSpPr/>
          <p:nvPr/>
        </p:nvSpPr>
        <p:spPr>
          <a:xfrm>
            <a:off x="629320" y="2103611"/>
            <a:ext cx="2099742" cy="783729"/>
          </a:xfrm>
          <a:prstGeom prst="rect">
            <a:avLst/>
          </a:prstGeom>
          <a:noFill/>
          <a:ln>
            <a:noFill/>
          </a:ln>
        </p:spPr>
        <p:txBody>
          <a:bodyPr anchorCtr="0" anchor="t" bIns="0" lIns="0" spcFirstLastPara="1" rIns="0" wrap="square" tIns="0">
            <a:normAutofit/>
          </a:bodyPr>
          <a:lstStyle/>
          <a:p>
            <a:pPr indent="0" lvl="0" marL="0" marR="0" rtl="0" algn="l">
              <a:lnSpc>
                <a:spcPct val="127000"/>
              </a:lnSpc>
              <a:spcBef>
                <a:spcPts val="0"/>
              </a:spcBef>
              <a:spcAft>
                <a:spcPts val="0"/>
              </a:spcAft>
              <a:buClr>
                <a:srgbClr val="3C3939"/>
              </a:buClr>
              <a:buSzPts val="1000"/>
              <a:buFont typeface="Roboto"/>
              <a:buNone/>
            </a:pPr>
            <a:r>
              <a:rPr b="1" i="0" lang="en-US" sz="1000" u="none" cap="none" strike="noStrike">
                <a:solidFill>
                  <a:srgbClr val="3C3939"/>
                </a:solidFill>
                <a:latin typeface="Roboto"/>
                <a:ea typeface="Roboto"/>
                <a:cs typeface="Roboto"/>
                <a:sym typeface="Roboto"/>
              </a:rPr>
              <a:t>~2 days</a:t>
            </a:r>
            <a:r>
              <a:rPr b="0" i="0" lang="en-US" sz="1000" u="none" cap="none" strike="noStrike">
                <a:solidFill>
                  <a:srgbClr val="3C3939"/>
                </a:solidFill>
                <a:latin typeface="Roboto"/>
                <a:ea typeface="Roboto"/>
                <a:cs typeface="Roboto"/>
                <a:sym typeface="Roboto"/>
              </a:rPr>
              <a:t> of consistent negative performance before shutdown consideration, depending on spend and data quality.</a:t>
            </a:r>
            <a:endParaRPr b="0" i="0" sz="1000" u="none" cap="none" strike="noStrike">
              <a:solidFill>
                <a:schemeClr val="dk1"/>
              </a:solidFill>
              <a:latin typeface="Calibri"/>
              <a:ea typeface="Calibri"/>
              <a:cs typeface="Calibri"/>
              <a:sym typeface="Calibri"/>
            </a:endParaRPr>
          </a:p>
        </p:txBody>
      </p:sp>
      <p:sp>
        <p:nvSpPr>
          <p:cNvPr id="210" name="Google Shape;210;p9"/>
          <p:cNvSpPr/>
          <p:nvPr/>
        </p:nvSpPr>
        <p:spPr>
          <a:xfrm>
            <a:off x="2857500" y="1704677"/>
            <a:ext cx="2356619" cy="1311101"/>
          </a:xfrm>
          <a:custGeom>
            <a:rect b="b" l="l" r="r" t="t"/>
            <a:pathLst>
              <a:path extrusionOk="0" h="1311101" w="2356619">
                <a:moveTo>
                  <a:pt x="0" y="0"/>
                </a:moveTo>
                <a:lnTo>
                  <a:pt x="2311652" y="0"/>
                </a:lnTo>
                <a:cubicBezTo>
                  <a:pt x="2323578" y="0"/>
                  <a:pt x="2335016" y="4738"/>
                  <a:pt x="2343448" y="13171"/>
                </a:cubicBezTo>
                <a:cubicBezTo>
                  <a:pt x="2351881" y="21603"/>
                  <a:pt x="2356619" y="33041"/>
                  <a:pt x="2356619" y="44967"/>
                </a:cubicBezTo>
                <a:lnTo>
                  <a:pt x="2356619" y="1311101"/>
                </a:lnTo>
                <a:lnTo>
                  <a:pt x="0" y="1311101"/>
                </a:lnTo>
                <a:lnTo>
                  <a:pt x="0" y="0"/>
                </a:lnTo>
                <a:close/>
              </a:path>
            </a:pathLst>
          </a:cu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2857500" y="1704677"/>
            <a:ext cx="14288" cy="1311101"/>
          </a:xfrm>
          <a:prstGeom prst="roundRect">
            <a:avLst>
              <a:gd fmla="val 49998"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2985939" y="1833116"/>
            <a:ext cx="2099742" cy="20069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50"/>
              <a:buFont typeface="Raleway"/>
              <a:buNone/>
            </a:pPr>
            <a:r>
              <a:rPr b="0" i="0" lang="en-US" sz="1250" u="none" cap="none" strike="noStrike">
                <a:solidFill>
                  <a:srgbClr val="3C3939"/>
                </a:solidFill>
                <a:latin typeface="Raleway"/>
                <a:ea typeface="Raleway"/>
                <a:cs typeface="Raleway"/>
                <a:sym typeface="Raleway"/>
              </a:rPr>
              <a:t>Deteriorating Winners</a:t>
            </a:r>
            <a:endParaRPr b="0" i="0" sz="1250" u="none" cap="none" strike="noStrike">
              <a:solidFill>
                <a:schemeClr val="dk1"/>
              </a:solidFill>
              <a:latin typeface="Calibri"/>
              <a:ea typeface="Calibri"/>
              <a:cs typeface="Calibri"/>
              <a:sym typeface="Calibri"/>
            </a:endParaRPr>
          </a:p>
        </p:txBody>
      </p:sp>
      <p:sp>
        <p:nvSpPr>
          <p:cNvPr id="213" name="Google Shape;213;p9"/>
          <p:cNvSpPr/>
          <p:nvPr/>
        </p:nvSpPr>
        <p:spPr>
          <a:xfrm>
            <a:off x="2985939" y="2103611"/>
            <a:ext cx="2099742" cy="587797"/>
          </a:xfrm>
          <a:prstGeom prst="rect">
            <a:avLst/>
          </a:prstGeom>
          <a:noFill/>
          <a:ln>
            <a:noFill/>
          </a:ln>
        </p:spPr>
        <p:txBody>
          <a:bodyPr anchorCtr="0" anchor="t" bIns="0" lIns="0" spcFirstLastPara="1" rIns="0" wrap="square" tIns="0">
            <a:normAutofit/>
          </a:bodyPr>
          <a:lstStyle/>
          <a:p>
            <a:pPr indent="0" lvl="0" marL="0" marR="0" rtl="0" algn="l">
              <a:lnSpc>
                <a:spcPct val="127000"/>
              </a:lnSpc>
              <a:spcBef>
                <a:spcPts val="0"/>
              </a:spcBef>
              <a:spcAft>
                <a:spcPts val="0"/>
              </a:spcAft>
              <a:buClr>
                <a:srgbClr val="3C3939"/>
              </a:buClr>
              <a:buSzPts val="1000"/>
              <a:buFont typeface="Roboto"/>
              <a:buNone/>
            </a:pPr>
            <a:r>
              <a:rPr b="1" i="0" lang="en-US" sz="1000" u="none" cap="none" strike="noStrike">
                <a:solidFill>
                  <a:srgbClr val="3C3939"/>
                </a:solidFill>
                <a:latin typeface="Roboto"/>
                <a:ea typeface="Roboto"/>
                <a:cs typeface="Roboto"/>
                <a:sym typeface="Roboto"/>
              </a:rPr>
              <a:t>−20% budget adjustment.</a:t>
            </a:r>
            <a:r>
              <a:rPr b="0" i="0" lang="en-US" sz="1000" u="none" cap="none" strike="noStrike">
                <a:solidFill>
                  <a:srgbClr val="3C3939"/>
                </a:solidFill>
                <a:latin typeface="Roboto"/>
                <a:ea typeface="Roboto"/>
                <a:cs typeface="Roboto"/>
                <a:sym typeface="Roboto"/>
              </a:rPr>
              <a:t> If negative performance persisted: Descale → reassess → eventually kill.</a:t>
            </a:r>
            <a:endParaRPr b="0" i="0" sz="1000" u="none" cap="none" strike="noStrike">
              <a:solidFill>
                <a:schemeClr val="dk1"/>
              </a:solidFill>
              <a:latin typeface="Calibri"/>
              <a:ea typeface="Calibri"/>
              <a:cs typeface="Calibri"/>
              <a:sym typeface="Calibri"/>
            </a:endParaRPr>
          </a:p>
        </p:txBody>
      </p:sp>
      <p:sp>
        <p:nvSpPr>
          <p:cNvPr id="214" name="Google Shape;214;p9"/>
          <p:cNvSpPr/>
          <p:nvPr/>
        </p:nvSpPr>
        <p:spPr>
          <a:xfrm>
            <a:off x="500881" y="3015779"/>
            <a:ext cx="4713238" cy="919237"/>
          </a:xfrm>
          <a:custGeom>
            <a:rect b="b" l="l" r="r" t="t"/>
            <a:pathLst>
              <a:path extrusionOk="0" h="919237" w="4713238">
                <a:moveTo>
                  <a:pt x="0" y="0"/>
                </a:moveTo>
                <a:lnTo>
                  <a:pt x="4713238" y="0"/>
                </a:lnTo>
                <a:lnTo>
                  <a:pt x="4713238" y="874270"/>
                </a:lnTo>
                <a:cubicBezTo>
                  <a:pt x="4713238" y="899105"/>
                  <a:pt x="4693106" y="919237"/>
                  <a:pt x="4668271" y="919237"/>
                </a:cubicBezTo>
                <a:lnTo>
                  <a:pt x="44967" y="919237"/>
                </a:lnTo>
                <a:cubicBezTo>
                  <a:pt x="20132" y="919237"/>
                  <a:pt x="0" y="899105"/>
                  <a:pt x="0" y="874270"/>
                </a:cubicBezTo>
                <a:lnTo>
                  <a:pt x="0" y="0"/>
                </a:lnTo>
                <a:close/>
              </a:path>
            </a:pathLst>
          </a:cu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500881" y="3015779"/>
            <a:ext cx="4713238" cy="14288"/>
          </a:xfrm>
          <a:prstGeom prst="roundRect">
            <a:avLst>
              <a:gd fmla="val 49998" name="adj"/>
            </a:avLst>
          </a:prstGeom>
          <a:solidFill>
            <a:srgbClr val="C7C7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29320" y="3144217"/>
            <a:ext cx="4456361" cy="20069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50"/>
              <a:buFont typeface="Raleway"/>
              <a:buNone/>
            </a:pPr>
            <a:r>
              <a:rPr b="0" i="0" lang="en-US" sz="1250" u="none" cap="none" strike="noStrike">
                <a:solidFill>
                  <a:srgbClr val="3C3939"/>
                </a:solidFill>
                <a:latin typeface="Raleway"/>
                <a:ea typeface="Raleway"/>
                <a:cs typeface="Raleway"/>
                <a:sym typeface="Raleway"/>
              </a:rPr>
              <a:t>Scaling Winners</a:t>
            </a:r>
            <a:endParaRPr b="0" i="0" sz="1250" u="none" cap="none" strike="noStrike">
              <a:solidFill>
                <a:schemeClr val="dk1"/>
              </a:solidFill>
              <a:latin typeface="Calibri"/>
              <a:ea typeface="Calibri"/>
              <a:cs typeface="Calibri"/>
              <a:sym typeface="Calibri"/>
            </a:endParaRPr>
          </a:p>
        </p:txBody>
      </p:sp>
      <p:sp>
        <p:nvSpPr>
          <p:cNvPr id="217" name="Google Shape;217;p9"/>
          <p:cNvSpPr/>
          <p:nvPr/>
        </p:nvSpPr>
        <p:spPr>
          <a:xfrm>
            <a:off x="629320" y="3414713"/>
            <a:ext cx="4456361" cy="391864"/>
          </a:xfrm>
          <a:prstGeom prst="rect">
            <a:avLst/>
          </a:prstGeom>
          <a:noFill/>
          <a:ln>
            <a:noFill/>
          </a:ln>
        </p:spPr>
        <p:txBody>
          <a:bodyPr anchorCtr="0" anchor="t" bIns="0" lIns="0" spcFirstLastPara="1" rIns="0" wrap="square" tIns="0">
            <a:normAutofit/>
          </a:bodyPr>
          <a:lstStyle/>
          <a:p>
            <a:pPr indent="0" lvl="0" marL="0" marR="0" rtl="0" algn="l">
              <a:lnSpc>
                <a:spcPct val="127000"/>
              </a:lnSpc>
              <a:spcBef>
                <a:spcPts val="0"/>
              </a:spcBef>
              <a:spcAft>
                <a:spcPts val="0"/>
              </a:spcAft>
              <a:buClr>
                <a:srgbClr val="3C3939"/>
              </a:buClr>
              <a:buSzPts val="1000"/>
              <a:buFont typeface="Roboto"/>
              <a:buNone/>
            </a:pPr>
            <a:r>
              <a:rPr b="1" i="0" lang="en-US" sz="1000" u="none" cap="none" strike="noStrike">
                <a:solidFill>
                  <a:srgbClr val="3C3939"/>
                </a:solidFill>
                <a:latin typeface="Roboto"/>
                <a:ea typeface="Roboto"/>
                <a:cs typeface="Roboto"/>
                <a:sym typeface="Roboto"/>
              </a:rPr>
              <a:t>+30–40% budget increase</a:t>
            </a:r>
            <a:r>
              <a:rPr b="0" i="0" lang="en-US" sz="1000" u="none" cap="none" strike="noStrike">
                <a:solidFill>
                  <a:srgbClr val="3C3939"/>
                </a:solidFill>
                <a:latin typeface="Roboto"/>
                <a:ea typeface="Roboto"/>
                <a:cs typeface="Roboto"/>
                <a:sym typeface="Roboto"/>
              </a:rPr>
              <a:t> approximately every 3 days once consistent profitable performance was demonstrated.</a:t>
            </a:r>
            <a:endParaRPr b="0" i="0" sz="1000" u="none" cap="none" strike="noStrike">
              <a:solidFill>
                <a:schemeClr val="dk1"/>
              </a:solidFill>
              <a:latin typeface="Calibri"/>
              <a:ea typeface="Calibri"/>
              <a:cs typeface="Calibri"/>
              <a:sym typeface="Calibri"/>
            </a:endParaRPr>
          </a:p>
        </p:txBody>
      </p:sp>
      <p:sp>
        <p:nvSpPr>
          <p:cNvPr id="218" name="Google Shape;218;p9"/>
          <p:cNvSpPr/>
          <p:nvPr/>
        </p:nvSpPr>
        <p:spPr>
          <a:xfrm>
            <a:off x="496119" y="4070747"/>
            <a:ext cx="4722763" cy="677168"/>
          </a:xfrm>
          <a:prstGeom prst="roundRect">
            <a:avLst>
              <a:gd fmla="val 7969" name="adj"/>
            </a:avLst>
          </a:prstGeom>
          <a:solidFill>
            <a:srgbClr val="E1E1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9" name="Google Shape;219;p9"/>
          <p:cNvPicPr preferRelativeResize="0"/>
          <p:nvPr/>
        </p:nvPicPr>
        <p:blipFill rotWithShape="1">
          <a:blip r:embed="rId4">
            <a:alphaModFix/>
          </a:blip>
          <a:srcRect b="0" l="0" r="0" t="0"/>
          <a:stretch/>
        </p:blipFill>
        <p:spPr>
          <a:xfrm>
            <a:off x="624557" y="4240113"/>
            <a:ext cx="160586" cy="128439"/>
          </a:xfrm>
          <a:prstGeom prst="rect">
            <a:avLst/>
          </a:prstGeom>
          <a:noFill/>
          <a:ln>
            <a:noFill/>
          </a:ln>
        </p:spPr>
      </p:pic>
      <p:sp>
        <p:nvSpPr>
          <p:cNvPr id="220" name="Google Shape;220;p9"/>
          <p:cNvSpPr/>
          <p:nvPr/>
        </p:nvSpPr>
        <p:spPr>
          <a:xfrm>
            <a:off x="913581" y="4219203"/>
            <a:ext cx="4176861" cy="391864"/>
          </a:xfrm>
          <a:prstGeom prst="rect">
            <a:avLst/>
          </a:prstGeom>
          <a:noFill/>
          <a:ln>
            <a:noFill/>
          </a:ln>
        </p:spPr>
        <p:txBody>
          <a:bodyPr anchorCtr="0" anchor="t" bIns="0" lIns="0" spcFirstLastPara="1" rIns="0" wrap="square" tIns="0">
            <a:normAutofit/>
          </a:bodyPr>
          <a:lstStyle/>
          <a:p>
            <a:pPr indent="0" lvl="0" marL="0" marR="0" rtl="0" algn="l">
              <a:lnSpc>
                <a:spcPct val="127000"/>
              </a:lnSpc>
              <a:spcBef>
                <a:spcPts val="0"/>
              </a:spcBef>
              <a:spcAft>
                <a:spcPts val="0"/>
              </a:spcAft>
              <a:buClr>
                <a:srgbClr val="000000"/>
              </a:buClr>
              <a:buSzPts val="1000"/>
              <a:buFont typeface="Roboto"/>
              <a:buNone/>
            </a:pPr>
            <a:r>
              <a:rPr b="1" i="0" lang="en-US" sz="1000" u="none" cap="none" strike="noStrike">
                <a:solidFill>
                  <a:srgbClr val="000000"/>
                </a:solidFill>
                <a:latin typeface="Roboto"/>
                <a:ea typeface="Roboto"/>
                <a:cs typeface="Roboto"/>
                <a:sym typeface="Roboto"/>
              </a:rPr>
              <a:t>Why this worked:</a:t>
            </a:r>
            <a:r>
              <a:rPr b="0" i="0" lang="en-US" sz="1000" u="none" cap="none" strike="noStrike">
                <a:solidFill>
                  <a:srgbClr val="000000"/>
                </a:solidFill>
                <a:latin typeface="Roboto"/>
                <a:ea typeface="Roboto"/>
                <a:cs typeface="Roboto"/>
                <a:sym typeface="Roboto"/>
              </a:rPr>
              <a:t> Scale came from finding more repeatable winners, not simply forcing more budget into one campaign.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0"/>
          <p:cNvSpPr/>
          <p:nvPr/>
        </p:nvSpPr>
        <p:spPr>
          <a:xfrm>
            <a:off x="496119" y="418430"/>
            <a:ext cx="8151763" cy="40838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550"/>
              <a:buFont typeface="Raleway"/>
              <a:buNone/>
            </a:pPr>
            <a:r>
              <a:rPr b="0" i="0" lang="en-US" sz="2550" u="none" cap="none" strike="noStrike">
                <a:solidFill>
                  <a:srgbClr val="1B1B27"/>
                </a:solidFill>
                <a:latin typeface="Raleway"/>
                <a:ea typeface="Raleway"/>
                <a:cs typeface="Raleway"/>
                <a:sym typeface="Raleway"/>
              </a:rPr>
              <a:t>The Buyer Feedback Loop</a:t>
            </a:r>
            <a:endParaRPr b="0" i="0" sz="2550" u="none" cap="none" strike="noStrike">
              <a:solidFill>
                <a:schemeClr val="dk1"/>
              </a:solidFill>
              <a:latin typeface="Calibri"/>
              <a:ea typeface="Calibri"/>
              <a:cs typeface="Calibri"/>
              <a:sym typeface="Calibri"/>
            </a:endParaRPr>
          </a:p>
        </p:txBody>
      </p:sp>
      <p:sp>
        <p:nvSpPr>
          <p:cNvPr id="227" name="Google Shape;227;p10"/>
          <p:cNvSpPr/>
          <p:nvPr/>
        </p:nvSpPr>
        <p:spPr>
          <a:xfrm>
            <a:off x="496119" y="1067767"/>
            <a:ext cx="8151763" cy="401687"/>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3C3939"/>
              </a:buClr>
              <a:buSzPts val="1000"/>
              <a:buFont typeface="Roboto"/>
              <a:buNone/>
            </a:pPr>
            <a:r>
              <a:rPr b="0" i="0" lang="en-US" sz="1000" u="none" cap="none" strike="noStrike">
                <a:solidFill>
                  <a:srgbClr val="3C3939"/>
                </a:solidFill>
                <a:latin typeface="Roboto"/>
                <a:ea typeface="Roboto"/>
                <a:cs typeface="Roboto"/>
                <a:sym typeface="Roboto"/>
              </a:rPr>
              <a:t>We did not optimize inside an advertising platform in isolation. The buyer supplied </a:t>
            </a:r>
            <a:r>
              <a:rPr b="1" i="0" lang="en-US" sz="1000" u="none" cap="none" strike="noStrike">
                <a:solidFill>
                  <a:srgbClr val="3C3939"/>
                </a:solidFill>
                <a:latin typeface="Roboto"/>
                <a:ea typeface="Roboto"/>
                <a:cs typeface="Roboto"/>
                <a:sym typeface="Roboto"/>
              </a:rPr>
              <a:t>weekly downstream CPA and call-quality performance </a:t>
            </a:r>
            <a:r>
              <a:rPr b="0" i="0" lang="en-US" sz="1000" u="none" cap="none" strike="noStrike">
                <a:solidFill>
                  <a:srgbClr val="3C3939"/>
                </a:solidFill>
                <a:latin typeface="Roboto"/>
                <a:ea typeface="Roboto"/>
                <a:cs typeface="Roboto"/>
                <a:sym typeface="Roboto"/>
              </a:rPr>
              <a:t>reports, creating a downstream feedback loop.</a:t>
            </a:r>
            <a:endParaRPr b="0" i="0" sz="1000" u="none" cap="none" strike="noStrike">
              <a:solidFill>
                <a:schemeClr val="dk1"/>
              </a:solidFill>
              <a:latin typeface="Calibri"/>
              <a:ea typeface="Calibri"/>
              <a:cs typeface="Calibri"/>
              <a:sym typeface="Calibri"/>
            </a:endParaRPr>
          </a:p>
        </p:txBody>
      </p:sp>
      <p:pic>
        <p:nvPicPr>
          <p:cNvPr descr="preencoded.png" id="228" name="Google Shape;228;p10"/>
          <p:cNvPicPr preferRelativeResize="0"/>
          <p:nvPr/>
        </p:nvPicPr>
        <p:blipFill rotWithShape="1">
          <a:blip r:embed="rId3">
            <a:alphaModFix/>
          </a:blip>
          <a:srcRect b="0" l="0" r="0" t="0"/>
          <a:stretch/>
        </p:blipFill>
        <p:spPr>
          <a:xfrm>
            <a:off x="496119" y="1740471"/>
            <a:ext cx="5187032" cy="1946374"/>
          </a:xfrm>
          <a:prstGeom prst="rect">
            <a:avLst/>
          </a:prstGeom>
          <a:noFill/>
          <a:ln>
            <a:noFill/>
          </a:ln>
        </p:spPr>
      </p:pic>
      <p:sp>
        <p:nvSpPr>
          <p:cNvPr id="229" name="Google Shape;229;p10"/>
          <p:cNvSpPr/>
          <p:nvPr/>
        </p:nvSpPr>
        <p:spPr>
          <a:xfrm>
            <a:off x="4687160" y="3138990"/>
            <a:ext cx="782344" cy="301416"/>
          </a:xfrm>
          <a:prstGeom prst="rect">
            <a:avLst/>
          </a:prstGeom>
          <a:noFill/>
          <a:ln>
            <a:noFill/>
          </a:ln>
        </p:spPr>
        <p:txBody>
          <a:bodyPr anchorCtr="0" anchor="t" bIns="0" lIns="0" spcFirstLastPara="1" rIns="0" wrap="square" tIns="0">
            <a:normAutofit/>
          </a:bodyPr>
          <a:lstStyle/>
          <a:p>
            <a:pPr indent="0" lvl="0" marL="0" marR="0" rtl="0" algn="ctr">
              <a:lnSpc>
                <a:spcPct val="104000"/>
              </a:lnSpc>
              <a:spcBef>
                <a:spcPts val="0"/>
              </a:spcBef>
              <a:spcAft>
                <a:spcPts val="0"/>
              </a:spcAft>
              <a:buClr>
                <a:srgbClr val="3C3939"/>
              </a:buClr>
              <a:buSzPts val="900"/>
              <a:buFont typeface="Raleway"/>
              <a:buNone/>
            </a:pPr>
            <a:r>
              <a:rPr b="0" i="0" lang="en-US" sz="900" u="none" cap="none" strike="noStrike">
                <a:solidFill>
                  <a:srgbClr val="3C3939"/>
                </a:solidFill>
                <a:latin typeface="Raleway"/>
                <a:ea typeface="Raleway"/>
                <a:cs typeface="Raleway"/>
                <a:sym typeface="Raleway"/>
              </a:rPr>
              <a:t>Adjust Targeting</a:t>
            </a:r>
            <a:endParaRPr b="0" i="0" sz="900" u="none" cap="none" strike="noStrike">
              <a:solidFill>
                <a:schemeClr val="dk1"/>
              </a:solidFill>
              <a:latin typeface="Calibri"/>
              <a:ea typeface="Calibri"/>
              <a:cs typeface="Calibri"/>
              <a:sym typeface="Calibri"/>
            </a:endParaRPr>
          </a:p>
        </p:txBody>
      </p:sp>
      <p:sp>
        <p:nvSpPr>
          <p:cNvPr id="230" name="Google Shape;230;p10"/>
          <p:cNvSpPr/>
          <p:nvPr/>
        </p:nvSpPr>
        <p:spPr>
          <a:xfrm>
            <a:off x="3701192" y="3138990"/>
            <a:ext cx="782344" cy="301416"/>
          </a:xfrm>
          <a:prstGeom prst="rect">
            <a:avLst/>
          </a:prstGeom>
          <a:noFill/>
          <a:ln>
            <a:noFill/>
          </a:ln>
        </p:spPr>
        <p:txBody>
          <a:bodyPr anchorCtr="0" anchor="t" bIns="0" lIns="0" spcFirstLastPara="1" rIns="0" wrap="square" tIns="0">
            <a:normAutofit/>
          </a:bodyPr>
          <a:lstStyle/>
          <a:p>
            <a:pPr indent="0" lvl="0" marL="0" marR="0" rtl="0" algn="ctr">
              <a:lnSpc>
                <a:spcPct val="104000"/>
              </a:lnSpc>
              <a:spcBef>
                <a:spcPts val="0"/>
              </a:spcBef>
              <a:spcAft>
                <a:spcPts val="0"/>
              </a:spcAft>
              <a:buClr>
                <a:srgbClr val="3C3939"/>
              </a:buClr>
              <a:buSzPts val="900"/>
              <a:buFont typeface="Raleway"/>
              <a:buNone/>
            </a:pPr>
            <a:r>
              <a:rPr b="0" i="0" lang="en-US" sz="900" u="none" cap="none" strike="noStrike">
                <a:solidFill>
                  <a:srgbClr val="3C3939"/>
                </a:solidFill>
                <a:latin typeface="Raleway"/>
                <a:ea typeface="Raleway"/>
                <a:cs typeface="Raleway"/>
                <a:sym typeface="Raleway"/>
              </a:rPr>
              <a:t>Reallocate Budget</a:t>
            </a:r>
            <a:endParaRPr b="0" i="0" sz="900" u="none" cap="none" strike="noStrike">
              <a:solidFill>
                <a:schemeClr val="dk1"/>
              </a:solidFill>
              <a:latin typeface="Calibri"/>
              <a:ea typeface="Calibri"/>
              <a:cs typeface="Calibri"/>
              <a:sym typeface="Calibri"/>
            </a:endParaRPr>
          </a:p>
        </p:txBody>
      </p:sp>
      <p:sp>
        <p:nvSpPr>
          <p:cNvPr id="231" name="Google Shape;231;p10"/>
          <p:cNvSpPr/>
          <p:nvPr/>
        </p:nvSpPr>
        <p:spPr>
          <a:xfrm>
            <a:off x="2720583" y="3138990"/>
            <a:ext cx="782344" cy="301416"/>
          </a:xfrm>
          <a:prstGeom prst="rect">
            <a:avLst/>
          </a:prstGeom>
          <a:noFill/>
          <a:ln>
            <a:noFill/>
          </a:ln>
        </p:spPr>
        <p:txBody>
          <a:bodyPr anchorCtr="0" anchor="t" bIns="0" lIns="0" spcFirstLastPara="1" rIns="0" wrap="square" tIns="0">
            <a:normAutofit/>
          </a:bodyPr>
          <a:lstStyle/>
          <a:p>
            <a:pPr indent="0" lvl="0" marL="0" marR="0" rtl="0" algn="ctr">
              <a:lnSpc>
                <a:spcPct val="104000"/>
              </a:lnSpc>
              <a:spcBef>
                <a:spcPts val="0"/>
              </a:spcBef>
              <a:spcAft>
                <a:spcPts val="0"/>
              </a:spcAft>
              <a:buClr>
                <a:srgbClr val="3C3939"/>
              </a:buClr>
              <a:buSzPts val="900"/>
              <a:buFont typeface="Raleway"/>
              <a:buNone/>
            </a:pPr>
            <a:r>
              <a:rPr b="0" i="0" lang="en-US" sz="900" u="none" cap="none" strike="noStrike">
                <a:solidFill>
                  <a:srgbClr val="3C3939"/>
                </a:solidFill>
                <a:latin typeface="Raleway"/>
                <a:ea typeface="Raleway"/>
                <a:cs typeface="Raleway"/>
                <a:sym typeface="Raleway"/>
              </a:rPr>
              <a:t>Analyze Drivers</a:t>
            </a:r>
            <a:endParaRPr b="0" i="0" sz="900" u="none" cap="none" strike="noStrike">
              <a:solidFill>
                <a:schemeClr val="dk1"/>
              </a:solidFill>
              <a:latin typeface="Calibri"/>
              <a:ea typeface="Calibri"/>
              <a:cs typeface="Calibri"/>
              <a:sym typeface="Calibri"/>
            </a:endParaRPr>
          </a:p>
        </p:txBody>
      </p:sp>
      <p:sp>
        <p:nvSpPr>
          <p:cNvPr id="232" name="Google Shape;232;p10"/>
          <p:cNvSpPr/>
          <p:nvPr/>
        </p:nvSpPr>
        <p:spPr>
          <a:xfrm>
            <a:off x="1739973" y="3138990"/>
            <a:ext cx="782344" cy="301416"/>
          </a:xfrm>
          <a:prstGeom prst="rect">
            <a:avLst/>
          </a:prstGeom>
          <a:noFill/>
          <a:ln>
            <a:noFill/>
          </a:ln>
        </p:spPr>
        <p:txBody>
          <a:bodyPr anchorCtr="0" anchor="t" bIns="0" lIns="0" spcFirstLastPara="1" rIns="0" wrap="square" tIns="0">
            <a:normAutofit/>
          </a:bodyPr>
          <a:lstStyle/>
          <a:p>
            <a:pPr indent="0" lvl="0" marL="0" marR="0" rtl="0" algn="ctr">
              <a:lnSpc>
                <a:spcPct val="104000"/>
              </a:lnSpc>
              <a:spcBef>
                <a:spcPts val="0"/>
              </a:spcBef>
              <a:spcAft>
                <a:spcPts val="0"/>
              </a:spcAft>
              <a:buClr>
                <a:srgbClr val="3C3939"/>
              </a:buClr>
              <a:buSzPts val="900"/>
              <a:buFont typeface="Raleway"/>
              <a:buNone/>
            </a:pPr>
            <a:r>
              <a:rPr b="0" i="0" lang="en-US" sz="900" u="none" cap="none" strike="noStrike">
                <a:solidFill>
                  <a:srgbClr val="3C3939"/>
                </a:solidFill>
                <a:latin typeface="Raleway"/>
                <a:ea typeface="Raleway"/>
                <a:cs typeface="Raleway"/>
                <a:sym typeface="Raleway"/>
              </a:rPr>
              <a:t>Identify Patterns</a:t>
            </a:r>
            <a:endParaRPr b="0" i="0" sz="900" u="none" cap="none" strike="noStrike">
              <a:solidFill>
                <a:schemeClr val="dk1"/>
              </a:solidFill>
              <a:latin typeface="Calibri"/>
              <a:ea typeface="Calibri"/>
              <a:cs typeface="Calibri"/>
              <a:sym typeface="Calibri"/>
            </a:endParaRPr>
          </a:p>
        </p:txBody>
      </p:sp>
      <p:sp>
        <p:nvSpPr>
          <p:cNvPr id="233" name="Google Shape;233;p10"/>
          <p:cNvSpPr/>
          <p:nvPr/>
        </p:nvSpPr>
        <p:spPr>
          <a:xfrm>
            <a:off x="737930" y="3214344"/>
            <a:ext cx="782344" cy="150708"/>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C3939"/>
              </a:buClr>
              <a:buSzPts val="900"/>
              <a:buFont typeface="Raleway"/>
              <a:buNone/>
            </a:pPr>
            <a:r>
              <a:rPr b="0" i="0" lang="en-US" sz="900" u="none" cap="none" strike="noStrike">
                <a:solidFill>
                  <a:srgbClr val="3C3939"/>
                </a:solidFill>
                <a:latin typeface="Raleway"/>
                <a:ea typeface="Raleway"/>
                <a:cs typeface="Raleway"/>
                <a:sym typeface="Raleway"/>
              </a:rPr>
              <a:t>Weekly Data</a:t>
            </a:r>
            <a:endParaRPr b="0" i="0" sz="900" u="none" cap="none" strike="noStrike">
              <a:solidFill>
                <a:schemeClr val="dk1"/>
              </a:solidFill>
              <a:latin typeface="Calibri"/>
              <a:ea typeface="Calibri"/>
              <a:cs typeface="Calibri"/>
              <a:sym typeface="Calibri"/>
            </a:endParaRPr>
          </a:p>
        </p:txBody>
      </p:sp>
      <p:sp>
        <p:nvSpPr>
          <p:cNvPr id="234" name="Google Shape;234;p10"/>
          <p:cNvSpPr/>
          <p:nvPr/>
        </p:nvSpPr>
        <p:spPr>
          <a:xfrm>
            <a:off x="6006703" y="2155701"/>
            <a:ext cx="2645866" cy="204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1250"/>
              <a:buFont typeface="Raleway"/>
              <a:buNone/>
            </a:pPr>
            <a:r>
              <a:rPr b="0" i="0" lang="en-US" sz="1250" u="none" cap="none" strike="noStrike">
                <a:solidFill>
                  <a:srgbClr val="1B1B27"/>
                </a:solidFill>
                <a:latin typeface="Raleway"/>
                <a:ea typeface="Raleway"/>
                <a:cs typeface="Raleway"/>
                <a:sym typeface="Raleway"/>
              </a:rPr>
              <a:t>What This Changed</a:t>
            </a:r>
            <a:endParaRPr b="0" i="0" sz="1250" u="none" cap="none" strike="noStrike">
              <a:solidFill>
                <a:schemeClr val="dk1"/>
              </a:solidFill>
              <a:latin typeface="Calibri"/>
              <a:ea typeface="Calibri"/>
              <a:cs typeface="Calibri"/>
              <a:sym typeface="Calibri"/>
            </a:endParaRPr>
          </a:p>
        </p:txBody>
      </p:sp>
      <p:sp>
        <p:nvSpPr>
          <p:cNvPr id="235" name="Google Shape;235;p10"/>
          <p:cNvSpPr/>
          <p:nvPr/>
        </p:nvSpPr>
        <p:spPr>
          <a:xfrm>
            <a:off x="6006703" y="2480295"/>
            <a:ext cx="2645866" cy="803374"/>
          </a:xfrm>
          <a:prstGeom prst="rect">
            <a:avLst/>
          </a:prstGeom>
          <a:noFill/>
          <a:ln>
            <a:noFill/>
          </a:ln>
        </p:spPr>
        <p:txBody>
          <a:bodyPr anchorCtr="0" anchor="t" bIns="0" lIns="0" spcFirstLastPara="1" rIns="0" wrap="square" tIns="0">
            <a:normAutofit/>
          </a:bodyPr>
          <a:lstStyle/>
          <a:p>
            <a:pPr indent="0" lvl="0" marL="0" marR="0" rtl="0" algn="l">
              <a:lnSpc>
                <a:spcPct val="128000"/>
              </a:lnSpc>
              <a:spcBef>
                <a:spcPts val="0"/>
              </a:spcBef>
              <a:spcAft>
                <a:spcPts val="0"/>
              </a:spcAft>
              <a:buClr>
                <a:srgbClr val="3C3939"/>
              </a:buClr>
              <a:buSzPts val="1000"/>
              <a:buFont typeface="Roboto"/>
              <a:buNone/>
            </a:pPr>
            <a:r>
              <a:rPr b="1" i="0" lang="en-US" sz="1000" u="none" cap="none" strike="noStrike">
                <a:solidFill>
                  <a:srgbClr val="3C3939"/>
                </a:solidFill>
                <a:latin typeface="Roboto"/>
                <a:ea typeface="Roboto"/>
                <a:cs typeface="Roboto"/>
                <a:sym typeface="Roboto"/>
              </a:rPr>
              <a:t>Result:</a:t>
            </a:r>
            <a:r>
              <a:rPr b="0" i="0" lang="en-US" sz="1000" u="none" cap="none" strike="noStrike">
                <a:solidFill>
                  <a:srgbClr val="3C3939"/>
                </a:solidFill>
                <a:latin typeface="Roboto"/>
                <a:ea typeface="Roboto"/>
                <a:cs typeface="Roboto"/>
                <a:sym typeface="Roboto"/>
              </a:rPr>
              <a:t> The optimization system increasingly selected for traffic that was valuable after the click, rather than traffic that merely looked good inside the ad platform.</a:t>
            </a:r>
            <a:endParaRPr b="0" i="0" sz="1000" u="none" cap="none" strike="noStrike">
              <a:solidFill>
                <a:schemeClr val="dk1"/>
              </a:solidFill>
              <a:latin typeface="Calibri"/>
              <a:ea typeface="Calibri"/>
              <a:cs typeface="Calibri"/>
              <a:sym typeface="Calibri"/>
            </a:endParaRPr>
          </a:p>
        </p:txBody>
      </p:sp>
      <p:pic>
        <p:nvPicPr>
          <p:cNvPr descr="preencoded.png" id="236" name="Google Shape;236;p10"/>
          <p:cNvPicPr preferRelativeResize="0"/>
          <p:nvPr/>
        </p:nvPicPr>
        <p:blipFill rotWithShape="1">
          <a:blip r:embed="rId4">
            <a:alphaModFix/>
          </a:blip>
          <a:srcRect b="0" l="0" r="0" t="0"/>
          <a:stretch/>
        </p:blipFill>
        <p:spPr>
          <a:xfrm>
            <a:off x="496119" y="3957861"/>
            <a:ext cx="4015606" cy="767135"/>
          </a:xfrm>
          <a:prstGeom prst="rect">
            <a:avLst/>
          </a:prstGeom>
          <a:noFill/>
          <a:ln>
            <a:noFill/>
          </a:ln>
        </p:spPr>
      </p:pic>
      <p:sp>
        <p:nvSpPr>
          <p:cNvPr id="237" name="Google Shape;237;p10"/>
          <p:cNvSpPr/>
          <p:nvPr/>
        </p:nvSpPr>
        <p:spPr>
          <a:xfrm>
            <a:off x="698227" y="4102819"/>
            <a:ext cx="3668539" cy="204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50"/>
              <a:buFont typeface="Raleway"/>
              <a:buNone/>
            </a:pPr>
            <a:r>
              <a:rPr b="0" i="0" lang="en-US" sz="1250" u="none" cap="none" strike="noStrike">
                <a:solidFill>
                  <a:srgbClr val="3C3939"/>
                </a:solidFill>
                <a:latin typeface="Raleway"/>
                <a:ea typeface="Raleway"/>
                <a:cs typeface="Raleway"/>
                <a:sym typeface="Raleway"/>
              </a:rPr>
              <a:t>Before</a:t>
            </a:r>
            <a:endParaRPr b="0" i="0" sz="1250" u="none" cap="none" strike="noStrike">
              <a:solidFill>
                <a:schemeClr val="dk1"/>
              </a:solidFill>
              <a:latin typeface="Calibri"/>
              <a:ea typeface="Calibri"/>
              <a:cs typeface="Calibri"/>
              <a:sym typeface="Calibri"/>
            </a:endParaRPr>
          </a:p>
        </p:txBody>
      </p:sp>
      <p:sp>
        <p:nvSpPr>
          <p:cNvPr id="238" name="Google Shape;238;p10"/>
          <p:cNvSpPr/>
          <p:nvPr/>
        </p:nvSpPr>
        <p:spPr>
          <a:xfrm>
            <a:off x="698227" y="4379193"/>
            <a:ext cx="3668539" cy="200844"/>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000"/>
              <a:buFont typeface="Roboto"/>
              <a:buNone/>
            </a:pPr>
            <a:r>
              <a:rPr b="0" i="0" lang="en-US" sz="1000" u="none" cap="none" strike="noStrike">
                <a:solidFill>
                  <a:srgbClr val="3C3939"/>
                </a:solidFill>
                <a:latin typeface="Roboto"/>
                <a:ea typeface="Roboto"/>
                <a:cs typeface="Roboto"/>
                <a:sym typeface="Roboto"/>
              </a:rPr>
              <a:t>Optimizing for metrics that looked good inside the ad platform</a:t>
            </a:r>
            <a:endParaRPr b="0" i="0" sz="1000" u="none" cap="none" strike="noStrike">
              <a:solidFill>
                <a:schemeClr val="dk1"/>
              </a:solidFill>
              <a:latin typeface="Calibri"/>
              <a:ea typeface="Calibri"/>
              <a:cs typeface="Calibri"/>
              <a:sym typeface="Calibri"/>
            </a:endParaRPr>
          </a:p>
        </p:txBody>
      </p:sp>
      <p:pic>
        <p:nvPicPr>
          <p:cNvPr descr="preencoded.png" id="239" name="Google Shape;239;p10"/>
          <p:cNvPicPr preferRelativeResize="0"/>
          <p:nvPr/>
        </p:nvPicPr>
        <p:blipFill rotWithShape="1">
          <a:blip r:embed="rId4">
            <a:alphaModFix/>
          </a:blip>
          <a:srcRect b="0" l="0" r="0" t="0"/>
          <a:stretch/>
        </p:blipFill>
        <p:spPr>
          <a:xfrm>
            <a:off x="4632201" y="3957861"/>
            <a:ext cx="4015680" cy="767135"/>
          </a:xfrm>
          <a:prstGeom prst="rect">
            <a:avLst/>
          </a:prstGeom>
          <a:noFill/>
          <a:ln>
            <a:noFill/>
          </a:ln>
        </p:spPr>
      </p:pic>
      <p:sp>
        <p:nvSpPr>
          <p:cNvPr id="240" name="Google Shape;240;p10"/>
          <p:cNvSpPr/>
          <p:nvPr/>
        </p:nvSpPr>
        <p:spPr>
          <a:xfrm>
            <a:off x="4834310" y="4102819"/>
            <a:ext cx="3668613" cy="20411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250"/>
              <a:buFont typeface="Raleway"/>
              <a:buNone/>
            </a:pPr>
            <a:r>
              <a:rPr b="0" i="0" lang="en-US" sz="1250" u="none" cap="none" strike="noStrike">
                <a:solidFill>
                  <a:srgbClr val="3C3939"/>
                </a:solidFill>
                <a:latin typeface="Raleway"/>
                <a:ea typeface="Raleway"/>
                <a:cs typeface="Raleway"/>
                <a:sym typeface="Raleway"/>
              </a:rPr>
              <a:t>After</a:t>
            </a:r>
            <a:endParaRPr b="0" i="0" sz="1250" u="none" cap="none" strike="noStrike">
              <a:solidFill>
                <a:schemeClr val="dk1"/>
              </a:solidFill>
              <a:latin typeface="Calibri"/>
              <a:ea typeface="Calibri"/>
              <a:cs typeface="Calibri"/>
              <a:sym typeface="Calibri"/>
            </a:endParaRPr>
          </a:p>
        </p:txBody>
      </p:sp>
      <p:sp>
        <p:nvSpPr>
          <p:cNvPr id="241" name="Google Shape;241;p10"/>
          <p:cNvSpPr/>
          <p:nvPr/>
        </p:nvSpPr>
        <p:spPr>
          <a:xfrm>
            <a:off x="4834310" y="4379193"/>
            <a:ext cx="3668613" cy="200844"/>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3C3939"/>
              </a:buClr>
              <a:buSzPts val="1000"/>
              <a:buFont typeface="Roboto"/>
              <a:buNone/>
            </a:pPr>
            <a:r>
              <a:rPr b="0" i="0" lang="en-US" sz="1000" u="none" cap="none" strike="noStrike">
                <a:solidFill>
                  <a:srgbClr val="3C3939"/>
                </a:solidFill>
                <a:latin typeface="Roboto"/>
                <a:ea typeface="Roboto"/>
                <a:cs typeface="Roboto"/>
                <a:sym typeface="Roboto"/>
              </a:rPr>
              <a:t>Selecting for traffic that was valuable </a:t>
            </a:r>
            <a:r>
              <a:rPr b="0" i="1" lang="en-US" sz="1000" u="none" cap="none" strike="noStrike">
                <a:solidFill>
                  <a:srgbClr val="3C3939"/>
                </a:solidFill>
                <a:latin typeface="Roboto"/>
                <a:ea typeface="Roboto"/>
                <a:cs typeface="Roboto"/>
                <a:sym typeface="Roboto"/>
              </a:rPr>
              <a:t>after</a:t>
            </a:r>
            <a:r>
              <a:rPr b="0" i="0" lang="en-US" sz="1000" u="none" cap="none" strike="noStrike">
                <a:solidFill>
                  <a:srgbClr val="3C3939"/>
                </a:solidFill>
                <a:latin typeface="Roboto"/>
                <a:ea typeface="Roboto"/>
                <a:cs typeface="Roboto"/>
                <a:sym typeface="Roboto"/>
              </a:rPr>
              <a:t> the click</a:t>
            </a:r>
            <a:endParaRPr b="0" i="0" sz="1000" u="none" cap="none" strike="noStrike">
              <a:solidFill>
                <a:schemeClr val="dk1"/>
              </a:solidFill>
              <a:latin typeface="Calibri"/>
              <a:ea typeface="Calibri"/>
              <a:cs typeface="Calibri"/>
              <a:sym typeface="Calibri"/>
            </a:endParaRPr>
          </a:p>
        </p:txBody>
      </p:sp>
      <p:sp>
        <p:nvSpPr>
          <p:cNvPr id="242" name="Google Shape;242;p10"/>
          <p:cNvSpPr/>
          <p:nvPr/>
        </p:nvSpPr>
        <p:spPr>
          <a:xfrm>
            <a:off x="7922275" y="4801325"/>
            <a:ext cx="1221600" cy="342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descr="preencoded.png" id="248" name="Google Shape;248;p11"/>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249" name="Google Shape;249;p11"/>
          <p:cNvSpPr/>
          <p:nvPr/>
        </p:nvSpPr>
        <p:spPr>
          <a:xfrm>
            <a:off x="3925119" y="434653"/>
            <a:ext cx="4722763" cy="733723"/>
          </a:xfrm>
          <a:prstGeom prst="rect">
            <a:avLst/>
          </a:prstGeom>
          <a:noFill/>
          <a:ln>
            <a:noFill/>
          </a:ln>
        </p:spPr>
        <p:txBody>
          <a:bodyPr anchorCtr="0" anchor="t" bIns="0" lIns="0" spcFirstLastPara="1" rIns="0" wrap="square" tIns="0">
            <a:normAutofit/>
          </a:bodyPr>
          <a:lstStyle/>
          <a:p>
            <a:pPr indent="0" lvl="0" marL="0" marR="0" rtl="0" algn="l">
              <a:lnSpc>
                <a:spcPct val="104000"/>
              </a:lnSpc>
              <a:spcBef>
                <a:spcPts val="0"/>
              </a:spcBef>
              <a:spcAft>
                <a:spcPts val="0"/>
              </a:spcAft>
              <a:buClr>
                <a:srgbClr val="1B1B27"/>
              </a:buClr>
              <a:buSzPts val="2300"/>
              <a:buFont typeface="Raleway"/>
              <a:buNone/>
            </a:pPr>
            <a:r>
              <a:rPr b="0" i="0" lang="en-US" sz="2300" u="none" cap="none" strike="noStrike">
                <a:solidFill>
                  <a:srgbClr val="1B1B27"/>
                </a:solidFill>
                <a:latin typeface="Raleway"/>
                <a:ea typeface="Raleway"/>
                <a:cs typeface="Raleway"/>
                <a:sym typeface="Raleway"/>
              </a:rPr>
              <a:t>Systems Thinking, Not Single-Campaign Wins</a:t>
            </a:r>
            <a:endParaRPr b="0" i="0" sz="2300" u="none" cap="none" strike="noStrike">
              <a:solidFill>
                <a:schemeClr val="dk1"/>
              </a:solidFill>
              <a:latin typeface="Calibri"/>
              <a:ea typeface="Calibri"/>
              <a:cs typeface="Calibri"/>
              <a:sym typeface="Calibri"/>
            </a:endParaRPr>
          </a:p>
        </p:txBody>
      </p:sp>
      <p:sp>
        <p:nvSpPr>
          <p:cNvPr id="250" name="Google Shape;250;p11"/>
          <p:cNvSpPr/>
          <p:nvPr/>
        </p:nvSpPr>
        <p:spPr>
          <a:xfrm>
            <a:off x="3925119" y="1314152"/>
            <a:ext cx="4722763" cy="515020"/>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3C3939"/>
              </a:buClr>
              <a:buSzPts val="900"/>
              <a:buFont typeface="Roboto"/>
              <a:buNone/>
            </a:pPr>
            <a:r>
              <a:rPr b="0" i="0" lang="en-US" sz="900" u="none" cap="none" strike="noStrike">
                <a:solidFill>
                  <a:srgbClr val="3C3939"/>
                </a:solidFill>
                <a:latin typeface="Roboto"/>
                <a:ea typeface="Roboto"/>
                <a:cs typeface="Roboto"/>
                <a:sym typeface="Roboto"/>
              </a:rPr>
              <a:t>This case study represents a </a:t>
            </a:r>
            <a:r>
              <a:rPr b="1" i="0" lang="en-US" sz="900" u="none" cap="none" strike="noStrike">
                <a:solidFill>
                  <a:srgbClr val="3C3939"/>
                </a:solidFill>
                <a:latin typeface="Roboto"/>
                <a:ea typeface="Roboto"/>
                <a:cs typeface="Roboto"/>
                <a:sym typeface="Roboto"/>
              </a:rPr>
              <a:t>2-year, full-funnel performance operation</a:t>
            </a:r>
            <a:r>
              <a:rPr b="0" i="0" lang="en-US" sz="900" u="none" cap="none" strike="noStrike">
                <a:solidFill>
                  <a:srgbClr val="3C3939"/>
                </a:solidFill>
                <a:latin typeface="Roboto"/>
                <a:ea typeface="Roboto"/>
                <a:cs typeface="Roboto"/>
                <a:sym typeface="Roboto"/>
              </a:rPr>
              <a:t> — not a single campaign or a lucky month. The results were produced by building repeatable systems across creative, targeting, qualification, and optimization.</a:t>
            </a:r>
            <a:endParaRPr b="0" i="0" sz="900" u="none" cap="none" strike="noStrike">
              <a:solidFill>
                <a:schemeClr val="dk1"/>
              </a:solidFill>
              <a:latin typeface="Calibri"/>
              <a:ea typeface="Calibri"/>
              <a:cs typeface="Calibri"/>
              <a:sym typeface="Calibri"/>
            </a:endParaRPr>
          </a:p>
        </p:txBody>
      </p:sp>
      <p:sp>
        <p:nvSpPr>
          <p:cNvPr id="251" name="Google Shape;251;p11"/>
          <p:cNvSpPr/>
          <p:nvPr/>
        </p:nvSpPr>
        <p:spPr>
          <a:xfrm>
            <a:off x="3925119" y="1938486"/>
            <a:ext cx="2312789" cy="657597"/>
          </a:xfrm>
          <a:prstGeom prst="roundRect">
            <a:avLst>
              <a:gd fmla="val 7498"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4047232" y="2060600"/>
            <a:ext cx="2068562" cy="1834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150"/>
              <a:buFont typeface="Raleway"/>
              <a:buNone/>
            </a:pPr>
            <a:r>
              <a:rPr b="0" i="0" lang="en-US" sz="1150" u="none" cap="none" strike="noStrike">
                <a:solidFill>
                  <a:srgbClr val="3C3939"/>
                </a:solidFill>
                <a:latin typeface="Raleway"/>
                <a:ea typeface="Raleway"/>
                <a:cs typeface="Raleway"/>
                <a:sym typeface="Raleway"/>
              </a:rPr>
              <a:t>$5.4M+ Revenue</a:t>
            </a:r>
            <a:endParaRPr b="0" i="0" sz="1150" u="none" cap="none" strike="noStrike">
              <a:solidFill>
                <a:schemeClr val="dk1"/>
              </a:solidFill>
              <a:latin typeface="Calibri"/>
              <a:ea typeface="Calibri"/>
              <a:cs typeface="Calibri"/>
              <a:sym typeface="Calibri"/>
            </a:endParaRPr>
          </a:p>
        </p:txBody>
      </p:sp>
      <p:sp>
        <p:nvSpPr>
          <p:cNvPr id="253" name="Google Shape;253;p11"/>
          <p:cNvSpPr/>
          <p:nvPr/>
        </p:nvSpPr>
        <p:spPr>
          <a:xfrm>
            <a:off x="4047232" y="2302297"/>
            <a:ext cx="2068562" cy="17167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3C3939"/>
              </a:buClr>
              <a:buSzPts val="900"/>
              <a:buFont typeface="Roboto"/>
              <a:buNone/>
            </a:pPr>
            <a:r>
              <a:rPr b="0" i="0" lang="en-US" sz="900" u="none" cap="none" strike="noStrike">
                <a:solidFill>
                  <a:srgbClr val="3C3939"/>
                </a:solidFill>
                <a:latin typeface="Roboto"/>
                <a:ea typeface="Roboto"/>
                <a:cs typeface="Roboto"/>
                <a:sym typeface="Roboto"/>
              </a:rPr>
              <a:t>Across 2 years of sustained operation</a:t>
            </a:r>
            <a:endParaRPr b="0" i="0" sz="900" u="none" cap="none" strike="noStrike">
              <a:solidFill>
                <a:schemeClr val="dk1"/>
              </a:solidFill>
              <a:latin typeface="Calibri"/>
              <a:ea typeface="Calibri"/>
              <a:cs typeface="Calibri"/>
              <a:sym typeface="Calibri"/>
            </a:endParaRPr>
          </a:p>
        </p:txBody>
      </p:sp>
      <p:sp>
        <p:nvSpPr>
          <p:cNvPr id="254" name="Google Shape;254;p11"/>
          <p:cNvSpPr/>
          <p:nvPr/>
        </p:nvSpPr>
        <p:spPr>
          <a:xfrm>
            <a:off x="6335092" y="1938486"/>
            <a:ext cx="2312789" cy="657597"/>
          </a:xfrm>
          <a:prstGeom prst="roundRect">
            <a:avLst>
              <a:gd fmla="val 7498"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6457206" y="2060600"/>
            <a:ext cx="2068562" cy="1834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150"/>
              <a:buFont typeface="Raleway"/>
              <a:buNone/>
            </a:pPr>
            <a:r>
              <a:rPr b="0" i="0" lang="en-US" sz="1150" u="none" cap="none" strike="noStrike">
                <a:solidFill>
                  <a:srgbClr val="3C3939"/>
                </a:solidFill>
                <a:latin typeface="Raleway"/>
                <a:ea typeface="Raleway"/>
                <a:cs typeface="Raleway"/>
                <a:sym typeface="Raleway"/>
              </a:rPr>
              <a:t>&lt;$</a:t>
            </a:r>
            <a:r>
              <a:rPr lang="en-US" sz="1150">
                <a:solidFill>
                  <a:srgbClr val="3C3939"/>
                </a:solidFill>
                <a:latin typeface="Raleway"/>
                <a:ea typeface="Raleway"/>
                <a:cs typeface="Raleway"/>
                <a:sym typeface="Raleway"/>
              </a:rPr>
              <a:t>9</a:t>
            </a:r>
            <a:r>
              <a:rPr b="0" i="0" lang="en-US" sz="1150" u="none" cap="none" strike="noStrike">
                <a:solidFill>
                  <a:srgbClr val="3C3939"/>
                </a:solidFill>
                <a:latin typeface="Raleway"/>
                <a:ea typeface="Raleway"/>
                <a:cs typeface="Raleway"/>
                <a:sym typeface="Raleway"/>
              </a:rPr>
              <a:t>00 Buyer-side CPA</a:t>
            </a:r>
            <a:endParaRPr b="0" i="0" sz="1150" u="none" cap="none" strike="noStrike">
              <a:solidFill>
                <a:schemeClr val="dk1"/>
              </a:solidFill>
              <a:latin typeface="Calibri"/>
              <a:ea typeface="Calibri"/>
              <a:cs typeface="Calibri"/>
              <a:sym typeface="Calibri"/>
            </a:endParaRPr>
          </a:p>
        </p:txBody>
      </p:sp>
      <p:sp>
        <p:nvSpPr>
          <p:cNvPr id="256" name="Google Shape;256;p11"/>
          <p:cNvSpPr/>
          <p:nvPr/>
        </p:nvSpPr>
        <p:spPr>
          <a:xfrm>
            <a:off x="6457206" y="2302297"/>
            <a:ext cx="2068562" cy="17167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3C3939"/>
              </a:buClr>
              <a:buSzPts val="900"/>
              <a:buFont typeface="Roboto"/>
              <a:buNone/>
            </a:pPr>
            <a:r>
              <a:rPr b="0" i="0" lang="en-US" sz="900" u="none" cap="none" strike="noStrike">
                <a:solidFill>
                  <a:srgbClr val="3C3939"/>
                </a:solidFill>
                <a:latin typeface="Roboto"/>
                <a:ea typeface="Roboto"/>
                <a:cs typeface="Roboto"/>
                <a:sym typeface="Roboto"/>
              </a:rPr>
              <a:t>For guaranteed qualified leads</a:t>
            </a:r>
            <a:endParaRPr b="0" i="0" sz="900" u="none" cap="none" strike="noStrike">
              <a:solidFill>
                <a:schemeClr val="dk1"/>
              </a:solidFill>
              <a:latin typeface="Calibri"/>
              <a:ea typeface="Calibri"/>
              <a:cs typeface="Calibri"/>
              <a:sym typeface="Calibri"/>
            </a:endParaRPr>
          </a:p>
        </p:txBody>
      </p:sp>
      <p:sp>
        <p:nvSpPr>
          <p:cNvPr id="257" name="Google Shape;257;p11"/>
          <p:cNvSpPr/>
          <p:nvPr/>
        </p:nvSpPr>
        <p:spPr>
          <a:xfrm>
            <a:off x="3925119" y="2693268"/>
            <a:ext cx="4722763" cy="657597"/>
          </a:xfrm>
          <a:prstGeom prst="roundRect">
            <a:avLst>
              <a:gd fmla="val 7498" name="adj"/>
            </a:avLst>
          </a:prstGeom>
          <a:solidFill>
            <a:srgbClr val="E1E1EA"/>
          </a:solidFill>
          <a:ln cap="flat" cmpd="sng" w="9525">
            <a:solidFill>
              <a:srgbClr val="C7C7D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4047232" y="2815382"/>
            <a:ext cx="4478536" cy="18343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C3939"/>
              </a:buClr>
              <a:buSzPts val="1150"/>
              <a:buFont typeface="Raleway"/>
              <a:buNone/>
            </a:pPr>
            <a:r>
              <a:rPr b="0" i="0" lang="en-US" sz="1150" u="none" cap="none" strike="noStrike">
                <a:solidFill>
                  <a:srgbClr val="3C3939"/>
                </a:solidFill>
                <a:latin typeface="Raleway"/>
                <a:ea typeface="Raleway"/>
                <a:cs typeface="Raleway"/>
                <a:sym typeface="Raleway"/>
              </a:rPr>
              <a:t>272K+ Monetized Calls</a:t>
            </a:r>
            <a:endParaRPr b="0" i="0" sz="1150" u="none" cap="none" strike="noStrike">
              <a:solidFill>
                <a:schemeClr val="dk1"/>
              </a:solidFill>
              <a:latin typeface="Calibri"/>
              <a:ea typeface="Calibri"/>
              <a:cs typeface="Calibri"/>
              <a:sym typeface="Calibri"/>
            </a:endParaRPr>
          </a:p>
        </p:txBody>
      </p:sp>
      <p:sp>
        <p:nvSpPr>
          <p:cNvPr id="259" name="Google Shape;259;p11"/>
          <p:cNvSpPr/>
          <p:nvPr/>
        </p:nvSpPr>
        <p:spPr>
          <a:xfrm>
            <a:off x="4047232" y="3057079"/>
            <a:ext cx="4478536" cy="171673"/>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3C3939"/>
              </a:buClr>
              <a:buSzPts val="900"/>
              <a:buFont typeface="Roboto"/>
              <a:buNone/>
            </a:pPr>
            <a:r>
              <a:rPr b="0" i="0" lang="en-US" sz="900" u="none" cap="none" strike="noStrike">
                <a:solidFill>
                  <a:srgbClr val="3C3939"/>
                </a:solidFill>
                <a:latin typeface="Roboto"/>
                <a:ea typeface="Roboto"/>
                <a:cs typeface="Roboto"/>
                <a:sym typeface="Roboto"/>
              </a:rPr>
              <a:t>Qualified, buyer-valuable inbound calls</a:t>
            </a:r>
            <a:endParaRPr b="0" i="0" sz="900" u="none" cap="none" strike="noStrike">
              <a:solidFill>
                <a:schemeClr val="dk1"/>
              </a:solidFill>
              <a:latin typeface="Calibri"/>
              <a:ea typeface="Calibri"/>
              <a:cs typeface="Calibri"/>
              <a:sym typeface="Calibri"/>
            </a:endParaRPr>
          </a:p>
        </p:txBody>
      </p:sp>
      <p:sp>
        <p:nvSpPr>
          <p:cNvPr id="260" name="Google Shape;260;p11"/>
          <p:cNvSpPr/>
          <p:nvPr/>
        </p:nvSpPr>
        <p:spPr>
          <a:xfrm>
            <a:off x="4101182" y="3569494"/>
            <a:ext cx="4546699" cy="1030039"/>
          </a:xfrm>
          <a:prstGeom prst="rect">
            <a:avLst/>
          </a:prstGeom>
          <a:noFill/>
          <a:ln>
            <a:noFill/>
          </a:ln>
        </p:spPr>
        <p:txBody>
          <a:bodyPr anchorCtr="0" anchor="t" bIns="0" lIns="0" spcFirstLastPara="1" rIns="0" wrap="square" tIns="0">
            <a:normAutofit/>
          </a:bodyPr>
          <a:lstStyle/>
          <a:p>
            <a:pPr indent="0" lvl="0" marL="0" marR="0" rtl="0" algn="l">
              <a:lnSpc>
                <a:spcPct val="122000"/>
              </a:lnSpc>
              <a:spcBef>
                <a:spcPts val="0"/>
              </a:spcBef>
              <a:spcAft>
                <a:spcPts val="0"/>
              </a:spcAft>
              <a:buClr>
                <a:srgbClr val="3C3939"/>
              </a:buClr>
              <a:buSzPts val="900"/>
              <a:buFont typeface="Roboto"/>
              <a:buNone/>
            </a:pPr>
            <a:r>
              <a:rPr b="0" i="0" lang="en-US" sz="900" u="none" cap="none" strike="noStrike">
                <a:solidFill>
                  <a:srgbClr val="3C3939"/>
                </a:solidFill>
                <a:latin typeface="Roboto"/>
                <a:ea typeface="Roboto"/>
                <a:cs typeface="Roboto"/>
                <a:sym typeface="Roboto"/>
              </a:rPr>
              <a:t>All data presented in this case study has been rounded, aggregated, or presented in range-based form. No client identity, proprietary scripts, payout percentages, or account names</a:t>
            </a:r>
            <a:r>
              <a:rPr lang="en-US" sz="900">
                <a:solidFill>
                  <a:srgbClr val="3C3939"/>
                </a:solidFill>
                <a:latin typeface="Roboto"/>
                <a:ea typeface="Roboto"/>
                <a:cs typeface="Roboto"/>
                <a:sym typeface="Roboto"/>
              </a:rPr>
              <a:t> </a:t>
            </a:r>
            <a:r>
              <a:rPr b="0" i="0" lang="en-US" sz="900" u="none" cap="none" strike="noStrike">
                <a:solidFill>
                  <a:srgbClr val="3C3939"/>
                </a:solidFill>
                <a:latin typeface="Roboto"/>
                <a:ea typeface="Roboto"/>
                <a:cs typeface="Roboto"/>
                <a:sym typeface="Roboto"/>
              </a:rPr>
              <a:t>are disclosed. This case study is presented for portfolio evaluation purposes and does not disclose proprietary client or buyer information. Consumer-facing advertising claims should be independently reviewed for applicable legal and platform requirements before reuse.</a:t>
            </a:r>
            <a:endParaRPr b="0" i="0" sz="900" u="none" cap="none" strike="noStrike">
              <a:solidFill>
                <a:schemeClr val="dk1"/>
              </a:solidFill>
              <a:latin typeface="Calibri"/>
              <a:ea typeface="Calibri"/>
              <a:cs typeface="Calibri"/>
              <a:sym typeface="Calibri"/>
            </a:endParaRPr>
          </a:p>
        </p:txBody>
      </p:sp>
      <p:sp>
        <p:nvSpPr>
          <p:cNvPr id="261" name="Google Shape;261;p11"/>
          <p:cNvSpPr/>
          <p:nvPr/>
        </p:nvSpPr>
        <p:spPr>
          <a:xfrm>
            <a:off x="3925119" y="3460179"/>
            <a:ext cx="14288" cy="1248668"/>
          </a:xfrm>
          <a:prstGeom prst="roundRect">
            <a:avLst>
              <a:gd fmla="val 49998" name="adj"/>
            </a:avLst>
          </a:prstGeom>
          <a:solidFill>
            <a:srgbClr val="1B1B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3f70509ea79_0_0"/>
          <p:cNvSpPr/>
          <p:nvPr/>
        </p:nvSpPr>
        <p:spPr>
          <a:xfrm>
            <a:off x="2210544" y="1715852"/>
            <a:ext cx="4722900" cy="8859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1B1B27"/>
              </a:buClr>
              <a:buSzPts val="2750"/>
              <a:buFont typeface="Raleway"/>
              <a:buNone/>
            </a:pPr>
            <a:r>
              <a:rPr b="0" i="0" lang="en-US" sz="2750" u="none" cap="none" strike="noStrike">
                <a:solidFill>
                  <a:srgbClr val="1B1B27"/>
                </a:solidFill>
                <a:latin typeface="Raleway"/>
                <a:ea typeface="Raleway"/>
                <a:cs typeface="Raleway"/>
                <a:sym typeface="Raleway"/>
              </a:rPr>
              <a:t>Media Buying Case Study</a:t>
            </a:r>
            <a:endParaRPr sz="2750">
              <a:solidFill>
                <a:srgbClr val="1B1B27"/>
              </a:solidFill>
              <a:latin typeface="Raleway"/>
              <a:ea typeface="Raleway"/>
              <a:cs typeface="Raleway"/>
              <a:sym typeface="Raleway"/>
            </a:endParaRPr>
          </a:p>
          <a:p>
            <a:pPr indent="0" lvl="0" marL="0" marR="0" rtl="0" algn="l">
              <a:lnSpc>
                <a:spcPct val="104000"/>
              </a:lnSpc>
              <a:spcBef>
                <a:spcPts val="0"/>
              </a:spcBef>
              <a:spcAft>
                <a:spcPts val="0"/>
              </a:spcAft>
              <a:buClr>
                <a:srgbClr val="1B1B27"/>
              </a:buClr>
              <a:buSzPts val="2750"/>
              <a:buFont typeface="Raleway"/>
              <a:buNone/>
            </a:pPr>
            <a:r>
              <a:rPr lang="en-US" sz="2750">
                <a:solidFill>
                  <a:srgbClr val="1B1B27"/>
                </a:solidFill>
                <a:latin typeface="Raleway"/>
                <a:ea typeface="Raleway"/>
                <a:cs typeface="Raleway"/>
                <a:sym typeface="Raleway"/>
              </a:rPr>
              <a:t>Proof of Work</a:t>
            </a:r>
            <a:endParaRPr sz="2750">
              <a:solidFill>
                <a:srgbClr val="1B1B27"/>
              </a:solidFill>
              <a:latin typeface="Raleway"/>
              <a:ea typeface="Raleway"/>
              <a:cs typeface="Raleway"/>
              <a:sym typeface="Raleway"/>
            </a:endParaRPr>
          </a:p>
        </p:txBody>
      </p:sp>
      <p:sp>
        <p:nvSpPr>
          <p:cNvPr id="269" name="Google Shape;269;g3f70509ea79_0_0"/>
          <p:cNvSpPr/>
          <p:nvPr/>
        </p:nvSpPr>
        <p:spPr>
          <a:xfrm>
            <a:off x="2210544" y="2814427"/>
            <a:ext cx="4722900" cy="6132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C3939"/>
              </a:buClr>
              <a:buSzPts val="1100"/>
              <a:buFont typeface="Roboto"/>
              <a:buNone/>
            </a:pPr>
            <a:r>
              <a:rPr b="0" i="0" lang="en-US" sz="1100" u="none" cap="none" strike="noStrike">
                <a:solidFill>
                  <a:srgbClr val="3C3939"/>
                </a:solidFill>
                <a:latin typeface="Roboto"/>
                <a:ea typeface="Roboto"/>
                <a:cs typeface="Roboto"/>
                <a:sym typeface="Roboto"/>
              </a:rPr>
              <a:t>Spanish &amp; English Debt Relief (Some Top Accounts)</a:t>
            </a:r>
            <a:endParaRPr b="0" i="0" sz="1100" u="none" cap="none" strike="noStrike">
              <a:solidFill>
                <a:schemeClr val="dk1"/>
              </a:solidFill>
              <a:latin typeface="Calibri"/>
              <a:ea typeface="Calibri"/>
              <a:cs typeface="Calibri"/>
              <a:sym typeface="Calibri"/>
            </a:endParaRPr>
          </a:p>
          <a:p>
            <a:pPr indent="0" lvl="0" marL="0" marR="0" rtl="0" algn="l">
              <a:lnSpc>
                <a:spcPct val="133000"/>
              </a:lnSpc>
              <a:spcBef>
                <a:spcPts val="1250"/>
              </a:spcBef>
              <a:spcAft>
                <a:spcPts val="0"/>
              </a:spcAft>
              <a:buClr>
                <a:srgbClr val="3C3939"/>
              </a:buClr>
              <a:buSzPts val="1100"/>
              <a:buFont typeface="Roboto"/>
              <a:buNone/>
            </a:pPr>
            <a:r>
              <a:rPr b="0" i="1" lang="en-US" sz="1100" u="none" cap="none" strike="noStrike">
                <a:solidFill>
                  <a:srgbClr val="3C3939"/>
                </a:solidFill>
                <a:latin typeface="Roboto"/>
                <a:ea typeface="Roboto"/>
                <a:cs typeface="Roboto"/>
                <a:sym typeface="Roboto"/>
              </a:rPr>
              <a:t>From $2K/day acquisition to $10K+/day scale</a:t>
            </a:r>
            <a:endParaRPr b="0" i="0" sz="1100" u="none" cap="none" strike="noStrike">
              <a:solidFill>
                <a:schemeClr val="dk1"/>
              </a:solidFill>
              <a:latin typeface="Calibri"/>
              <a:ea typeface="Calibri"/>
              <a:cs typeface="Calibri"/>
              <a:sym typeface="Calibri"/>
            </a:endParaRPr>
          </a:p>
        </p:txBody>
      </p:sp>
      <p:sp>
        <p:nvSpPr>
          <p:cNvPr id="270" name="Google Shape;270;g3f70509ea79_0_0"/>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g3f70509ea79_0_7" title="DEBT ACCOUNT 4 FB.png"/>
          <p:cNvPicPr preferRelativeResize="0"/>
          <p:nvPr/>
        </p:nvPicPr>
        <p:blipFill>
          <a:blip r:embed="rId3">
            <a:alphaModFix/>
          </a:blip>
          <a:stretch>
            <a:fillRect/>
          </a:stretch>
        </p:blipFill>
        <p:spPr>
          <a:xfrm>
            <a:off x="1090613" y="1057275"/>
            <a:ext cx="6962775" cy="3028950"/>
          </a:xfrm>
          <a:prstGeom prst="rect">
            <a:avLst/>
          </a:prstGeom>
          <a:noFill/>
          <a:ln>
            <a:noFill/>
          </a:ln>
        </p:spPr>
      </p:pic>
      <p:sp>
        <p:nvSpPr>
          <p:cNvPr id="277" name="Google Shape;277;g3f70509ea79_0_7"/>
          <p:cNvSpPr/>
          <p:nvPr/>
        </p:nvSpPr>
        <p:spPr>
          <a:xfrm>
            <a:off x="7922275" y="4705400"/>
            <a:ext cx="1221600" cy="438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2" name="Shape 282"/>
        <p:cNvGrpSpPr/>
        <p:nvPr/>
      </p:nvGrpSpPr>
      <p:grpSpPr>
        <a:xfrm>
          <a:off x="0" y="0"/>
          <a:ext cx="0" cy="0"/>
          <a:chOff x="0" y="0"/>
          <a:chExt cx="0" cy="0"/>
        </a:xfrm>
      </p:grpSpPr>
      <p:pic>
        <p:nvPicPr>
          <p:cNvPr id="283" name="Google Shape;283;g3f70509ea79_0_18" title="DEBT ACCOUNT GG.png"/>
          <p:cNvPicPr preferRelativeResize="0"/>
          <p:nvPr/>
        </p:nvPicPr>
        <p:blipFill>
          <a:blip r:embed="rId4">
            <a:alphaModFix/>
          </a:blip>
          <a:stretch>
            <a:fillRect/>
          </a:stretch>
        </p:blipFill>
        <p:spPr>
          <a:xfrm>
            <a:off x="246100" y="1414625"/>
            <a:ext cx="8656525" cy="1679150"/>
          </a:xfrm>
          <a:prstGeom prst="rect">
            <a:avLst/>
          </a:prstGeom>
          <a:noFill/>
          <a:ln>
            <a:noFill/>
          </a:ln>
        </p:spPr>
      </p:pic>
      <p:sp>
        <p:nvSpPr>
          <p:cNvPr id="284" name="Google Shape;284;g3f70509ea79_0_18"/>
          <p:cNvSpPr/>
          <p:nvPr/>
        </p:nvSpPr>
        <p:spPr>
          <a:xfrm>
            <a:off x="255975" y="4905250"/>
            <a:ext cx="2337000" cy="2382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g3f70509ea79_0_18"/>
          <p:cNvSpPr/>
          <p:nvPr/>
        </p:nvSpPr>
        <p:spPr>
          <a:xfrm>
            <a:off x="6565625" y="4905250"/>
            <a:ext cx="2337000" cy="2382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g3f70509ea79_0_18"/>
          <p:cNvSpPr/>
          <p:nvPr/>
        </p:nvSpPr>
        <p:spPr>
          <a:xfrm>
            <a:off x="316200" y="3255050"/>
            <a:ext cx="8458800" cy="1679100"/>
          </a:xfrm>
          <a:prstGeom prst="rect">
            <a:avLst/>
          </a:prstGeom>
          <a:solidFill>
            <a:schemeClr val="lt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g3f70509ea79_0_18"/>
          <p:cNvSpPr txBox="1"/>
          <p:nvPr/>
        </p:nvSpPr>
        <p:spPr>
          <a:xfrm>
            <a:off x="168575" y="1080275"/>
            <a:ext cx="3049800" cy="2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ACCOUNT NAME: DBW </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2" name="Shape 292"/>
        <p:cNvGrpSpPr/>
        <p:nvPr/>
      </p:nvGrpSpPr>
      <p:grpSpPr>
        <a:xfrm>
          <a:off x="0" y="0"/>
          <a:ext cx="0" cy="0"/>
          <a:chOff x="0" y="0"/>
          <a:chExt cx="0" cy="0"/>
        </a:xfrm>
      </p:grpSpPr>
      <p:sp>
        <p:nvSpPr>
          <p:cNvPr id="293" name="Google Shape;293;g3f70509ea79_0_24"/>
          <p:cNvSpPr/>
          <p:nvPr/>
        </p:nvSpPr>
        <p:spPr>
          <a:xfrm>
            <a:off x="2368975" y="190920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g3f70509ea79_0_24"/>
          <p:cNvSpPr/>
          <p:nvPr/>
        </p:nvSpPr>
        <p:spPr>
          <a:xfrm>
            <a:off x="2368975" y="218145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g3f70509ea79_0_24"/>
          <p:cNvSpPr/>
          <p:nvPr/>
        </p:nvSpPr>
        <p:spPr>
          <a:xfrm>
            <a:off x="2339450" y="249155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g3f70509ea79_0_24"/>
          <p:cNvSpPr/>
          <p:nvPr/>
        </p:nvSpPr>
        <p:spPr>
          <a:xfrm>
            <a:off x="2368975" y="2770125"/>
            <a:ext cx="693900" cy="180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g3f70509ea79_0_24"/>
          <p:cNvSpPr/>
          <p:nvPr/>
        </p:nvSpPr>
        <p:spPr>
          <a:xfrm>
            <a:off x="2368975" y="307390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g3f70509ea79_0_24"/>
          <p:cNvSpPr/>
          <p:nvPr/>
        </p:nvSpPr>
        <p:spPr>
          <a:xfrm>
            <a:off x="2368975" y="3264125"/>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g3f70509ea79_0_24"/>
          <p:cNvSpPr/>
          <p:nvPr/>
        </p:nvSpPr>
        <p:spPr>
          <a:xfrm>
            <a:off x="2368975" y="345435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g3f70509ea79_0_24"/>
          <p:cNvSpPr/>
          <p:nvPr/>
        </p:nvSpPr>
        <p:spPr>
          <a:xfrm>
            <a:off x="2368975" y="371655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g3f70509ea79_0_24"/>
          <p:cNvSpPr/>
          <p:nvPr/>
        </p:nvSpPr>
        <p:spPr>
          <a:xfrm>
            <a:off x="2368975" y="403670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g3f70509ea79_0_24"/>
          <p:cNvSpPr/>
          <p:nvPr/>
        </p:nvSpPr>
        <p:spPr>
          <a:xfrm>
            <a:off x="2368975" y="4302675"/>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3" name="Google Shape;303;g3f70509ea79_0_24"/>
          <p:cNvSpPr/>
          <p:nvPr/>
        </p:nvSpPr>
        <p:spPr>
          <a:xfrm>
            <a:off x="7883400" y="4690625"/>
            <a:ext cx="1260600" cy="453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4" name="Google Shape;304;g3f70509ea79_0_24" title="DDP.png"/>
          <p:cNvPicPr preferRelativeResize="0"/>
          <p:nvPr/>
        </p:nvPicPr>
        <p:blipFill>
          <a:blip r:embed="rId4">
            <a:alphaModFix/>
          </a:blip>
          <a:stretch>
            <a:fillRect/>
          </a:stretch>
        </p:blipFill>
        <p:spPr>
          <a:xfrm>
            <a:off x="98995" y="163614"/>
            <a:ext cx="8946004" cy="47503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9" name="Shape 309"/>
        <p:cNvGrpSpPr/>
        <p:nvPr/>
      </p:nvGrpSpPr>
      <p:grpSpPr>
        <a:xfrm>
          <a:off x="0" y="0"/>
          <a:ext cx="0" cy="0"/>
          <a:chOff x="0" y="0"/>
          <a:chExt cx="0" cy="0"/>
        </a:xfrm>
      </p:grpSpPr>
      <p:sp>
        <p:nvSpPr>
          <p:cNvPr id="310" name="Google Shape;310;g3f70509ea79_1_2"/>
          <p:cNvSpPr/>
          <p:nvPr/>
        </p:nvSpPr>
        <p:spPr>
          <a:xfrm>
            <a:off x="2179750" y="2092125"/>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1" name="Google Shape;311;g3f70509ea79_1_2"/>
          <p:cNvSpPr/>
          <p:nvPr/>
        </p:nvSpPr>
        <p:spPr>
          <a:xfrm>
            <a:off x="2179750" y="235720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2" name="Google Shape;312;g3f70509ea79_1_2"/>
          <p:cNvSpPr/>
          <p:nvPr/>
        </p:nvSpPr>
        <p:spPr>
          <a:xfrm>
            <a:off x="2179750" y="261140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g3f70509ea79_1_2"/>
          <p:cNvSpPr/>
          <p:nvPr/>
        </p:nvSpPr>
        <p:spPr>
          <a:xfrm>
            <a:off x="2179750" y="286560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g3f70509ea79_1_2"/>
          <p:cNvSpPr/>
          <p:nvPr/>
        </p:nvSpPr>
        <p:spPr>
          <a:xfrm>
            <a:off x="2179750" y="3092575"/>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5" name="Google Shape;315;g3f70509ea79_1_2"/>
          <p:cNvSpPr/>
          <p:nvPr/>
        </p:nvSpPr>
        <p:spPr>
          <a:xfrm>
            <a:off x="2179750" y="3319550"/>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6" name="Google Shape;316;g3f70509ea79_1_2"/>
          <p:cNvSpPr/>
          <p:nvPr/>
        </p:nvSpPr>
        <p:spPr>
          <a:xfrm>
            <a:off x="2179750" y="3546525"/>
            <a:ext cx="763200" cy="18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g3f70509ea79_1_2"/>
          <p:cNvSpPr/>
          <p:nvPr/>
        </p:nvSpPr>
        <p:spPr>
          <a:xfrm>
            <a:off x="2179750" y="3802325"/>
            <a:ext cx="763200" cy="185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8" name="Google Shape;318;g3f70509ea79_1_2"/>
          <p:cNvSpPr/>
          <p:nvPr/>
        </p:nvSpPr>
        <p:spPr>
          <a:xfrm>
            <a:off x="2179750" y="4091675"/>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9" name="Google Shape;319;g3f70509ea79_1_2"/>
          <p:cNvSpPr/>
          <p:nvPr/>
        </p:nvSpPr>
        <p:spPr>
          <a:xfrm>
            <a:off x="2179750" y="4289825"/>
            <a:ext cx="693900" cy="945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0" name="Google Shape;320;g3f70509ea79_1_2"/>
          <p:cNvSpPr/>
          <p:nvPr/>
        </p:nvSpPr>
        <p:spPr>
          <a:xfrm>
            <a:off x="7883400" y="4690625"/>
            <a:ext cx="1260600" cy="453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1" name="Google Shape;321;g3f70509ea79_1_2" title="DDZ.png"/>
          <p:cNvPicPr preferRelativeResize="0"/>
          <p:nvPr/>
        </p:nvPicPr>
        <p:blipFill>
          <a:blip r:embed="rId4">
            <a:alphaModFix/>
          </a:blip>
          <a:stretch>
            <a:fillRect/>
          </a:stretch>
        </p:blipFill>
        <p:spPr>
          <a:xfrm>
            <a:off x="43876" y="0"/>
            <a:ext cx="9144001" cy="485549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6" name="Shape 326"/>
        <p:cNvGrpSpPr/>
        <p:nvPr/>
      </p:nvGrpSpPr>
      <p:grpSpPr>
        <a:xfrm>
          <a:off x="0" y="0"/>
          <a:ext cx="0" cy="0"/>
          <a:chOff x="0" y="0"/>
          <a:chExt cx="0" cy="0"/>
        </a:xfrm>
      </p:grpSpPr>
      <p:sp>
        <p:nvSpPr>
          <p:cNvPr id="327" name="Google Shape;327;g3f70509ea79_1_9"/>
          <p:cNvSpPr/>
          <p:nvPr/>
        </p:nvSpPr>
        <p:spPr>
          <a:xfrm>
            <a:off x="2185250" y="2037050"/>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8" name="Google Shape;328;g3f70509ea79_1_9"/>
          <p:cNvSpPr/>
          <p:nvPr/>
        </p:nvSpPr>
        <p:spPr>
          <a:xfrm>
            <a:off x="2185250" y="2244525"/>
            <a:ext cx="794700" cy="195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9" name="Google Shape;329;g3f70509ea79_1_9"/>
          <p:cNvSpPr/>
          <p:nvPr/>
        </p:nvSpPr>
        <p:spPr>
          <a:xfrm>
            <a:off x="2185250" y="2514400"/>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0" name="Google Shape;330;g3f70509ea79_1_9"/>
          <p:cNvSpPr/>
          <p:nvPr/>
        </p:nvSpPr>
        <p:spPr>
          <a:xfrm>
            <a:off x="2185250" y="2964100"/>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g3f70509ea79_1_9"/>
          <p:cNvSpPr/>
          <p:nvPr/>
        </p:nvSpPr>
        <p:spPr>
          <a:xfrm>
            <a:off x="2185250" y="3206325"/>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g3f70509ea79_1_9"/>
          <p:cNvSpPr/>
          <p:nvPr/>
        </p:nvSpPr>
        <p:spPr>
          <a:xfrm>
            <a:off x="2185250" y="3448550"/>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g3f70509ea79_1_9"/>
          <p:cNvSpPr/>
          <p:nvPr/>
        </p:nvSpPr>
        <p:spPr>
          <a:xfrm>
            <a:off x="2185250" y="3690775"/>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4" name="Google Shape;334;g3f70509ea79_1_9"/>
          <p:cNvSpPr/>
          <p:nvPr/>
        </p:nvSpPr>
        <p:spPr>
          <a:xfrm>
            <a:off x="2185250" y="3933000"/>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5" name="Google Shape;335;g3f70509ea79_1_9"/>
          <p:cNvSpPr/>
          <p:nvPr/>
        </p:nvSpPr>
        <p:spPr>
          <a:xfrm>
            <a:off x="2185250" y="4175225"/>
            <a:ext cx="794700" cy="13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6" name="Google Shape;336;g3f70509ea79_1_9"/>
          <p:cNvSpPr/>
          <p:nvPr/>
        </p:nvSpPr>
        <p:spPr>
          <a:xfrm>
            <a:off x="7883400" y="4690625"/>
            <a:ext cx="1260600" cy="453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37" name="Google Shape;337;g3f70509ea79_1_9" title="DEK.png"/>
          <p:cNvPicPr preferRelativeResize="0"/>
          <p:nvPr/>
        </p:nvPicPr>
        <p:blipFill>
          <a:blip r:embed="rId4">
            <a:alphaModFix/>
          </a:blip>
          <a:stretch>
            <a:fillRect/>
          </a:stretch>
        </p:blipFill>
        <p:spPr>
          <a:xfrm>
            <a:off x="305478" y="306200"/>
            <a:ext cx="8533049" cy="453111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2026-08-11T13:48:44Z</dcterms:created>
</cp:coreProperties>
</file>