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12191675"/>
  <p:embeddedFontLst>
    <p:embeddedFont>
      <p:font typeface="Raleway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aleway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pHs6NgrDSkz3IVfUblVWCMLP1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Medium-bold.fntdata"/><Relationship Id="rId30" Type="http://schemas.openxmlformats.org/officeDocument/2006/relationships/font" Target="fonts/RalewayMedium-regular.fntdata"/><Relationship Id="rId11" Type="http://schemas.openxmlformats.org/officeDocument/2006/relationships/slide" Target="slides/slide6.xml"/><Relationship Id="rId33" Type="http://schemas.openxmlformats.org/officeDocument/2006/relationships/font" Target="fonts/Raleway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7055b12b0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f7055b12b0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7055b12b0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7055b12b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7055b12b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7055b12b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7055b12b0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7055b12b0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7055b12b0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7055b12b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7055b12b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7055b12b0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e96b680123713a3_3_12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he96b680123713a3_3_12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he96b680123713a3_3_1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8.jp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linkedin.com/in/muhammad-ibrahim-bin-zahid-115590231/" TargetMode="External"/><Relationship Id="rId4" Type="http://schemas.openxmlformats.org/officeDocument/2006/relationships/hyperlink" Target="https://www.linkedin.com/in/muhammad-ibrahim-bin-zahid-115590231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/>
          <p:nvPr/>
        </p:nvSpPr>
        <p:spPr>
          <a:xfrm>
            <a:off x="661475" y="254357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$4.41M Qualified-Call Revenue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61475" y="3512245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U.S. ACA Lead Generation | 202</a:t>
            </a:r>
            <a:r>
              <a:rPr lang="en-US" sz="14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 ·  Google Ads + Meta  ·  </a:t>
            </a:r>
            <a:r>
              <a:rPr lang="en-US" sz="14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100+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Accounts  ·  100 CCs Peak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61475" y="4027289"/>
            <a:ext cx="2096241" cy="287139"/>
          </a:xfrm>
          <a:prstGeom prst="roundRect">
            <a:avLst>
              <a:gd fmla="val 22118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74879" y="4083943"/>
            <a:ext cx="2479018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MEDIA BUYER CASE STUDY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661475" y="630138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00"/>
              <a:buFont typeface="Raleway"/>
              <a:buNone/>
            </a:pPr>
            <a:r>
              <a:rPr b="0" i="0" lang="en-US" sz="3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 year of performance at scale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4623" y="1622127"/>
            <a:ext cx="50613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$4.41M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61475" y="2432348"/>
            <a:ext cx="53277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Ringba Revenue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335554" y="1622127"/>
            <a:ext cx="50614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$3.3M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202406" y="2432348"/>
            <a:ext cx="5327814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Paid Media Spend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94623" y="3143647"/>
            <a:ext cx="50613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470K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61475" y="3953867"/>
            <a:ext cx="53277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Incoming Calls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35554" y="3143647"/>
            <a:ext cx="50614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147K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02406" y="3953867"/>
            <a:ext cx="5327814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Paid Calls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94623" y="4665166"/>
            <a:ext cx="50613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64K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61475" y="5475387"/>
            <a:ext cx="532771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Converted Calls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335554" y="4665166"/>
            <a:ext cx="5061419" cy="59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4650"/>
              <a:buFont typeface="Raleway"/>
              <a:buNone/>
            </a:pPr>
            <a:r>
              <a:rPr b="0" i="0" lang="en-US" sz="4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~35%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02406" y="5475387"/>
            <a:ext cx="5327814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aleway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Reported ROI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56682" y="5947767"/>
            <a:ext cx="1147833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400"/>
              <a:buFont typeface="Roboto"/>
              <a:buNone/>
            </a:pPr>
            <a:r>
              <a:rPr lang="en-US">
                <a:solidFill>
                  <a:srgbClr val="4D8D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0" i="0" lang="en-US" sz="1400" u="none" cap="none" strike="noStrike">
                <a:solidFill>
                  <a:srgbClr val="4D8DFF"/>
                </a:solidFill>
                <a:latin typeface="Roboto"/>
                <a:ea typeface="Roboto"/>
                <a:cs typeface="Roboto"/>
                <a:sym typeface="Roboto"/>
              </a:rPr>
              <a:t>0+ Accounts  |  United States  |  ACA  |  Google + Meta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661475" y="76497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From </a:t>
            </a:r>
            <a:r>
              <a:rPr b="0" i="0" lang="en-US" sz="3700" u="none" cap="none" strike="noStrike">
                <a:solidFill>
                  <a:srgbClr val="FF5C6C"/>
                </a:solidFill>
                <a:latin typeface="Raleway"/>
                <a:ea typeface="Raleway"/>
                <a:cs typeface="Raleway"/>
                <a:sym typeface="Raleway"/>
              </a:rPr>
              <a:t>$220 CPA</a:t>
            </a: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to </a:t>
            </a:r>
            <a:r>
              <a:rPr b="0" i="0" lang="en-US" sz="370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&lt; $90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61475" y="1733649"/>
            <a:ext cx="10868745" cy="3844330"/>
          </a:xfrm>
          <a:prstGeom prst="roundRect">
            <a:avLst>
              <a:gd fmla="val 206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61475" y="2285107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61475" y="2833390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61475" y="3381673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61475" y="3929955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61475" y="4478238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1475" y="5026521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56931" y="1859756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839074" y="1739999"/>
            <a:ext cx="4342398" cy="545108"/>
          </a:xfrm>
          <a:prstGeom prst="rect">
            <a:avLst/>
          </a:prstGeom>
          <a:solidFill>
            <a:srgbClr val="FF5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028080" y="1859756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181472" y="1739999"/>
            <a:ext cx="4342398" cy="545108"/>
          </a:xfrm>
          <a:custGeom>
            <a:rect b="b" l="l" r="r" t="t"/>
            <a:pathLst>
              <a:path extrusionOk="0" h="545108" w="4342398">
                <a:moveTo>
                  <a:pt x="0" y="0"/>
                </a:moveTo>
                <a:lnTo>
                  <a:pt x="4276242" y="0"/>
                </a:lnTo>
                <a:cubicBezTo>
                  <a:pt x="4293788" y="0"/>
                  <a:pt x="4310615" y="6970"/>
                  <a:pt x="4323021" y="19377"/>
                </a:cubicBezTo>
                <a:cubicBezTo>
                  <a:pt x="4335428" y="31784"/>
                  <a:pt x="4342398" y="48612"/>
                  <a:pt x="4342398" y="66158"/>
                </a:cubicBezTo>
                <a:lnTo>
                  <a:pt x="4342398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37E3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70479" y="1859756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AFTER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56931" y="2408039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CPA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028080" y="2408039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5C6C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FF5C6C"/>
                </a:solidFill>
                <a:latin typeface="Roboto"/>
                <a:ea typeface="Roboto"/>
                <a:cs typeface="Roboto"/>
                <a:sym typeface="Roboto"/>
              </a:rPr>
              <a:t>$220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370479" y="2408039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7E39B"/>
                </a:solidFill>
                <a:latin typeface="Roboto"/>
                <a:ea typeface="Roboto"/>
                <a:cs typeface="Roboto"/>
                <a:sym typeface="Roboto"/>
              </a:rPr>
              <a:t>&lt; $90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56931" y="2956322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Monthly Spend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028080" y="2956322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~$7K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370479" y="2956322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$30K–$60K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56931" y="3504605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Monthly Calls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028080" y="3504605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~2K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70479" y="3504605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50K–70K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56931" y="4052888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Monthly Revenue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028080" y="4052888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~$8K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370479" y="4052888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&gt;$500K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56931" y="4601170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028080" y="4601170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&lt;10%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370479" y="4601170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~30%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56931" y="5149453"/>
            <a:ext cx="240272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ROI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028080" y="5149453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0–10%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70479" y="5149453"/>
            <a:ext cx="457396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~35%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56682" y="5790605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Lower CPA. Higher volume. Higher conversion. Meaningful scale.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/>
          <p:nvPr/>
        </p:nvSpPr>
        <p:spPr>
          <a:xfrm>
            <a:off x="661475" y="582613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testing system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61475" y="1425972"/>
            <a:ext cx="6927478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WINNING 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801" y="1830586"/>
            <a:ext cx="4376826" cy="393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2054658" y="2609666"/>
            <a:ext cx="1631353" cy="21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Campaign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149905" y="4772970"/>
            <a:ext cx="1580023" cy="21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 Ad Groups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52317" y="3050137"/>
            <a:ext cx="1580023" cy="21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aleway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Age &amp; Landing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61475" y="5914727"/>
            <a:ext cx="7537063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1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Keep the creative constant. Find the environment where the economics are strongest.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987207" y="2251869"/>
            <a:ext cx="3549264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550"/>
              <a:buFont typeface="Raleway"/>
              <a:buNone/>
            </a:pPr>
            <a:r>
              <a:rPr b="0" i="0" lang="en-US" sz="1550" u="none" cap="none" strike="noStrike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rPr>
              <a:t>NEW 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3404" y="2656483"/>
            <a:ext cx="3016869" cy="2041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9480012" y="3392547"/>
            <a:ext cx="549347" cy="502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Raleway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Identify Strongest Environment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301031" y="4153012"/>
            <a:ext cx="817251" cy="125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Campaign B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301031" y="4314358"/>
            <a:ext cx="817251" cy="9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 in Environment 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385786" y="4153012"/>
            <a:ext cx="817250" cy="125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Campaign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385786" y="4314358"/>
            <a:ext cx="817250" cy="9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 in Environment 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385786" y="2896155"/>
            <a:ext cx="817250" cy="125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Analyze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385786" y="3057502"/>
            <a:ext cx="817250" cy="185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Find highest economic performance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306265" y="2942633"/>
            <a:ext cx="817250" cy="125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750"/>
              <a:buFont typeface="Raleway"/>
              <a:buNone/>
            </a:pPr>
            <a:r>
              <a:rPr b="0" i="0" lang="en-US" sz="7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Campaign 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306265" y="3103980"/>
            <a:ext cx="817250" cy="92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600"/>
              <a:buFont typeface="Roboto"/>
              <a:buNone/>
            </a:pPr>
            <a:r>
              <a:rPr b="0" i="0" lang="en-US" sz="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Test in Environment 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987207" y="4851102"/>
            <a:ext cx="3549264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50"/>
              <a:buFont typeface="Roboto"/>
              <a:buNone/>
            </a:pPr>
            <a:r>
              <a:rPr b="0" i="1" lang="en-US" sz="12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Parallel test new creatives across multiple campaign environments simultaneously.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661475" y="1352451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Optimize the audience </a:t>
            </a:r>
            <a:r>
              <a:rPr b="0" i="1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and</a:t>
            </a: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 the path to conversion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61475" y="2415580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rPr>
              <a:t>TARGETING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315" y="2929334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1275723" y="2923480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Age-group testing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329" y="2929334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3995737" y="2923480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Audience comparison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315" y="3897908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1275723" y="3892054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Account-level performance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329" y="3897908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3995737" y="3892054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CPA + revenue validation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332776" y="2415580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FUNNEL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3616" y="2929334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6947024" y="2923480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Test different endpoints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3630" y="2929334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9667038" y="2923480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Remove low-value questions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3616" y="3897908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6947024" y="3892054"/>
            <a:ext cx="1869532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Avoid unnecessary friction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3630" y="3897908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9667038" y="3892054"/>
            <a:ext cx="186953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Intervene when CPA deteriorates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56682" y="520313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7E39B"/>
                </a:solidFill>
                <a:latin typeface="Roboto"/>
                <a:ea typeface="Roboto"/>
                <a:cs typeface="Roboto"/>
                <a:sym typeface="Roboto"/>
              </a:rPr>
              <a:t>Audience × Funnel × Economics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661475" y="1084957"/>
            <a:ext cx="10868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Creative that adapts to how people consume content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6" title="walls-io-5eF4FPy4SjQ-unsplash.jpg"/>
          <p:cNvPicPr preferRelativeResize="0"/>
          <p:nvPr/>
        </p:nvPicPr>
        <p:blipFill rotWithShape="1">
          <a:blip r:embed="rId3">
            <a:alphaModFix/>
          </a:blip>
          <a:srcRect b="3644" l="0" r="0" t="3635"/>
          <a:stretch/>
        </p:blipFill>
        <p:spPr>
          <a:xfrm>
            <a:off x="661475" y="2644279"/>
            <a:ext cx="1473162" cy="9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/>
          <p:nvPr/>
        </p:nvSpPr>
        <p:spPr>
          <a:xfrm>
            <a:off x="661475" y="3790950"/>
            <a:ext cx="253993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UGC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61475" y="4199632"/>
            <a:ext cx="253993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Native-feeling direct response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 title="walls-io-K7qopblsVp0-unsplash.jpg"/>
          <p:cNvPicPr preferRelativeResize="0"/>
          <p:nvPr/>
        </p:nvPicPr>
        <p:blipFill rotWithShape="1">
          <a:blip r:embed="rId4">
            <a:alphaModFix/>
          </a:blip>
          <a:srcRect b="3644" l="0" r="0" t="3635"/>
          <a:stretch/>
        </p:blipFill>
        <p:spPr>
          <a:xfrm>
            <a:off x="3437645" y="2644279"/>
            <a:ext cx="1473162" cy="9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3437645" y="3790950"/>
            <a:ext cx="254003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TRENDING FORMATS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437645" y="4199632"/>
            <a:ext cx="254003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Trending ideas transformed into business solutions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 title="jason-rosewell-ASKeuOZqhYU-unsplash.jpg"/>
          <p:cNvPicPr preferRelativeResize="0"/>
          <p:nvPr/>
        </p:nvPicPr>
        <p:blipFill rotWithShape="1">
          <a:blip r:embed="rId5">
            <a:alphaModFix/>
          </a:blip>
          <a:srcRect b="3644" l="0" r="0" t="3635"/>
          <a:stretch/>
        </p:blipFill>
        <p:spPr>
          <a:xfrm>
            <a:off x="6213915" y="2644279"/>
            <a:ext cx="1473162" cy="9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6213915" y="3790950"/>
            <a:ext cx="254003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B-ROLL + VO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213915" y="4199632"/>
            <a:ext cx="254003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 storytelling + direct-response messaging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6" title="premium_photo-1684017834450-21747b64d666.jpeg"/>
          <p:cNvPicPr preferRelativeResize="0"/>
          <p:nvPr/>
        </p:nvPicPr>
        <p:blipFill rotWithShape="1">
          <a:blip r:embed="rId6">
            <a:alphaModFix/>
          </a:blip>
          <a:srcRect b="3643" l="0" r="0" t="3653"/>
          <a:stretch/>
        </p:blipFill>
        <p:spPr>
          <a:xfrm>
            <a:off x="8990184" y="2644279"/>
            <a:ext cx="1473163" cy="91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8990184" y="3790950"/>
            <a:ext cx="254003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INFLUENCER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990184" y="4199632"/>
            <a:ext cx="254003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Creator-led credibility and native distribution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1475" y="5017095"/>
            <a:ext cx="10868745" cy="755948"/>
          </a:xfrm>
          <a:prstGeom prst="roundRect">
            <a:avLst>
              <a:gd fmla="val 10502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482" y="5284788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1275723" y="5253335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creative wasn't judged by engagement alone.</a:t>
            </a:r>
            <a:r>
              <a:rPr b="0" i="0" lang="en-US" sz="1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It had to produce calls that made economic sense.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661475" y="96867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Don't rush to kill your killers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169220"/>
            <a:ext cx="6903269" cy="339357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4039423" y="2467633"/>
            <a:ext cx="1582428" cy="197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Performance Repeat?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039423" y="2721108"/>
            <a:ext cx="3192483" cy="157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Repeat positive or negative?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039423" y="3260511"/>
            <a:ext cx="1698419" cy="1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Day 2 Calls &amp; Revenue?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039423" y="3513986"/>
            <a:ext cx="3192483" cy="157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Calls and revenue seen?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039423" y="4053389"/>
            <a:ext cx="1578700" cy="197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Give Another 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039423" y="4306864"/>
            <a:ext cx="3192483" cy="157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Wait and monitor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046440" y="4846267"/>
            <a:ext cx="1578700" cy="1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Day 1 Calls?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046440" y="5099743"/>
            <a:ext cx="3192483" cy="157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Any calls observed?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032251" y="2055416"/>
            <a:ext cx="3504219" cy="1177429"/>
          </a:xfrm>
          <a:prstGeom prst="roundRect">
            <a:avLst>
              <a:gd fmla="val 674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227608" y="2250777"/>
            <a:ext cx="31135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lang="en-US" sz="18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consecutive negative days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227608" y="2735064"/>
            <a:ext cx="31135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5C6C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FF5C6C"/>
                </a:solidFill>
                <a:latin typeface="Roboto"/>
                <a:ea typeface="Roboto"/>
                <a:cs typeface="Roboto"/>
                <a:sym typeface="Roboto"/>
              </a:rPr>
              <a:t>→ KILL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032251" y="3421856"/>
            <a:ext cx="3504219" cy="1177429"/>
          </a:xfrm>
          <a:prstGeom prst="roundRect">
            <a:avLst>
              <a:gd fmla="val 6742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8227608" y="3617218"/>
            <a:ext cx="31135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Promising winner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227608" y="4101505"/>
            <a:ext cx="31135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7E39B"/>
                </a:solidFill>
                <a:latin typeface="Roboto"/>
                <a:ea typeface="Roboto"/>
                <a:cs typeface="Roboto"/>
                <a:sym typeface="Roboto"/>
              </a:rPr>
              <a:t>→ PROTECT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8032251" y="4811911"/>
            <a:ext cx="350421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Patience is a competitive advantage. Most buyers kill campaigns before the data is conclusive.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>
            <a:off x="661475" y="563860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950"/>
              <a:buFont typeface="Raleway"/>
              <a:buNone/>
            </a:pPr>
            <a:r>
              <a:rPr b="0" i="0" lang="en-US" sz="29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Scale the economics—not just the budget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876" y="1278235"/>
            <a:ext cx="8311942" cy="325864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2138787" y="1438046"/>
            <a:ext cx="1521604" cy="2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Profitable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531153" y="1438046"/>
            <a:ext cx="1521604" cy="2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+35–40% Spend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8531153" y="4132439"/>
            <a:ext cx="1521604" cy="2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3 Days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138787" y="3887889"/>
            <a:ext cx="1521604" cy="4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1500"/>
              <a:buFont typeface="Raleway"/>
              <a:buNone/>
            </a:pPr>
            <a:r>
              <a:rPr b="0" i="0" lang="en-US" sz="15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Evaluate &amp; Repeat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61475" y="4672905"/>
            <a:ext cx="1147833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1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Controlled budget expansion allowed profitable campaigns to absorb more spend without relying on reckless jumps.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197342" y="5102225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+35%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61475" y="5767586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Spend Increase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61475" y="6076355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Approximately every 3 days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707317" y="5102225"/>
            <a:ext cx="4286937" cy="49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900"/>
              <a:buFont typeface="Raleway"/>
              <a:buNone/>
            </a:pPr>
            <a:r>
              <a:rPr b="0" i="0" lang="en-US" sz="3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100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171450" y="5767586"/>
            <a:ext cx="5358770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aleway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Peak CCs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171450" y="6076355"/>
            <a:ext cx="5358770" cy="217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Simultaneously active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661475" y="587970"/>
            <a:ext cx="10868745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300"/>
              <a:buFont typeface="Raleway"/>
              <a:buNone/>
            </a:pPr>
            <a:r>
              <a:rPr b="0" i="0" lang="en-US" sz="33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The numbers behind the operation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265" y="1521420"/>
            <a:ext cx="5719619" cy="231328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/>
          <p:nvPr/>
        </p:nvSpPr>
        <p:spPr>
          <a:xfrm>
            <a:off x="7437946" y="2471142"/>
            <a:ext cx="4098525" cy="41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050"/>
              <a:buFont typeface="Roboto"/>
              <a:buNone/>
            </a:pPr>
            <a:r>
              <a:rPr b="0" i="1" lang="en-US" sz="10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Revenue shown is Ringba-reported buyer revenue. Media spend is reported separately from Ringba's Total Cost metric.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61475" y="4179193"/>
            <a:ext cx="2602343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837881" y="4355604"/>
            <a:ext cx="224953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rPr>
              <a:t>470,522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37881" y="4713089"/>
            <a:ext cx="22495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Incoming Calls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416909" y="4179193"/>
            <a:ext cx="2602343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593316" y="4355604"/>
            <a:ext cx="224953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rPr>
              <a:t>147,617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593316" y="4713089"/>
            <a:ext cx="22495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Paid Calls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172343" y="4179193"/>
            <a:ext cx="2602343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348750" y="4355604"/>
            <a:ext cx="224953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64,287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348750" y="4713089"/>
            <a:ext cx="22495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Converted Calls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8927777" y="4179193"/>
            <a:ext cx="2602443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9104184" y="4355604"/>
            <a:ext cx="224963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$4.41M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104184" y="4713089"/>
            <a:ext cx="2249630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61475" y="5301159"/>
            <a:ext cx="5357778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837881" y="5477570"/>
            <a:ext cx="5004965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7E39B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rPr>
              <a:t>31.37%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7881" y="5835055"/>
            <a:ext cx="5004965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Conversion 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172343" y="5301159"/>
            <a:ext cx="5357877" cy="968871"/>
          </a:xfrm>
          <a:prstGeom prst="roundRect">
            <a:avLst>
              <a:gd fmla="val 737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348750" y="5477570"/>
            <a:ext cx="5005064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D8DFF"/>
              </a:buClr>
              <a:buSzPts val="1650"/>
              <a:buFont typeface="Raleway"/>
              <a:buNone/>
            </a:pPr>
            <a:r>
              <a:rPr b="0" i="0" lang="en-US" sz="1650" u="none" cap="none" strike="noStrike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rPr>
              <a:t>2:26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348750" y="5835055"/>
            <a:ext cx="5005064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Avg. Call Length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661475" y="617438"/>
            <a:ext cx="10868745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400"/>
              <a:buFont typeface="Raleway"/>
              <a:buNone/>
            </a:pPr>
            <a:r>
              <a:rPr b="0" i="0" lang="en-US" sz="24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$681K+ from the top account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161058"/>
            <a:ext cx="7064595" cy="395773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1283859" y="5270004"/>
            <a:ext cx="2311541" cy="405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$681K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61475" y="5796657"/>
            <a:ext cx="3556308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Top Account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939978" y="5270004"/>
            <a:ext cx="2311640" cy="405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$408K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317594" y="5796657"/>
            <a:ext cx="3556407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Media Spend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596197" y="5270004"/>
            <a:ext cx="2311640" cy="405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3150"/>
              <a:buFont typeface="Raleway"/>
              <a:buNone/>
            </a:pPr>
            <a:r>
              <a:rPr b="0" i="0" lang="en-US" sz="3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~1.67×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973813" y="5796657"/>
            <a:ext cx="3556407" cy="191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200"/>
              <a:buFont typeface="Raleway"/>
              <a:buNone/>
            </a:pPr>
            <a:r>
              <a:rPr b="0" i="0" lang="en-US" sz="1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Revenue / Spend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61475" y="6078438"/>
            <a:ext cx="11478330" cy="162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950"/>
              <a:buFont typeface="Roboto"/>
              <a:buNone/>
            </a:pPr>
            <a:r>
              <a:rPr b="0" i="1" lang="en-US" sz="9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The strongest account demonstrated that the testing and scaling framework could support substantial spend while maintaining positive campaign economics.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/>
        </p:nvSpPr>
        <p:spPr>
          <a:xfrm>
            <a:off x="666750" y="476250"/>
            <a:ext cx="10858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1B1B27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repeatable acquisition operating system</a:t>
            </a:r>
            <a:endParaRPr b="0" sz="3000">
              <a:solidFill>
                <a:srgbClr val="1B1B27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90713"/>
            <a:ext cx="7943700" cy="2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1"/>
          <p:cNvGrpSpPr/>
          <p:nvPr/>
        </p:nvGrpSpPr>
        <p:grpSpPr>
          <a:xfrm>
            <a:off x="666750" y="1333500"/>
            <a:ext cx="1409700" cy="2095500"/>
            <a:chOff x="0" y="0"/>
            <a:chExt cx="1409700" cy="2095500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4D8D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01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TEST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8" name="Google Shape;268;p11"/>
          <p:cNvGrpSpPr/>
          <p:nvPr/>
        </p:nvGrpSpPr>
        <p:grpSpPr>
          <a:xfrm>
            <a:off x="2228850" y="1333500"/>
            <a:ext cx="1409700" cy="2095500"/>
            <a:chOff x="0" y="0"/>
            <a:chExt cx="1409700" cy="2095500"/>
          </a:xfrm>
        </p:grpSpPr>
        <p:sp>
          <p:nvSpPr>
            <p:cNvPr id="269" name="Google Shape;269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4D8D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02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2" name="Google Shape;272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VALIDATE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3" name="Google Shape;273;p11"/>
          <p:cNvGrpSpPr/>
          <p:nvPr/>
        </p:nvGrpSpPr>
        <p:grpSpPr>
          <a:xfrm>
            <a:off x="3790950" y="1333500"/>
            <a:ext cx="1409700" cy="2095500"/>
            <a:chOff x="0" y="0"/>
            <a:chExt cx="1409700" cy="2095500"/>
          </a:xfrm>
        </p:grpSpPr>
        <p:sp>
          <p:nvSpPr>
            <p:cNvPr id="274" name="Google Shape;274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4D8D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03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77" name="Google Shape;277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QUALIFY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8" name="Google Shape;278;p11"/>
          <p:cNvGrpSpPr/>
          <p:nvPr/>
        </p:nvGrpSpPr>
        <p:grpSpPr>
          <a:xfrm>
            <a:off x="5353050" y="1333500"/>
            <a:ext cx="1409700" cy="2095500"/>
            <a:chOff x="0" y="0"/>
            <a:chExt cx="1409700" cy="2095500"/>
          </a:xfrm>
        </p:grpSpPr>
        <p:sp>
          <p:nvSpPr>
            <p:cNvPr id="279" name="Google Shape;279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4D8D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04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2" name="Google Shape;282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CUT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3" name="Google Shape;283;p11"/>
          <p:cNvGrpSpPr/>
          <p:nvPr/>
        </p:nvGrpSpPr>
        <p:grpSpPr>
          <a:xfrm>
            <a:off x="6915150" y="1333500"/>
            <a:ext cx="1409700" cy="2095500"/>
            <a:chOff x="0" y="0"/>
            <a:chExt cx="1409700" cy="2095500"/>
          </a:xfrm>
        </p:grpSpPr>
        <p:sp>
          <p:nvSpPr>
            <p:cNvPr id="284" name="Google Shape;284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4D8D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05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7" name="Google Shape;287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PROTECT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88" name="Google Shape;288;p11"/>
          <p:cNvGrpSpPr/>
          <p:nvPr/>
        </p:nvGrpSpPr>
        <p:grpSpPr>
          <a:xfrm>
            <a:off x="8477250" y="1333500"/>
            <a:ext cx="1409700" cy="2095500"/>
            <a:chOff x="0" y="0"/>
            <a:chExt cx="1409700" cy="2095500"/>
          </a:xfrm>
        </p:grpSpPr>
        <p:sp>
          <p:nvSpPr>
            <p:cNvPr id="289" name="Google Shape;289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37E3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06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SCALE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3" name="Google Shape;293;p11"/>
          <p:cNvGrpSpPr/>
          <p:nvPr/>
        </p:nvGrpSpPr>
        <p:grpSpPr>
          <a:xfrm>
            <a:off x="10039350" y="1333500"/>
            <a:ext cx="1409700" cy="2095500"/>
            <a:chOff x="0" y="0"/>
            <a:chExt cx="1409700" cy="2095500"/>
          </a:xfrm>
        </p:grpSpPr>
        <p:sp>
          <p:nvSpPr>
            <p:cNvPr id="294" name="Google Shape;294;p11"/>
            <p:cNvSpPr/>
            <p:nvPr/>
          </p:nvSpPr>
          <p:spPr>
            <a:xfrm>
              <a:off x="0" y="0"/>
              <a:ext cx="1409700" cy="2095500"/>
            </a:xfrm>
            <a:prstGeom prst="roundRect">
              <a:avLst>
                <a:gd fmla="val 8108" name="adj"/>
              </a:avLst>
            </a:prstGeom>
            <a:solidFill>
              <a:srgbClr val="FFFFFF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476250" y="342900"/>
              <a:ext cx="457200" cy="457200"/>
            </a:xfrm>
            <a:prstGeom prst="ellipse">
              <a:avLst/>
            </a:prstGeom>
            <a:solidFill>
              <a:srgbClr val="37E39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1"/>
            <p:cNvSpPr txBox="1"/>
            <p:nvPr/>
          </p:nvSpPr>
          <p:spPr>
            <a:xfrm>
              <a:off x="476250" y="342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07</a:t>
              </a:r>
              <a:endParaRPr b="1" sz="13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97" name="Google Shape;297;p11"/>
            <p:cNvSpPr txBox="1"/>
            <p:nvPr/>
          </p:nvSpPr>
          <p:spPr>
            <a:xfrm>
              <a:off x="95250" y="952500"/>
              <a:ext cx="1219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REPEAT</a:t>
              </a:r>
              <a:endParaRPr b="1"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98" name="Google Shape;298;p11"/>
          <p:cNvGrpSpPr/>
          <p:nvPr/>
        </p:nvGrpSpPr>
        <p:grpSpPr>
          <a:xfrm>
            <a:off x="666750" y="3714750"/>
            <a:ext cx="3467100" cy="1333500"/>
            <a:chOff x="0" y="0"/>
            <a:chExt cx="3467100" cy="1333500"/>
          </a:xfrm>
        </p:grpSpPr>
        <p:sp>
          <p:nvSpPr>
            <p:cNvPr id="299" name="Google Shape;299;p11"/>
            <p:cNvSpPr/>
            <p:nvPr/>
          </p:nvSpPr>
          <p:spPr>
            <a:xfrm>
              <a:off x="0" y="0"/>
              <a:ext cx="3467100" cy="1333500"/>
            </a:xfrm>
            <a:prstGeom prst="roundRect">
              <a:avLst>
                <a:gd fmla="val 8571" name="adj"/>
              </a:avLst>
            </a:prstGeom>
            <a:solidFill>
              <a:srgbClr val="E1E1EA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228600" y="190500"/>
              <a:ext cx="3009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4D8DFF"/>
                  </a:solidFill>
                  <a:latin typeface="Raleway"/>
                  <a:ea typeface="Raleway"/>
                  <a:cs typeface="Raleway"/>
                  <a:sym typeface="Raleway"/>
                </a:rPr>
                <a:t>CPA &lt; $90</a:t>
              </a:r>
              <a:endParaRPr b="1" sz="2600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Cost Per Acquisition Target</a:t>
              </a:r>
              <a:endParaRPr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1" name="Google Shape;301;p11"/>
          <p:cNvGrpSpPr/>
          <p:nvPr/>
        </p:nvGrpSpPr>
        <p:grpSpPr>
          <a:xfrm>
            <a:off x="4362450" y="3714750"/>
            <a:ext cx="3467100" cy="1333500"/>
            <a:chOff x="0" y="0"/>
            <a:chExt cx="3467100" cy="1333500"/>
          </a:xfrm>
        </p:grpSpPr>
        <p:sp>
          <p:nvSpPr>
            <p:cNvPr id="302" name="Google Shape;302;p11"/>
            <p:cNvSpPr/>
            <p:nvPr/>
          </p:nvSpPr>
          <p:spPr>
            <a:xfrm>
              <a:off x="0" y="0"/>
              <a:ext cx="3467100" cy="1333500"/>
            </a:xfrm>
            <a:prstGeom prst="roundRect">
              <a:avLst>
                <a:gd fmla="val 8571" name="adj"/>
              </a:avLst>
            </a:prstGeom>
            <a:solidFill>
              <a:srgbClr val="E1E1EA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 txBox="1"/>
            <p:nvPr/>
          </p:nvSpPr>
          <p:spPr>
            <a:xfrm>
              <a:off x="228600" y="190500"/>
              <a:ext cx="3009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4D8DFF"/>
                  </a:solidFill>
                  <a:latin typeface="Raleway"/>
                  <a:ea typeface="Raleway"/>
                  <a:cs typeface="Raleway"/>
                  <a:sym typeface="Raleway"/>
                </a:rPr>
                <a:t>2+ Min</a:t>
              </a:r>
              <a:endParaRPr b="1" sz="2600">
                <a:solidFill>
                  <a:srgbClr val="4D8DFF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Call Qualification Threshold</a:t>
              </a:r>
              <a:endParaRPr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4" name="Google Shape;304;p11"/>
          <p:cNvGrpSpPr/>
          <p:nvPr/>
        </p:nvGrpSpPr>
        <p:grpSpPr>
          <a:xfrm>
            <a:off x="8058150" y="3714750"/>
            <a:ext cx="3467100" cy="1333500"/>
            <a:chOff x="0" y="0"/>
            <a:chExt cx="3467100" cy="1333500"/>
          </a:xfrm>
        </p:grpSpPr>
        <p:sp>
          <p:nvSpPr>
            <p:cNvPr id="305" name="Google Shape;305;p11"/>
            <p:cNvSpPr/>
            <p:nvPr/>
          </p:nvSpPr>
          <p:spPr>
            <a:xfrm>
              <a:off x="0" y="0"/>
              <a:ext cx="3467100" cy="1333500"/>
            </a:xfrm>
            <a:prstGeom prst="roundRect">
              <a:avLst>
                <a:gd fmla="val 8571" name="adj"/>
              </a:avLst>
            </a:prstGeom>
            <a:solidFill>
              <a:srgbClr val="E1E1EA"/>
            </a:solidFill>
            <a:ln cap="flat" cmpd="sng" w="9525">
              <a:solidFill>
                <a:srgbClr val="C7C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228600" y="190500"/>
              <a:ext cx="3009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37E39B"/>
                  </a:solidFill>
                  <a:latin typeface="Raleway"/>
                  <a:ea typeface="Raleway"/>
                  <a:cs typeface="Raleway"/>
                  <a:sym typeface="Raleway"/>
                </a:rPr>
                <a:t>35% ROI</a:t>
              </a:r>
              <a:endParaRPr b="1" sz="2600">
                <a:solidFill>
                  <a:srgbClr val="37E39B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Reported Return on Investment</a:t>
              </a:r>
              <a:endParaRPr sz="12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07" name="Google Shape;307;p11"/>
          <p:cNvSpPr txBox="1"/>
          <p:nvPr/>
        </p:nvSpPr>
        <p:spPr>
          <a:xfrm>
            <a:off x="666750" y="5334000"/>
            <a:ext cx="10858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B1B27"/>
                </a:solidFill>
                <a:latin typeface="Roboto"/>
                <a:ea typeface="Roboto"/>
                <a:cs typeface="Roboto"/>
                <a:sym typeface="Roboto"/>
              </a:rPr>
              <a:t>Built around real buyer economics—not vanity metrics.</a:t>
            </a:r>
            <a:endParaRPr b="1" sz="1300">
              <a:solidFill>
                <a:srgbClr val="1B1B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661475" y="83720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b="0" i="0" lang="en-US" sz="37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Ready to scale qualified-call acquisition?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61475" y="180588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 manage paid acquisition around the metrics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that actually matter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61475" y="2320925"/>
            <a:ext cx="3496877" cy="567035"/>
          </a:xfrm>
          <a:prstGeom prst="roundRect">
            <a:avLst>
              <a:gd fmla="val 4999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850500" y="2486329"/>
            <a:ext cx="3118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CPA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347359" y="2320925"/>
            <a:ext cx="3496877" cy="567035"/>
          </a:xfrm>
          <a:prstGeom prst="roundRect">
            <a:avLst>
              <a:gd fmla="val 4999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4536375" y="2486328"/>
            <a:ext cx="3118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Call Quality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033244" y="2320925"/>
            <a:ext cx="3496877" cy="567035"/>
          </a:xfrm>
          <a:prstGeom prst="roundRect">
            <a:avLst>
              <a:gd fmla="val 4999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8222250" y="2486328"/>
            <a:ext cx="3118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Conversion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61475" y="3750270"/>
            <a:ext cx="3496877" cy="567035"/>
          </a:xfrm>
          <a:prstGeom prst="roundRect">
            <a:avLst>
              <a:gd fmla="val 4999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850500" y="3883475"/>
            <a:ext cx="31188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Revenue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347359" y="3750270"/>
            <a:ext cx="3496877" cy="567035"/>
          </a:xfrm>
          <a:prstGeom prst="roundRect">
            <a:avLst>
              <a:gd fmla="val 4999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4536375" y="3883495"/>
            <a:ext cx="31188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850"/>
              <a:buFont typeface="Raleway"/>
              <a:buNone/>
            </a:pPr>
            <a:r>
              <a:rPr b="0" i="0" lang="en-US" sz="18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ROI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61475" y="5203230"/>
            <a:ext cx="10868745" cy="817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1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REQUEST CAMPAIGN MANAGEMENT | </a:t>
            </a:r>
            <a:r>
              <a:rPr b="1" i="0" lang="en-US" sz="145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Linked</a:t>
            </a:r>
            <a:r>
              <a:rPr b="1" lang="en-US" sz="14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In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165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Paid Media • Lead Generation • Google Ads • Meta • Qualified Calls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7055b12b0_0_5"/>
          <p:cNvSpPr/>
          <p:nvPr/>
        </p:nvSpPr>
        <p:spPr>
          <a:xfrm>
            <a:off x="661475" y="2543572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700"/>
              <a:buFont typeface="Raleway"/>
              <a:buNone/>
            </a:pPr>
            <a:r>
              <a:rPr lang="en-US" sz="3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PROOF OF WORK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7055b12b0_0_5"/>
          <p:cNvSpPr/>
          <p:nvPr/>
        </p:nvSpPr>
        <p:spPr>
          <a:xfrm>
            <a:off x="661475" y="3512245"/>
            <a:ext cx="114783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50"/>
              <a:buFont typeface="Roboto"/>
              <a:buNone/>
            </a:pP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U.S. ACA Lead Generation | 202</a:t>
            </a:r>
            <a:r>
              <a:rPr lang="en-US" sz="14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US" sz="14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 ·  Google Ads (Some Top Accounts)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7055b12b0_0_5"/>
          <p:cNvSpPr/>
          <p:nvPr/>
        </p:nvSpPr>
        <p:spPr>
          <a:xfrm>
            <a:off x="661475" y="4027289"/>
            <a:ext cx="2096100" cy="287100"/>
          </a:xfrm>
          <a:prstGeom prst="roundRect">
            <a:avLst>
              <a:gd fmla="val 22118" name="adj"/>
            </a:avLst>
          </a:prstGeom>
          <a:solidFill>
            <a:srgbClr val="E1E1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7055b12b0_0_5"/>
          <p:cNvSpPr/>
          <p:nvPr/>
        </p:nvSpPr>
        <p:spPr>
          <a:xfrm>
            <a:off x="774879" y="4083943"/>
            <a:ext cx="24789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MEDIA BUYER CASE STUDY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7055b12b0_0_5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f7055b12b0_0_5"/>
          <p:cNvSpPr txBox="1"/>
          <p:nvPr/>
        </p:nvSpPr>
        <p:spPr>
          <a:xfrm>
            <a:off x="2077550" y="4162000"/>
            <a:ext cx="772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7055b12b0_0_5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7055b12b0_0_0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g3f7055b12b0_0_0" title="ACA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025" y="168275"/>
            <a:ext cx="10593602" cy="652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7055b12b0_0_13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g3f7055b12b0_0_13" title="ACA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025" y="168288"/>
            <a:ext cx="10593602" cy="6521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1E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g3f7055b12b0_0_20" title="Top ACA Accoun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6038"/>
            <a:ext cx="11886875" cy="519196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f7055b12b0_0_20"/>
          <p:cNvSpPr/>
          <p:nvPr/>
        </p:nvSpPr>
        <p:spPr>
          <a:xfrm>
            <a:off x="10898400" y="6400200"/>
            <a:ext cx="1293300" cy="457800"/>
          </a:xfrm>
          <a:prstGeom prst="rect">
            <a:avLst/>
          </a:prstGeom>
          <a:solidFill>
            <a:srgbClr val="E1E1EA"/>
          </a:solidFill>
          <a:ln cap="flat" cmpd="sng" w="9525">
            <a:solidFill>
              <a:srgbClr val="E1E1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7055b12b0_0_20"/>
          <p:cNvSpPr/>
          <p:nvPr/>
        </p:nvSpPr>
        <p:spPr>
          <a:xfrm>
            <a:off x="10898400" y="6316075"/>
            <a:ext cx="1293300" cy="541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7055b12b0_0_20"/>
          <p:cNvSpPr txBox="1"/>
          <p:nvPr/>
        </p:nvSpPr>
        <p:spPr>
          <a:xfrm>
            <a:off x="152400" y="6127625"/>
            <a:ext cx="77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0D0D0D"/>
                </a:solidFill>
                <a:highlight>
                  <a:srgbClr val="FCFCFC"/>
                </a:highlight>
              </a:rPr>
              <a:t>Note: Total cost of $71,223 represents Ringba fees.</a:t>
            </a:r>
            <a:r>
              <a:rPr lang="en-US" sz="1300">
                <a:solidFill>
                  <a:schemeClr val="dk1"/>
                </a:solidFill>
              </a:rPr>
              <a:t> </a:t>
            </a:r>
            <a:endParaRPr sz="131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2026-08-10T22:16:15Z</dcterms:created>
</cp:coreProperties>
</file>