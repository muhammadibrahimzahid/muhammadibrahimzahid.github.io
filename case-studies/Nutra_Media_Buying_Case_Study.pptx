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2.png"/><Relationship Id="rId9" Type="http://schemas.openxmlformats.org/officeDocument/2006/relationships/image" Target="../media/image-10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1591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Performance Marketing Case Study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14489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Direct-Response Acquisition at Scale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7-Month Confidential Engagement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6747"/>
            <a:ext cx="472276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At a Glance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96119" y="898773"/>
            <a:ext cx="4722763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7mo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96119" y="1351657"/>
            <a:ext cx="472276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Full Engagement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96119" y="1560165"/>
            <a:ext cx="47227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campaign cycle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96119" y="1909465"/>
            <a:ext cx="4722763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$20K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496119" y="2362349"/>
            <a:ext cx="472276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Peak Daily Spend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96119" y="2570857"/>
            <a:ext cx="47227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Peak advertising spend per day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96119" y="2920157"/>
            <a:ext cx="4722763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496119" y="3373041"/>
            <a:ext cx="472276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Verticals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96119" y="3581549"/>
            <a:ext cx="47227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Weight Loss + Manifestation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96119" y="3930848"/>
            <a:ext cx="4722763" cy="34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24/7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496119" y="4383732"/>
            <a:ext cx="472276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Operating Cycle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96119" y="4592241"/>
            <a:ext cx="47227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campaign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7830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 Owned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030784"/>
            <a:ext cx="86089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complete acquisition loop across seven functions: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96119" y="1294358"/>
            <a:ext cx="4030861" cy="1057126"/>
          </a:xfrm>
          <a:prstGeom prst="roundRect">
            <a:avLst>
              <a:gd name="adj" fmla="val 448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3842" y="1412081"/>
            <a:ext cx="338882" cy="33888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7008" y="1505248"/>
            <a:ext cx="152474" cy="1524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3842" y="1840929"/>
            <a:ext cx="3795415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Research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13842" y="2071390"/>
            <a:ext cx="379541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 spying, competitor analysis, market intelligence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616946" y="1294358"/>
            <a:ext cx="4030935" cy="1057126"/>
          </a:xfrm>
          <a:prstGeom prst="roundRect">
            <a:avLst>
              <a:gd name="adj" fmla="val 448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34669" y="1412081"/>
            <a:ext cx="338882" cy="33888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7836" y="1505248"/>
            <a:ext cx="152474" cy="1524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4669" y="1840929"/>
            <a:ext cx="379548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Creative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734669" y="2071390"/>
            <a:ext cx="3795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UGC concepts, script development, winner iteration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96119" y="2441451"/>
            <a:ext cx="4030861" cy="1057126"/>
          </a:xfrm>
          <a:prstGeom prst="roundRect">
            <a:avLst>
              <a:gd name="adj" fmla="val 448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3842" y="2559174"/>
            <a:ext cx="338882" cy="33888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7008" y="2652340"/>
            <a:ext cx="152474" cy="1524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3842" y="2988022"/>
            <a:ext cx="3795415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Traffic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13842" y="3218483"/>
            <a:ext cx="379541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 Ads management, campaign launches, budget allocation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4616946" y="2441451"/>
            <a:ext cx="4030935" cy="1057126"/>
          </a:xfrm>
          <a:prstGeom prst="roundRect">
            <a:avLst>
              <a:gd name="adj" fmla="val 448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34669" y="2559174"/>
            <a:ext cx="338882" cy="33888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7836" y="2652340"/>
            <a:ext cx="152474" cy="1524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34669" y="2988022"/>
            <a:ext cx="379548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Funnel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734669" y="3218483"/>
            <a:ext cx="3795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Landing page optimization, conversion testing, backend architecture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496119" y="3588544"/>
            <a:ext cx="4030861" cy="1057126"/>
          </a:xfrm>
          <a:prstGeom prst="roundRect">
            <a:avLst>
              <a:gd name="adj" fmla="val 448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13842" y="3706267"/>
            <a:ext cx="338882" cy="33888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7008" y="3799433"/>
            <a:ext cx="152474" cy="1524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13842" y="4135115"/>
            <a:ext cx="3795415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Tracking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613842" y="4365575"/>
            <a:ext cx="379541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ClickMagick reporting, KPI monitoring, performance analysis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4616946" y="3588544"/>
            <a:ext cx="4030935" cy="1057126"/>
          </a:xfrm>
          <a:prstGeom prst="roundRect">
            <a:avLst>
              <a:gd name="adj" fmla="val 448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734669" y="3706267"/>
            <a:ext cx="338882" cy="33888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27836" y="3799433"/>
            <a:ext cx="152474" cy="15247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734669" y="4135115"/>
            <a:ext cx="379548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Optimization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734669" y="4365575"/>
            <a:ext cx="37954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Daily performance reviews, creative fatigue management, scaling decisions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459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Scale Story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99654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38194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$300 to $20,000/Day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745159"/>
            <a:ext cx="3902943" cy="14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Campaign spend scaled dramatically over the 7-month engagement — from early-stage budgets of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~$300–400/day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peak periods exceeding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$20,000/day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trajectory required constant operational sophistication: managing creative fatigue, audience saturation, and budget efficiency simultaneously at every stage of growth.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3393058"/>
            <a:ext cx="3902943" cy="1006376"/>
          </a:xfrm>
          <a:prstGeom prst="roundRect">
            <a:avLst>
              <a:gd name="adj" fmla="val 5917"/>
            </a:avLst>
          </a:prstGeom>
          <a:solidFill>
            <a:srgbClr val="E1E1E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608115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3556025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Spend figures represent available campaign snapshots and recalled operating ranges; complete historical financial data was not available.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753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Ads: Proof of Scale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22152"/>
            <a:ext cx="5165675" cy="33957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539928"/>
            <a:ext cx="86089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 account-level spend snapshot across multiple campaigns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976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Performance Snapshots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034281"/>
            <a:ext cx="8608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Captured from available historical reporting across both verticals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03622" y="1361182"/>
            <a:ext cx="4104159" cy="3382342"/>
          </a:xfrm>
          <a:prstGeom prst="roundRect">
            <a:avLst>
              <a:gd name="adj" fmla="val 2735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32061" y="1477566"/>
            <a:ext cx="384728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Manifestation Vertical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2061" y="1809229"/>
            <a:ext cx="3847281" cy="2803327"/>
          </a:xfrm>
          <a:prstGeom prst="roundRect">
            <a:avLst>
              <a:gd name="adj" fmla="val 1925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2061" y="2161431"/>
            <a:ext cx="3847281" cy="803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32061" y="2511251"/>
            <a:ext cx="3847281" cy="803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32061" y="2861072"/>
            <a:ext cx="3847281" cy="803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32061" y="3210892"/>
            <a:ext cx="3847281" cy="803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32061" y="3560713"/>
            <a:ext cx="3847281" cy="803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32061" y="3910533"/>
            <a:ext cx="3847281" cy="803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32061" y="4260354"/>
            <a:ext cx="3847281" cy="803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65336" y="1888554"/>
            <a:ext cx="211916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Spend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84177" y="1888554"/>
            <a:ext cx="211916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$871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5336" y="2238375"/>
            <a:ext cx="211916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Profit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84177" y="2238375"/>
            <a:ext cx="211916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$1,980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5336" y="2588196"/>
            <a:ext cx="211916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AOV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84177" y="2588196"/>
            <a:ext cx="211916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$165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5336" y="2938016"/>
            <a:ext cx="211916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CPC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84177" y="2938016"/>
            <a:ext cx="211916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$0.84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5336" y="3287837"/>
            <a:ext cx="211916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CPA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84177" y="3287837"/>
            <a:ext cx="211916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$1.62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5336" y="3637657"/>
            <a:ext cx="211916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EPC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84177" y="3637657"/>
            <a:ext cx="211916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$1.92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5336" y="3987478"/>
            <a:ext cx="211916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ECR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84177" y="3987478"/>
            <a:ext cx="211916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5336" y="4337298"/>
            <a:ext cx="211916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84177" y="4337298"/>
            <a:ext cx="211916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52.2%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33479" y="1477566"/>
            <a:ext cx="391916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Weight Loss Vertical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733479" y="1809229"/>
            <a:ext cx="3919165" cy="2103686"/>
          </a:xfrm>
          <a:prstGeom prst="roundRect">
            <a:avLst>
              <a:gd name="adj" fmla="val 256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33479" y="2161431"/>
            <a:ext cx="3919165" cy="80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733479" y="2511251"/>
            <a:ext cx="3919165" cy="80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733479" y="2861072"/>
            <a:ext cx="3919165" cy="80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733479" y="3210892"/>
            <a:ext cx="3919165" cy="80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733479" y="3560713"/>
            <a:ext cx="3919165" cy="80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866754" y="1888554"/>
            <a:ext cx="21551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Spend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21537" y="1888554"/>
            <a:ext cx="21551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$1,399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66754" y="2238375"/>
            <a:ext cx="21551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Revenue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21537" y="2238375"/>
            <a:ext cx="21551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$2,475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66754" y="2588196"/>
            <a:ext cx="21551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ROAS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21537" y="2588196"/>
            <a:ext cx="21551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1.77×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66754" y="2938016"/>
            <a:ext cx="21551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ROI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21537" y="2938016"/>
            <a:ext cx="21551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77%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66754" y="3287837"/>
            <a:ext cx="21551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CPA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21537" y="3287837"/>
            <a:ext cx="21551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$3.22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66754" y="3637657"/>
            <a:ext cx="21551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21537" y="3637657"/>
            <a:ext cx="21551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64%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1940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Creative Engine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156246"/>
            <a:ext cx="8608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acquisition strategy relied on continuous creative iteration and competitor intelligence: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1483147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6119" y="1687190"/>
            <a:ext cx="4017690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1779984"/>
            <a:ext cx="401769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Spy &amp; Analyze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6119" y="2050479"/>
            <a:ext cx="401769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competitor ads, identify winning hooks and messaging angles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30192" y="1483147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30192" y="1687190"/>
            <a:ext cx="4017690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4630192" y="1779984"/>
            <a:ext cx="401769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Script Development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30192" y="2050479"/>
            <a:ext cx="401769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UGC concepts aligned with successful patterns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6119" y="2459087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6119" y="2663130"/>
            <a:ext cx="4017690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2755925"/>
            <a:ext cx="401769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6119" y="3026420"/>
            <a:ext cx="401769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Coordinate video editors, creators, and asset production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30192" y="2459087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30192" y="2663130"/>
            <a:ext cx="4017690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4630192" y="2755925"/>
            <a:ext cx="401769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 &amp; Measure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30192" y="3026420"/>
            <a:ext cx="401769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 multiple creative variations, track performance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6119" y="3435028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6119" y="3639071"/>
            <a:ext cx="4017690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2" name="Text 20"/>
          <p:cNvSpPr/>
          <p:nvPr/>
        </p:nvSpPr>
        <p:spPr>
          <a:xfrm>
            <a:off x="496119" y="3731865"/>
            <a:ext cx="401769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Iterate Winners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6119" y="4002360"/>
            <a:ext cx="401769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Remake and refine top-performing concepts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30192" y="3435028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30192" y="3639071"/>
            <a:ext cx="4017690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6" name="Text 24"/>
          <p:cNvSpPr/>
          <p:nvPr/>
        </p:nvSpPr>
        <p:spPr>
          <a:xfrm>
            <a:off x="4630192" y="3731865"/>
            <a:ext cx="401769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630192" y="4002360"/>
            <a:ext cx="401769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 budget on proven creative while maintaining efficiency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6119" y="4425553"/>
            <a:ext cx="8608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continuous feedback loop maintained creative freshness and supported campaign growth across both verticals.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6215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Funnel &amp; Conversion Architecture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5075"/>
            <a:ext cx="5190753" cy="28364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0600" y="2764116"/>
            <a:ext cx="1202742" cy="163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Ad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217727" y="2663842"/>
            <a:ext cx="1202742" cy="327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Pre-sell / Advertorial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734073" y="2751570"/>
            <a:ext cx="1202742" cy="163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Sales Page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99708" y="1111821"/>
            <a:ext cx="26528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Every Stage Was a Lever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99708" y="1421532"/>
            <a:ext cx="2652861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layer of the funnel was continuously tested and optimized for conversion efficiency — not just the ad creative at the top.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99708" y="2095574"/>
            <a:ext cx="2652861" cy="1836390"/>
          </a:xfrm>
          <a:prstGeom prst="rect">
            <a:avLst/>
          </a:prstGeom>
          <a:noFill/>
          <a:ln/>
        </p:spPr>
        <p:txBody>
          <a:bodyPr wrap="square" lIns="0" tIns="50505" rIns="0" bIns="0" rtlCol="0" anchor="t">
            <a:normAutofit/>
          </a:bodyPr>
          <a:lstStyle/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Pre-sell / Advertorial</a:t>
            </a:r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Warmed cold traffic and established credibility before the offer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Sales Page</a:t>
            </a:r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Tested headline variants, proof elements, and offer framing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Checkout</a:t>
            </a:r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Reduced friction and abandoned cart rate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Upsell / Backend</a:t>
            </a:r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Maximized AOV and customer lifetime value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999708" y="4033168"/>
            <a:ext cx="2652861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Generic representation of the acquisition architecture; actual client funnel architecture is not disclosed.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9947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Daily Optimization Loop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074390"/>
            <a:ext cx="860896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Campaigns were reviewed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4–5× daily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maintain performance and identify scaling opportunities: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20490"/>
            <a:ext cx="2717229" cy="5316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9022" y="2076673"/>
            <a:ext cx="245142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Diagnose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29022" y="2359075"/>
            <a:ext cx="2451422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spend, CPC, CPA, EPC across all active campaigns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348" y="1420490"/>
            <a:ext cx="2717229" cy="5316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46252" y="2076673"/>
            <a:ext cx="245142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346252" y="2359075"/>
            <a:ext cx="2451422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 creative performance, funnel conversion, cost trends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78" y="1420490"/>
            <a:ext cx="2717229" cy="53161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63481" y="2076673"/>
            <a:ext cx="245142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Decide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063481" y="2359075"/>
            <a:ext cx="2451422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Kill underperformers, iterate mid-performers, scale winners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903934"/>
            <a:ext cx="2717229" cy="5316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9022" y="3560118"/>
            <a:ext cx="245142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Execute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29022" y="3842519"/>
            <a:ext cx="2451422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Adjust budgets, launch new creatives, test funnel changes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3348" y="2903934"/>
            <a:ext cx="2717229" cy="53161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346252" y="3560118"/>
            <a:ext cx="245142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Recheck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3346252" y="3842519"/>
            <a:ext cx="2451422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 impact, repeat throughout 24-hour operating cycle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496119" y="4527500"/>
            <a:ext cx="860896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operational cadence enabled rapid scaling while maintaining acquisition efficiency.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KPI Framework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04255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232" y="2542580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Beyond Cheap Clicks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663232" y="2688729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was tracked across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four dimensions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 objective was never simply to drive cheap clicks. The goal was to understand acquisition efficiency through the full revenue and backend economics of each offer.</a:t>
            </a:r>
            <a:endParaRPr lang="en-US" sz="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773290"/>
            <a:ext cx="2011338" cy="3777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4586" y="4853657"/>
            <a:ext cx="18125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Acquisition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614586" y="4985593"/>
            <a:ext cx="181250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CPC, CPA, CAC — cost per action</a:t>
            </a:r>
            <a:endParaRPr lang="en-US" sz="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42877" y="4773290"/>
            <a:ext cx="2011412" cy="37772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61345" y="4853657"/>
            <a:ext cx="18125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2661345" y="4985593"/>
            <a:ext cx="18125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EPC, AOV, Revenue — per-customer economics</a:t>
            </a:r>
            <a:endParaRPr lang="en-US" sz="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9711" y="4773290"/>
            <a:ext cx="2011338" cy="37772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08178" y="4853657"/>
            <a:ext cx="18125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Efficiency</a:t>
            </a:r>
            <a:endParaRPr lang="en-US" sz="650" dirty="0"/>
          </a:p>
        </p:txBody>
      </p:sp>
      <p:sp>
        <p:nvSpPr>
          <p:cNvPr id="14" name="Text 8"/>
          <p:cNvSpPr/>
          <p:nvPr/>
        </p:nvSpPr>
        <p:spPr>
          <a:xfrm>
            <a:off x="4708178" y="4985593"/>
            <a:ext cx="181250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ROAS, ROI, ECR, SCR — return on ad spend</a:t>
            </a:r>
            <a:endParaRPr lang="en-US" sz="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36469" y="4773290"/>
            <a:ext cx="2011412" cy="37772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754937" y="4853657"/>
            <a:ext cx="18125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Value</a:t>
            </a:r>
            <a:endParaRPr lang="en-US" sz="650" dirty="0"/>
          </a:p>
        </p:txBody>
      </p:sp>
      <p:sp>
        <p:nvSpPr>
          <p:cNvPr id="17" name="Text 10"/>
          <p:cNvSpPr/>
          <p:nvPr/>
        </p:nvSpPr>
        <p:spPr>
          <a:xfrm>
            <a:off x="6754937" y="4985593"/>
            <a:ext cx="18125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LTV, Repeat Customers, Upsells — backend economics</a:t>
            </a:r>
            <a:endParaRPr lang="en-US" sz="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8562"/>
            <a:ext cx="4722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This Demonstrates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886495"/>
            <a:ext cx="4722763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Seven months of direct-response acquisition built a repeatable, scalable performance marketing operation — not just ad management.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96119" y="1312441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3842" y="1430164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Full-Funnel Ownership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3842" y="1660624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creative strategy through backend optimization — managed every lever in the acquisition loop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96119" y="2193057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3842" y="2310780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Operational Discipline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3842" y="2541240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4–5× daily reviews, systematic KPI tracking, and rapid decision cycles at $20K/day peak spend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96119" y="3073673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3842" y="3191396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Creative Intelligence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3842" y="3421856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Competitor intelligence, UGC scripting, and continuous iteration to maintain creative freshness at scale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96119" y="3954289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3842" y="4072012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Transferable Expertise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3842" y="4302472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Methodology, systems, and analytical rigor that translate across verticals, platforms, and offer types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586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Challenges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782366"/>
            <a:ext cx="4004965" cy="1081757"/>
          </a:xfrm>
          <a:prstGeom prst="roundRect">
            <a:avLst>
              <a:gd name="adj" fmla="val 550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927" y="1943174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Creative Fatigue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6927" y="2249686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identify and iterate winning concepts to maintain ad performance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782366"/>
            <a:ext cx="4005039" cy="1081757"/>
          </a:xfrm>
          <a:prstGeom prst="roundRect">
            <a:avLst>
              <a:gd name="adj" fmla="val 550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3651" y="1943174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Scaling Efficiency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03651" y="2249686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 spend without allowing acquisition costs to deteriorate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005882"/>
            <a:ext cx="4004965" cy="1081757"/>
          </a:xfrm>
          <a:prstGeom prst="roundRect">
            <a:avLst>
              <a:gd name="adj" fmla="val 550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927" y="3166690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Competitive Markets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6927" y="3473202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Compete in saturated Weight Loss and Manifestation verticals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3005882"/>
            <a:ext cx="4005039" cy="1081757"/>
          </a:xfrm>
          <a:prstGeom prst="roundRect">
            <a:avLst>
              <a:gd name="adj" fmla="val 550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3651" y="3166690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Operational Speed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03651" y="3473202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Coordinate media buying, creative production, and funnel optimization on a daily cycle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0184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 Can Do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2835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launching campaigns to operating the entire acquisition loop.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214637"/>
            <a:ext cx="4004965" cy="514499"/>
          </a:xfrm>
          <a:prstGeom prst="roundRect">
            <a:avLst>
              <a:gd name="adj" fmla="val 1157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640" y="2361158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Media Buying &amp; Campaign Management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42842" y="2214637"/>
            <a:ext cx="4005039" cy="514499"/>
          </a:xfrm>
          <a:prstGeom prst="roundRect">
            <a:avLst>
              <a:gd name="adj" fmla="val 1157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9363" y="2361158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Creative Strategy &amp; UGC Direction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96119" y="2870895"/>
            <a:ext cx="4004965" cy="514499"/>
          </a:xfrm>
          <a:prstGeom prst="roundRect">
            <a:avLst>
              <a:gd name="adj" fmla="val 1157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640" y="3017416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Funnel Optimization &amp; Testing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42842" y="2870895"/>
            <a:ext cx="4005039" cy="514499"/>
          </a:xfrm>
          <a:prstGeom prst="roundRect">
            <a:avLst>
              <a:gd name="adj" fmla="val 1157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9363" y="3017416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Performance Analytics &amp; Reporting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96119" y="3527152"/>
            <a:ext cx="4004965" cy="514499"/>
          </a:xfrm>
          <a:prstGeom prst="roundRect">
            <a:avLst>
              <a:gd name="adj" fmla="val 1157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640" y="3673673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Direct-Response Marketing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42842" y="3527152"/>
            <a:ext cx="4005039" cy="514499"/>
          </a:xfrm>
          <a:prstGeom prst="roundRect">
            <a:avLst>
              <a:gd name="adj" fmla="val 1157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9363" y="3673673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Campaign Scaling &amp; Budget Allocation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7513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Confidentiality Notice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401639"/>
            <a:ext cx="8151763" cy="1066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case study has been intentionally anonymized. Client identities, proprietary creative assets, internal documents, account credentials, domains, complete financial records, and other confidential materials have been excluded.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figures shown are limited to historical snapshots that I am permitted to reference and should not be interpreted as complete seven-month financial results.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2026-08-13T20:33:28Z</dcterms:created>
  <dcterms:modified xsi:type="dcterms:W3CDTF">2026-08-13T20:33:28Z</dcterms:modified>
</cp:coreProperties>
</file>